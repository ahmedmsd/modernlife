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قبل النظام</c:v>
                </c:pt>
              </c:strCache>
            </c:strRef>
          </c:tx>
          <c:spPr>
            <a:solidFill>
              <a:srgbClr val="94A3B8"/>
            </a:solidFill>
            <a:effectLst/>
          </c:spPr>
          <c:invertIfNegative val="0"/>
          <c:dLbls>
            <c:numFmt formatCode="#,##0" sourceLinked="0"/>
            <c:txPr>
              <a:bodyPr/>
              <a:lstStyle/>
              <a:p>
                <a:pPr>
                  <a:defRPr b="0" i="0" strike="noStrike" sz="1000" u="none">
                    <a:solidFill>
                      <a:srgbClr val="1E293B"/>
                    </a:solidFill>
                    <a:latin typeface="Arial"/>
                  </a:defRPr>
                </a:pPr>
              </a:p>
            </c:txPr>
            <c:showLegendKey val="0"/>
            <c:showVal val="1"/>
            <c:showCatName val="0"/>
            <c:showSerName val="0"/>
            <c:showPercent val="0"/>
            <c:showBubbleSize val="0"/>
            <c:showLeaderLines val="0"/>
          </c:dLbls>
          <c:cat>
            <c:multiLvlStrRef>
              <c:f>Sheet1!$A$2:$A$5</c:f>
              <c:multiLvlStrCache>
                <c:ptCount val="4"/>
                <c:lvl>
                  <c:pt idx="0">
                    <c:v>زمن دورة الطلب (يوم)</c:v>
                  </c:pt>
                  <c:pt idx="1">
                    <c:v>نسبة الأخطاء (%)</c:v>
                  </c:pt>
                  <c:pt idx="2">
                    <c:v>وقت التواصل اليومي (ساعة)</c:v>
                  </c:pt>
                  <c:pt idx="3">
                    <c:v>تأخير المشاريع (%)</c:v>
                  </c:pt>
                </c:lvl>
              </c:multiLvlStrCache>
            </c:multiLvlStrRef>
          </c:cat>
          <c:val>
            <c:numRef>
              <c:f>Sheet1!$B$2:$B$5</c:f>
              <c:numCache>
                <c:formatCode>General</c:formatCode>
                <c:ptCount val="4"/>
                <c:pt idx="0">
                  <c:v>21</c:v>
                </c:pt>
                <c:pt idx="1">
                  <c:v>18</c:v>
                </c:pt>
                <c:pt idx="2">
                  <c:v>4.5</c:v>
                </c:pt>
                <c:pt idx="3">
                  <c:v>35</c:v>
                </c:pt>
              </c:numCache>
            </c:numRef>
          </c:val>
        </c:ser>
        <c:ser>
          <c:idx val="1"/>
          <c:order val="1"/>
          <c:tx>
            <c:strRef>
              <c:f>Sheet1!$C$1</c:f>
              <c:strCache>
                <c:ptCount val="1"/>
                <c:pt idx="0">
                  <c:v>بعد ModernLife</c:v>
                </c:pt>
              </c:strCache>
            </c:strRef>
          </c:tx>
          <c:spPr>
            <a:solidFill>
              <a:srgbClr val="E8A33D"/>
            </a:solidFill>
            <a:effectLst/>
          </c:spPr>
          <c:invertIfNegative val="0"/>
          <c:dLbls>
            <c:numFmt formatCode="#,##0" sourceLinked="0"/>
            <c:txPr>
              <a:bodyPr/>
              <a:lstStyle/>
              <a:p>
                <a:pPr>
                  <a:defRPr b="0" i="0" strike="noStrike" sz="1000" u="none">
                    <a:solidFill>
                      <a:srgbClr val="1E293B"/>
                    </a:solidFill>
                    <a:latin typeface="Arial"/>
                  </a:defRPr>
                </a:pPr>
              </a:p>
            </c:txPr>
            <c:showLegendKey val="0"/>
            <c:showVal val="1"/>
            <c:showCatName val="0"/>
            <c:showSerName val="0"/>
            <c:showPercent val="0"/>
            <c:showBubbleSize val="0"/>
            <c:showLeaderLines val="0"/>
          </c:dLbls>
          <c:cat>
            <c:multiLvlStrRef>
              <c:f>Sheet1!$A$2:$A$5</c:f>
              <c:multiLvlStrCache>
                <c:ptCount val="4"/>
                <c:lvl>
                  <c:pt idx="0">
                    <c:v>زمن دورة الطلب (يوم)</c:v>
                  </c:pt>
                  <c:pt idx="1">
                    <c:v>نسبة الأخطاء (%)</c:v>
                  </c:pt>
                  <c:pt idx="2">
                    <c:v>وقت التواصل اليومي (ساعة)</c:v>
                  </c:pt>
                  <c:pt idx="3">
                    <c:v>تأخير المشاريع (%)</c:v>
                  </c:pt>
                </c:lvl>
              </c:multiLvlStrCache>
            </c:multiLvlStrRef>
          </c:cat>
          <c:val>
            <c:numRef>
              <c:f>Sheet1!$C$2:$C$5</c:f>
              <c:numCache>
                <c:formatCode>General</c:formatCode>
                <c:ptCount val="4"/>
                <c:pt idx="0">
                  <c:v>9</c:v>
                </c:pt>
                <c:pt idx="1">
                  <c:v>4</c:v>
                </c:pt>
                <c:pt idx="2">
                  <c:v>1.2</c:v>
                </c:pt>
                <c:pt idx="3">
                  <c:v>8</c:v>
                </c:pt>
              </c:numCache>
            </c:numRef>
          </c:val>
        </c:ser>
        <c:dLbls>
          <c:numFmt formatCode="#,##0" sourceLinked="0"/>
          <c:txPr>
            <a:bodyPr/>
            <a:lstStyle/>
            <a:p>
              <a:pPr>
                <a:defRPr b="0" i="0" strike="noStrike" sz="10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475569"/>
                </a:solidFill>
                <a:latin typeface="Cairo"/>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475569"/>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1E293B"/>
              </a:solidFill>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1827"/>
        </a:solidFill>
      </p:bgPr>
    </p:bg>
    <p:spTree>
      <p:nvGrpSpPr>
        <p:cNvPr id="1" name=""/>
        <p:cNvGrpSpPr/>
        <p:nvPr/>
      </p:nvGrpSpPr>
      <p:grpSpPr>
        <a:xfrm>
          <a:off x="0" y="0"/>
          <a:ext cx="0" cy="0"/>
          <a:chOff x="0" y="0"/>
          <a:chExt cx="0" cy="0"/>
        </a:xfrm>
      </p:grpSpPr>
      <p:sp>
        <p:nvSpPr>
          <p:cNvPr id="2" name="Shape 0"/>
          <p:cNvSpPr/>
          <p:nvPr/>
        </p:nvSpPr>
        <p:spPr>
          <a:xfrm>
            <a:off x="10515600" y="0"/>
            <a:ext cx="1645920" cy="1645920"/>
          </a:xfrm>
          <a:prstGeom prst="rect">
            <a:avLst/>
          </a:prstGeom>
          <a:solidFill>
            <a:srgbClr val="E8A33D"/>
          </a:solidFill>
          <a:ln/>
        </p:spPr>
      </p:sp>
      <p:sp>
        <p:nvSpPr>
          <p:cNvPr id="3" name="Shape 1"/>
          <p:cNvSpPr/>
          <p:nvPr/>
        </p:nvSpPr>
        <p:spPr>
          <a:xfrm>
            <a:off x="0" y="6126480"/>
            <a:ext cx="3657600" cy="73152"/>
          </a:xfrm>
          <a:prstGeom prst="rect">
            <a:avLst/>
          </a:prstGeom>
          <a:solidFill>
            <a:srgbClr val="E8A33D"/>
          </a:solidFill>
          <a:ln/>
        </p:spPr>
      </p:sp>
      <p:sp>
        <p:nvSpPr>
          <p:cNvPr id="4" name="Text 2"/>
          <p:cNvSpPr/>
          <p:nvPr/>
        </p:nvSpPr>
        <p:spPr>
          <a:xfrm>
            <a:off x="640080" y="640080"/>
            <a:ext cx="5486400" cy="365760"/>
          </a:xfrm>
          <a:prstGeom prst="rect">
            <a:avLst/>
          </a:prstGeom>
          <a:noFill/>
          <a:ln/>
        </p:spPr>
        <p:txBody>
          <a:bodyPr wrap="square" lIns="0" tIns="0" rIns="0" bIns="0" rtlCol="0" anchor="ctr"/>
          <a:lstStyle/>
          <a:p>
            <a:pPr rtl="1" algn="r" indent="0" marL="0">
              <a:buNone/>
            </a:pPr>
            <a:r>
              <a:rPr lang="en-US" sz="1400" b="1" spc="800" kern="0" dirty="0">
                <a:solidFill>
                  <a:srgbClr val="E8A33D"/>
                </a:solidFill>
                <a:latin typeface="Cairo" pitchFamily="34" charset="0"/>
                <a:ea typeface="Cairo" pitchFamily="34" charset="-122"/>
                <a:cs typeface="Cairo" pitchFamily="34" charset="-120"/>
              </a:rPr>
              <a:t>MODERNLIFE</a:t>
            </a:r>
            <a:endParaRPr lang="en-US" sz="1400" dirty="0"/>
          </a:p>
        </p:txBody>
      </p:sp>
      <p:sp>
        <p:nvSpPr>
          <p:cNvPr id="5" name="Text 3"/>
          <p:cNvSpPr/>
          <p:nvPr/>
        </p:nvSpPr>
        <p:spPr>
          <a:xfrm>
            <a:off x="640080" y="2194560"/>
            <a:ext cx="10881360" cy="1188720"/>
          </a:xfrm>
          <a:prstGeom prst="rect">
            <a:avLst/>
          </a:prstGeom>
          <a:noFill/>
          <a:ln/>
        </p:spPr>
        <p:txBody>
          <a:bodyPr wrap="square" lIns="0" tIns="0" rIns="0" bIns="0" rtlCol="0" anchor="ctr"/>
          <a:lstStyle/>
          <a:p>
            <a:pPr rtl="1" algn="r" indent="0" marL="0">
              <a:buNone/>
            </a:pPr>
            <a:r>
              <a:rPr lang="en-US" sz="6000" b="1" dirty="0">
                <a:solidFill>
                  <a:srgbClr val="FFFFFF"/>
                </a:solidFill>
                <a:latin typeface="Cairo" pitchFamily="34" charset="0"/>
                <a:ea typeface="Cairo" pitchFamily="34" charset="-122"/>
                <a:cs typeface="Cairo" pitchFamily="34" charset="-120"/>
              </a:rPr>
              <a:t>نظام إدارة عمليات التصنيع</a:t>
            </a:r>
            <a:endParaRPr lang="en-US" sz="6000" dirty="0"/>
          </a:p>
        </p:txBody>
      </p:sp>
      <p:sp>
        <p:nvSpPr>
          <p:cNvPr id="6" name="Text 4"/>
          <p:cNvSpPr/>
          <p:nvPr/>
        </p:nvSpPr>
        <p:spPr>
          <a:xfrm>
            <a:off x="640080" y="3566160"/>
            <a:ext cx="10881360" cy="731520"/>
          </a:xfrm>
          <a:prstGeom prst="rect">
            <a:avLst/>
          </a:prstGeom>
          <a:noFill/>
          <a:ln/>
        </p:spPr>
        <p:txBody>
          <a:bodyPr wrap="square" lIns="0" tIns="0" rIns="0" bIns="0" rtlCol="0" anchor="ctr"/>
          <a:lstStyle/>
          <a:p>
            <a:pPr rtl="1" algn="r" indent="0" marL="0">
              <a:buNone/>
            </a:pPr>
            <a:r>
              <a:rPr lang="en-US" sz="2200" dirty="0">
                <a:solidFill>
                  <a:srgbClr val="E2E8F0"/>
                </a:solidFill>
                <a:latin typeface="Cairo" pitchFamily="34" charset="0"/>
                <a:ea typeface="Cairo" pitchFamily="34" charset="-122"/>
                <a:cs typeface="Cairo" pitchFamily="34" charset="-120"/>
              </a:rPr>
              <a:t>منصة متكاملة لإدارة الطلبات والمشاريع والإنتاج بكفاءة احترافية</a:t>
            </a:r>
            <a:endParaRPr lang="en-US" sz="2200" dirty="0"/>
          </a:p>
        </p:txBody>
      </p:sp>
      <p:sp>
        <p:nvSpPr>
          <p:cNvPr id="7" name="Shape 5"/>
          <p:cNvSpPr/>
          <p:nvPr/>
        </p:nvSpPr>
        <p:spPr>
          <a:xfrm>
            <a:off x="9601200" y="4663440"/>
            <a:ext cx="1920240" cy="36576"/>
          </a:xfrm>
          <a:prstGeom prst="rect">
            <a:avLst/>
          </a:prstGeom>
          <a:solidFill>
            <a:srgbClr val="E8A33D"/>
          </a:solidFill>
          <a:ln/>
        </p:spPr>
      </p:sp>
      <p:sp>
        <p:nvSpPr>
          <p:cNvPr id="8" name="Text 6"/>
          <p:cNvSpPr/>
          <p:nvPr/>
        </p:nvSpPr>
        <p:spPr>
          <a:xfrm>
            <a:off x="640080" y="4846320"/>
            <a:ext cx="10881360" cy="365760"/>
          </a:xfrm>
          <a:prstGeom prst="rect">
            <a:avLst/>
          </a:prstGeom>
          <a:noFill/>
          <a:ln/>
        </p:spPr>
        <p:txBody>
          <a:bodyPr wrap="square" lIns="0" tIns="0" rIns="0" bIns="0" rtlCol="0" anchor="ctr"/>
          <a:lstStyle/>
          <a:p>
            <a:pPr rtl="1" algn="r" indent="0" marL="0">
              <a:buNone/>
            </a:pPr>
            <a:r>
              <a:rPr lang="en-US" sz="1600" i="1" dirty="0">
                <a:solidFill>
                  <a:srgbClr val="F4C77B"/>
                </a:solidFill>
                <a:latin typeface="Cairo" pitchFamily="34" charset="0"/>
                <a:ea typeface="Cairo" pitchFamily="34" charset="-122"/>
                <a:cs typeface="Cairo" pitchFamily="34" charset="-120"/>
              </a:rPr>
              <a:t>عرض تقديمي للسادة أصحاب المصانع</a:t>
            </a:r>
            <a:endParaRPr lang="en-US" sz="1600" dirty="0"/>
          </a:p>
        </p:txBody>
      </p:sp>
      <p:sp>
        <p:nvSpPr>
          <p:cNvPr id="9" name="Text 7"/>
          <p:cNvSpPr/>
          <p:nvPr/>
        </p:nvSpPr>
        <p:spPr>
          <a:xfrm>
            <a:off x="640080" y="6217920"/>
            <a:ext cx="10881360" cy="274320"/>
          </a:xfrm>
          <a:prstGeom prst="rect">
            <a:avLst/>
          </a:prstGeom>
          <a:noFill/>
          <a:ln/>
        </p:spPr>
        <p:txBody>
          <a:bodyPr wrap="square" lIns="0" tIns="0" rIns="0" bIns="0" rtlCol="0" anchor="ctr"/>
          <a:lstStyle/>
          <a:p>
            <a:pPr rtl="1" algn="r" indent="0" marL="0">
              <a:buNone/>
            </a:pPr>
            <a:r>
              <a:rPr lang="en-US" sz="1200" dirty="0">
                <a:solidFill>
                  <a:srgbClr val="94A3B8"/>
                </a:solidFill>
                <a:latin typeface="Cairo" pitchFamily="34" charset="0"/>
                <a:ea typeface="Cairo" pitchFamily="34" charset="-122"/>
                <a:cs typeface="Cairo" pitchFamily="34" charset="-120"/>
              </a:rPr>
              <a:t>منصة Laravel | تكامل Zoho CRM | أمان متقدم</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457200" y="457200"/>
            <a:ext cx="11247120" cy="640080"/>
          </a:xfrm>
          <a:prstGeom prst="rect">
            <a:avLst/>
          </a:prstGeom>
          <a:noFill/>
          <a:ln/>
        </p:spPr>
        <p:txBody>
          <a:bodyPr wrap="square" lIns="0" tIns="0" rIns="0" bIns="0" rtlCol="0" anchor="ctr"/>
          <a:lstStyle/>
          <a:p>
            <a:pPr rtl="1" algn="r" indent="0" marL="0">
              <a:buNone/>
            </a:pPr>
            <a:r>
              <a:rPr lang="en-US" sz="3600" b="1" dirty="0">
                <a:solidFill>
                  <a:srgbClr val="0F2A47"/>
                </a:solidFill>
                <a:latin typeface="Cairo" pitchFamily="34" charset="0"/>
                <a:ea typeface="Cairo" pitchFamily="34" charset="-122"/>
                <a:cs typeface="Cairo" pitchFamily="34" charset="-120"/>
              </a:rPr>
              <a:t>محتويات العرض</a:t>
            </a:r>
            <a:endParaRPr lang="en-US" sz="3600" dirty="0"/>
          </a:p>
        </p:txBody>
      </p:sp>
      <p:sp>
        <p:nvSpPr>
          <p:cNvPr id="3" name="Shape 1"/>
          <p:cNvSpPr/>
          <p:nvPr/>
        </p:nvSpPr>
        <p:spPr>
          <a:xfrm>
            <a:off x="10698480" y="1188720"/>
            <a:ext cx="1005840" cy="45720"/>
          </a:xfrm>
          <a:prstGeom prst="rect">
            <a:avLst/>
          </a:prstGeom>
          <a:solidFill>
            <a:srgbClr val="E8A33D"/>
          </a:solidFill>
          <a:ln/>
        </p:spPr>
      </p:sp>
      <p:sp>
        <p:nvSpPr>
          <p:cNvPr id="4" name="Shape 2"/>
          <p:cNvSpPr/>
          <p:nvPr/>
        </p:nvSpPr>
        <p:spPr>
          <a:xfrm>
            <a:off x="6309360" y="1554480"/>
            <a:ext cx="5394960" cy="1417320"/>
          </a:xfrm>
          <a:prstGeom prst="rect">
            <a:avLst/>
          </a:prstGeom>
          <a:solidFill>
            <a:srgbClr val="FFFFFF"/>
          </a:solidFill>
          <a:ln w="6350">
            <a:solidFill>
              <a:srgbClr val="E2E8F0"/>
            </a:solidFill>
            <a:prstDash val="solid"/>
          </a:ln>
          <a:effectLst>
            <a:outerShdw sx="100000" sy="100000" kx="0" ky="0" algn="bl" rotWithShape="0" blurRad="101600" dist="25400" dir="5400000">
              <a:srgbClr val="000000">
                <a:alpha val="6000"/>
              </a:srgbClr>
            </a:outerShdw>
          </a:effectLst>
        </p:spPr>
      </p:sp>
      <p:sp>
        <p:nvSpPr>
          <p:cNvPr id="5" name="Shape 3"/>
          <p:cNvSpPr/>
          <p:nvPr/>
        </p:nvSpPr>
        <p:spPr>
          <a:xfrm>
            <a:off x="11631168" y="1554480"/>
            <a:ext cx="73152" cy="1417320"/>
          </a:xfrm>
          <a:prstGeom prst="rect">
            <a:avLst/>
          </a:prstGeom>
          <a:solidFill>
            <a:srgbClr val="E8A33D"/>
          </a:solidFill>
          <a:ln/>
        </p:spPr>
      </p:sp>
      <p:sp>
        <p:nvSpPr>
          <p:cNvPr id="6" name="Text 4"/>
          <p:cNvSpPr/>
          <p:nvPr/>
        </p:nvSpPr>
        <p:spPr>
          <a:xfrm>
            <a:off x="10515600" y="1783080"/>
            <a:ext cx="1005840" cy="640080"/>
          </a:xfrm>
          <a:prstGeom prst="rect">
            <a:avLst/>
          </a:prstGeom>
          <a:noFill/>
          <a:ln/>
        </p:spPr>
        <p:txBody>
          <a:bodyPr wrap="square" lIns="0" tIns="0" rIns="0" bIns="0" rtlCol="0" anchor="ctr"/>
          <a:lstStyle/>
          <a:p>
            <a:pPr algn="l" indent="0" marL="0">
              <a:buNone/>
            </a:pPr>
            <a:r>
              <a:rPr lang="en-US" sz="3800" b="1" dirty="0">
                <a:solidFill>
                  <a:srgbClr val="E8A33D"/>
                </a:solidFill>
                <a:latin typeface="Cairo" pitchFamily="34" charset="0"/>
                <a:ea typeface="Cairo" pitchFamily="34" charset="-122"/>
                <a:cs typeface="Cairo" pitchFamily="34" charset="-120"/>
              </a:rPr>
              <a:t>01</a:t>
            </a:r>
            <a:endParaRPr lang="en-US" sz="3800" dirty="0"/>
          </a:p>
        </p:txBody>
      </p:sp>
      <p:sp>
        <p:nvSpPr>
          <p:cNvPr id="7" name="Text 5"/>
          <p:cNvSpPr/>
          <p:nvPr/>
        </p:nvSpPr>
        <p:spPr>
          <a:xfrm>
            <a:off x="6583680" y="1783080"/>
            <a:ext cx="3931920" cy="457200"/>
          </a:xfrm>
          <a:prstGeom prst="rect">
            <a:avLst/>
          </a:prstGeom>
          <a:noFill/>
          <a:ln/>
        </p:spPr>
        <p:txBody>
          <a:bodyPr wrap="square" lIns="0" tIns="0" rIns="0" bIns="0" rtlCol="0" anchor="ctr"/>
          <a:lstStyle/>
          <a:p>
            <a:pPr rtl="1" algn="r" indent="0" marL="0">
              <a:buNone/>
            </a:pPr>
            <a:r>
              <a:rPr lang="en-US" sz="1800" b="1" dirty="0">
                <a:solidFill>
                  <a:srgbClr val="0F2A47"/>
                </a:solidFill>
                <a:latin typeface="Cairo" pitchFamily="34" charset="0"/>
                <a:ea typeface="Cairo" pitchFamily="34" charset="-122"/>
                <a:cs typeface="Cairo" pitchFamily="34" charset="-120"/>
              </a:rPr>
              <a:t>ما هو نظام ModernLife؟</a:t>
            </a:r>
            <a:endParaRPr lang="en-US" sz="1800" dirty="0"/>
          </a:p>
        </p:txBody>
      </p:sp>
      <p:sp>
        <p:nvSpPr>
          <p:cNvPr id="8" name="Text 6"/>
          <p:cNvSpPr/>
          <p:nvPr/>
        </p:nvSpPr>
        <p:spPr>
          <a:xfrm>
            <a:off x="6583680" y="2331720"/>
            <a:ext cx="3931920" cy="457200"/>
          </a:xfrm>
          <a:prstGeom prst="rect">
            <a:avLst/>
          </a:prstGeom>
          <a:noFill/>
          <a:ln/>
        </p:spPr>
        <p:txBody>
          <a:bodyPr wrap="square" lIns="0" tIns="0" rIns="0" bIns="0" rtlCol="0" anchor="ctr"/>
          <a:lstStyle/>
          <a:p>
            <a:pPr rtl="1" algn="r" indent="0" marL="0">
              <a:buNone/>
            </a:pPr>
            <a:r>
              <a:rPr lang="en-US" sz="1300" dirty="0">
                <a:solidFill>
                  <a:srgbClr val="475569"/>
                </a:solidFill>
                <a:latin typeface="Cairo" pitchFamily="34" charset="0"/>
                <a:ea typeface="Cairo" pitchFamily="34" charset="-122"/>
                <a:cs typeface="Cairo" pitchFamily="34" charset="-120"/>
              </a:rPr>
              <a:t>نظرة عامة على المنصة</a:t>
            </a:r>
            <a:endParaRPr lang="en-US" sz="1300" dirty="0"/>
          </a:p>
        </p:txBody>
      </p:sp>
      <p:sp>
        <p:nvSpPr>
          <p:cNvPr id="9" name="Shape 7"/>
          <p:cNvSpPr/>
          <p:nvPr/>
        </p:nvSpPr>
        <p:spPr>
          <a:xfrm>
            <a:off x="457200" y="1554480"/>
            <a:ext cx="5394960" cy="1417320"/>
          </a:xfrm>
          <a:prstGeom prst="rect">
            <a:avLst/>
          </a:prstGeom>
          <a:solidFill>
            <a:srgbClr val="FFFFFF"/>
          </a:solidFill>
          <a:ln w="6350">
            <a:solidFill>
              <a:srgbClr val="E2E8F0"/>
            </a:solidFill>
            <a:prstDash val="solid"/>
          </a:ln>
          <a:effectLst>
            <a:outerShdw sx="100000" sy="100000" kx="0" ky="0" algn="bl" rotWithShape="0" blurRad="101600" dist="25400" dir="5400000">
              <a:srgbClr val="000000">
                <a:alpha val="6000"/>
              </a:srgbClr>
            </a:outerShdw>
          </a:effectLst>
        </p:spPr>
      </p:sp>
      <p:sp>
        <p:nvSpPr>
          <p:cNvPr id="10" name="Shape 8"/>
          <p:cNvSpPr/>
          <p:nvPr/>
        </p:nvSpPr>
        <p:spPr>
          <a:xfrm>
            <a:off x="5779008" y="1554480"/>
            <a:ext cx="73152" cy="1417320"/>
          </a:xfrm>
          <a:prstGeom prst="rect">
            <a:avLst/>
          </a:prstGeom>
          <a:solidFill>
            <a:srgbClr val="E8A33D"/>
          </a:solidFill>
          <a:ln/>
        </p:spPr>
      </p:sp>
      <p:sp>
        <p:nvSpPr>
          <p:cNvPr id="11" name="Text 9"/>
          <p:cNvSpPr/>
          <p:nvPr/>
        </p:nvSpPr>
        <p:spPr>
          <a:xfrm>
            <a:off x="4663440" y="1783080"/>
            <a:ext cx="1005840" cy="640080"/>
          </a:xfrm>
          <a:prstGeom prst="rect">
            <a:avLst/>
          </a:prstGeom>
          <a:noFill/>
          <a:ln/>
        </p:spPr>
        <p:txBody>
          <a:bodyPr wrap="square" lIns="0" tIns="0" rIns="0" bIns="0" rtlCol="0" anchor="ctr"/>
          <a:lstStyle/>
          <a:p>
            <a:pPr algn="l" indent="0" marL="0">
              <a:buNone/>
            </a:pPr>
            <a:r>
              <a:rPr lang="en-US" sz="3800" b="1" dirty="0">
                <a:solidFill>
                  <a:srgbClr val="E8A33D"/>
                </a:solidFill>
                <a:latin typeface="Cairo" pitchFamily="34" charset="0"/>
                <a:ea typeface="Cairo" pitchFamily="34" charset="-122"/>
                <a:cs typeface="Cairo" pitchFamily="34" charset="-120"/>
              </a:rPr>
              <a:t>02</a:t>
            </a:r>
            <a:endParaRPr lang="en-US" sz="3800" dirty="0"/>
          </a:p>
        </p:txBody>
      </p:sp>
      <p:sp>
        <p:nvSpPr>
          <p:cNvPr id="12" name="Text 10"/>
          <p:cNvSpPr/>
          <p:nvPr/>
        </p:nvSpPr>
        <p:spPr>
          <a:xfrm>
            <a:off x="731520" y="1783080"/>
            <a:ext cx="3931920" cy="457200"/>
          </a:xfrm>
          <a:prstGeom prst="rect">
            <a:avLst/>
          </a:prstGeom>
          <a:noFill/>
          <a:ln/>
        </p:spPr>
        <p:txBody>
          <a:bodyPr wrap="square" lIns="0" tIns="0" rIns="0" bIns="0" rtlCol="0" anchor="ctr"/>
          <a:lstStyle/>
          <a:p>
            <a:pPr rtl="1" algn="r" indent="0" marL="0">
              <a:buNone/>
            </a:pPr>
            <a:r>
              <a:rPr lang="en-US" sz="1800" b="1" dirty="0">
                <a:solidFill>
                  <a:srgbClr val="0F2A47"/>
                </a:solidFill>
                <a:latin typeface="Cairo" pitchFamily="34" charset="0"/>
                <a:ea typeface="Cairo" pitchFamily="34" charset="-122"/>
                <a:cs typeface="Cairo" pitchFamily="34" charset="-120"/>
              </a:rPr>
              <a:t>التحديات التي يحلها النظام</a:t>
            </a:r>
            <a:endParaRPr lang="en-US" sz="1800" dirty="0"/>
          </a:p>
        </p:txBody>
      </p:sp>
      <p:sp>
        <p:nvSpPr>
          <p:cNvPr id="13" name="Text 11"/>
          <p:cNvSpPr/>
          <p:nvPr/>
        </p:nvSpPr>
        <p:spPr>
          <a:xfrm>
            <a:off x="731520" y="2331720"/>
            <a:ext cx="3931920" cy="457200"/>
          </a:xfrm>
          <a:prstGeom prst="rect">
            <a:avLst/>
          </a:prstGeom>
          <a:noFill/>
          <a:ln/>
        </p:spPr>
        <p:txBody>
          <a:bodyPr wrap="square" lIns="0" tIns="0" rIns="0" bIns="0" rtlCol="0" anchor="ctr"/>
          <a:lstStyle/>
          <a:p>
            <a:pPr rtl="1" algn="r" indent="0" marL="0">
              <a:buNone/>
            </a:pPr>
            <a:r>
              <a:rPr lang="en-US" sz="1300" dirty="0">
                <a:solidFill>
                  <a:srgbClr val="475569"/>
                </a:solidFill>
                <a:latin typeface="Cairo" pitchFamily="34" charset="0"/>
                <a:ea typeface="Cairo" pitchFamily="34" charset="-122"/>
                <a:cs typeface="Cairo" pitchFamily="34" charset="-120"/>
              </a:rPr>
              <a:t>مشاكل الإنتاج التقليدية</a:t>
            </a:r>
            <a:endParaRPr lang="en-US" sz="1300" dirty="0"/>
          </a:p>
        </p:txBody>
      </p:sp>
      <p:sp>
        <p:nvSpPr>
          <p:cNvPr id="14" name="Shape 12"/>
          <p:cNvSpPr/>
          <p:nvPr/>
        </p:nvSpPr>
        <p:spPr>
          <a:xfrm>
            <a:off x="6309360" y="3108960"/>
            <a:ext cx="5394960" cy="1417320"/>
          </a:xfrm>
          <a:prstGeom prst="rect">
            <a:avLst/>
          </a:prstGeom>
          <a:solidFill>
            <a:srgbClr val="FFFFFF"/>
          </a:solidFill>
          <a:ln w="6350">
            <a:solidFill>
              <a:srgbClr val="E2E8F0"/>
            </a:solidFill>
            <a:prstDash val="solid"/>
          </a:ln>
          <a:effectLst>
            <a:outerShdw sx="100000" sy="100000" kx="0" ky="0" algn="bl" rotWithShape="0" blurRad="101600" dist="25400" dir="5400000">
              <a:srgbClr val="000000">
                <a:alpha val="6000"/>
              </a:srgbClr>
            </a:outerShdw>
          </a:effectLst>
        </p:spPr>
      </p:sp>
      <p:sp>
        <p:nvSpPr>
          <p:cNvPr id="15" name="Shape 13"/>
          <p:cNvSpPr/>
          <p:nvPr/>
        </p:nvSpPr>
        <p:spPr>
          <a:xfrm>
            <a:off x="11631168" y="3108960"/>
            <a:ext cx="73152" cy="1417320"/>
          </a:xfrm>
          <a:prstGeom prst="rect">
            <a:avLst/>
          </a:prstGeom>
          <a:solidFill>
            <a:srgbClr val="E8A33D"/>
          </a:solidFill>
          <a:ln/>
        </p:spPr>
      </p:sp>
      <p:sp>
        <p:nvSpPr>
          <p:cNvPr id="16" name="Text 14"/>
          <p:cNvSpPr/>
          <p:nvPr/>
        </p:nvSpPr>
        <p:spPr>
          <a:xfrm>
            <a:off x="10515600" y="3337560"/>
            <a:ext cx="1005840" cy="640080"/>
          </a:xfrm>
          <a:prstGeom prst="rect">
            <a:avLst/>
          </a:prstGeom>
          <a:noFill/>
          <a:ln/>
        </p:spPr>
        <p:txBody>
          <a:bodyPr wrap="square" lIns="0" tIns="0" rIns="0" bIns="0" rtlCol="0" anchor="ctr"/>
          <a:lstStyle/>
          <a:p>
            <a:pPr algn="l" indent="0" marL="0">
              <a:buNone/>
            </a:pPr>
            <a:r>
              <a:rPr lang="en-US" sz="3800" b="1" dirty="0">
                <a:solidFill>
                  <a:srgbClr val="E8A33D"/>
                </a:solidFill>
                <a:latin typeface="Cairo" pitchFamily="34" charset="0"/>
                <a:ea typeface="Cairo" pitchFamily="34" charset="-122"/>
                <a:cs typeface="Cairo" pitchFamily="34" charset="-120"/>
              </a:rPr>
              <a:t>03</a:t>
            </a:r>
            <a:endParaRPr lang="en-US" sz="3800" dirty="0"/>
          </a:p>
        </p:txBody>
      </p:sp>
      <p:sp>
        <p:nvSpPr>
          <p:cNvPr id="17" name="Text 15"/>
          <p:cNvSpPr/>
          <p:nvPr/>
        </p:nvSpPr>
        <p:spPr>
          <a:xfrm>
            <a:off x="6583680" y="3337560"/>
            <a:ext cx="3931920" cy="457200"/>
          </a:xfrm>
          <a:prstGeom prst="rect">
            <a:avLst/>
          </a:prstGeom>
          <a:noFill/>
          <a:ln/>
        </p:spPr>
        <p:txBody>
          <a:bodyPr wrap="square" lIns="0" tIns="0" rIns="0" bIns="0" rtlCol="0" anchor="ctr"/>
          <a:lstStyle/>
          <a:p>
            <a:pPr rtl="1" algn="r" indent="0" marL="0">
              <a:buNone/>
            </a:pPr>
            <a:r>
              <a:rPr lang="en-US" sz="1800" b="1" dirty="0">
                <a:solidFill>
                  <a:srgbClr val="0F2A47"/>
                </a:solidFill>
                <a:latin typeface="Cairo" pitchFamily="34" charset="0"/>
                <a:ea typeface="Cairo" pitchFamily="34" charset="-122"/>
                <a:cs typeface="Cairo" pitchFamily="34" charset="-120"/>
              </a:rPr>
              <a:t>المميزات والوظائف الرئيسية</a:t>
            </a:r>
            <a:endParaRPr lang="en-US" sz="1800" dirty="0"/>
          </a:p>
        </p:txBody>
      </p:sp>
      <p:sp>
        <p:nvSpPr>
          <p:cNvPr id="18" name="Text 16"/>
          <p:cNvSpPr/>
          <p:nvPr/>
        </p:nvSpPr>
        <p:spPr>
          <a:xfrm>
            <a:off x="6583680" y="3886200"/>
            <a:ext cx="3931920" cy="457200"/>
          </a:xfrm>
          <a:prstGeom prst="rect">
            <a:avLst/>
          </a:prstGeom>
          <a:noFill/>
          <a:ln/>
        </p:spPr>
        <p:txBody>
          <a:bodyPr wrap="square" lIns="0" tIns="0" rIns="0" bIns="0" rtlCol="0" anchor="ctr"/>
          <a:lstStyle/>
          <a:p>
            <a:pPr rtl="1" algn="r" indent="0" marL="0">
              <a:buNone/>
            </a:pPr>
            <a:r>
              <a:rPr lang="en-US" sz="1300" dirty="0">
                <a:solidFill>
                  <a:srgbClr val="475569"/>
                </a:solidFill>
                <a:latin typeface="Cairo" pitchFamily="34" charset="0"/>
                <a:ea typeface="Cairo" pitchFamily="34" charset="-122"/>
                <a:cs typeface="Cairo" pitchFamily="34" charset="-120"/>
              </a:rPr>
              <a:t>إمكانيات النظام الشاملة</a:t>
            </a:r>
            <a:endParaRPr lang="en-US" sz="1300" dirty="0"/>
          </a:p>
        </p:txBody>
      </p:sp>
      <p:sp>
        <p:nvSpPr>
          <p:cNvPr id="19" name="Shape 17"/>
          <p:cNvSpPr/>
          <p:nvPr/>
        </p:nvSpPr>
        <p:spPr>
          <a:xfrm>
            <a:off x="457200" y="3108960"/>
            <a:ext cx="5394960" cy="1417320"/>
          </a:xfrm>
          <a:prstGeom prst="rect">
            <a:avLst/>
          </a:prstGeom>
          <a:solidFill>
            <a:srgbClr val="FFFFFF"/>
          </a:solidFill>
          <a:ln w="6350">
            <a:solidFill>
              <a:srgbClr val="E2E8F0"/>
            </a:solidFill>
            <a:prstDash val="solid"/>
          </a:ln>
          <a:effectLst>
            <a:outerShdw sx="100000" sy="100000" kx="0" ky="0" algn="bl" rotWithShape="0" blurRad="101600" dist="25400" dir="5400000">
              <a:srgbClr val="000000">
                <a:alpha val="6000"/>
              </a:srgbClr>
            </a:outerShdw>
          </a:effectLst>
        </p:spPr>
      </p:sp>
      <p:sp>
        <p:nvSpPr>
          <p:cNvPr id="20" name="Shape 18"/>
          <p:cNvSpPr/>
          <p:nvPr/>
        </p:nvSpPr>
        <p:spPr>
          <a:xfrm>
            <a:off x="5779008" y="3108960"/>
            <a:ext cx="73152" cy="1417320"/>
          </a:xfrm>
          <a:prstGeom prst="rect">
            <a:avLst/>
          </a:prstGeom>
          <a:solidFill>
            <a:srgbClr val="E8A33D"/>
          </a:solidFill>
          <a:ln/>
        </p:spPr>
      </p:sp>
      <p:sp>
        <p:nvSpPr>
          <p:cNvPr id="21" name="Text 19"/>
          <p:cNvSpPr/>
          <p:nvPr/>
        </p:nvSpPr>
        <p:spPr>
          <a:xfrm>
            <a:off x="4663440" y="3337560"/>
            <a:ext cx="1005840" cy="640080"/>
          </a:xfrm>
          <a:prstGeom prst="rect">
            <a:avLst/>
          </a:prstGeom>
          <a:noFill/>
          <a:ln/>
        </p:spPr>
        <p:txBody>
          <a:bodyPr wrap="square" lIns="0" tIns="0" rIns="0" bIns="0" rtlCol="0" anchor="ctr"/>
          <a:lstStyle/>
          <a:p>
            <a:pPr algn="l" indent="0" marL="0">
              <a:buNone/>
            </a:pPr>
            <a:r>
              <a:rPr lang="en-US" sz="3800" b="1" dirty="0">
                <a:solidFill>
                  <a:srgbClr val="E8A33D"/>
                </a:solidFill>
                <a:latin typeface="Cairo" pitchFamily="34" charset="0"/>
                <a:ea typeface="Cairo" pitchFamily="34" charset="-122"/>
                <a:cs typeface="Cairo" pitchFamily="34" charset="-120"/>
              </a:rPr>
              <a:t>04</a:t>
            </a:r>
            <a:endParaRPr lang="en-US" sz="3800" dirty="0"/>
          </a:p>
        </p:txBody>
      </p:sp>
      <p:sp>
        <p:nvSpPr>
          <p:cNvPr id="22" name="Text 20"/>
          <p:cNvSpPr/>
          <p:nvPr/>
        </p:nvSpPr>
        <p:spPr>
          <a:xfrm>
            <a:off x="731520" y="3337560"/>
            <a:ext cx="3931920" cy="457200"/>
          </a:xfrm>
          <a:prstGeom prst="rect">
            <a:avLst/>
          </a:prstGeom>
          <a:noFill/>
          <a:ln/>
        </p:spPr>
        <p:txBody>
          <a:bodyPr wrap="square" lIns="0" tIns="0" rIns="0" bIns="0" rtlCol="0" anchor="ctr"/>
          <a:lstStyle/>
          <a:p>
            <a:pPr rtl="1" algn="r" indent="0" marL="0">
              <a:buNone/>
            </a:pPr>
            <a:r>
              <a:rPr lang="en-US" sz="1800" b="1" dirty="0">
                <a:solidFill>
                  <a:srgbClr val="0F2A47"/>
                </a:solidFill>
                <a:latin typeface="Cairo" pitchFamily="34" charset="0"/>
                <a:ea typeface="Cairo" pitchFamily="34" charset="-122"/>
                <a:cs typeface="Cairo" pitchFamily="34" charset="-120"/>
              </a:rPr>
              <a:t>سير العمل والوحدات</a:t>
            </a:r>
            <a:endParaRPr lang="en-US" sz="1800" dirty="0"/>
          </a:p>
        </p:txBody>
      </p:sp>
      <p:sp>
        <p:nvSpPr>
          <p:cNvPr id="23" name="Text 21"/>
          <p:cNvSpPr/>
          <p:nvPr/>
        </p:nvSpPr>
        <p:spPr>
          <a:xfrm>
            <a:off x="731520" y="3886200"/>
            <a:ext cx="3931920" cy="457200"/>
          </a:xfrm>
          <a:prstGeom prst="rect">
            <a:avLst/>
          </a:prstGeom>
          <a:noFill/>
          <a:ln/>
        </p:spPr>
        <p:txBody>
          <a:bodyPr wrap="square" lIns="0" tIns="0" rIns="0" bIns="0" rtlCol="0" anchor="ctr"/>
          <a:lstStyle/>
          <a:p>
            <a:pPr rtl="1" algn="r" indent="0" marL="0">
              <a:buNone/>
            </a:pPr>
            <a:r>
              <a:rPr lang="en-US" sz="1300" dirty="0">
                <a:solidFill>
                  <a:srgbClr val="475569"/>
                </a:solidFill>
                <a:latin typeface="Cairo" pitchFamily="34" charset="0"/>
                <a:ea typeface="Cairo" pitchFamily="34" charset="-122"/>
                <a:cs typeface="Cairo" pitchFamily="34" charset="-120"/>
              </a:rPr>
              <a:t>من الطلب إلى التسليم</a:t>
            </a:r>
            <a:endParaRPr lang="en-US" sz="1300" dirty="0"/>
          </a:p>
        </p:txBody>
      </p:sp>
      <p:sp>
        <p:nvSpPr>
          <p:cNvPr id="24" name="Shape 22"/>
          <p:cNvSpPr/>
          <p:nvPr/>
        </p:nvSpPr>
        <p:spPr>
          <a:xfrm>
            <a:off x="6309360" y="4663440"/>
            <a:ext cx="5394960" cy="1417320"/>
          </a:xfrm>
          <a:prstGeom prst="rect">
            <a:avLst/>
          </a:prstGeom>
          <a:solidFill>
            <a:srgbClr val="FFFFFF"/>
          </a:solidFill>
          <a:ln w="6350">
            <a:solidFill>
              <a:srgbClr val="E2E8F0"/>
            </a:solidFill>
            <a:prstDash val="solid"/>
          </a:ln>
          <a:effectLst>
            <a:outerShdw sx="100000" sy="100000" kx="0" ky="0" algn="bl" rotWithShape="0" blurRad="101600" dist="25400" dir="5400000">
              <a:srgbClr val="000000">
                <a:alpha val="6000"/>
              </a:srgbClr>
            </a:outerShdw>
          </a:effectLst>
        </p:spPr>
      </p:sp>
      <p:sp>
        <p:nvSpPr>
          <p:cNvPr id="25" name="Shape 23"/>
          <p:cNvSpPr/>
          <p:nvPr/>
        </p:nvSpPr>
        <p:spPr>
          <a:xfrm>
            <a:off x="11631168" y="4663440"/>
            <a:ext cx="73152" cy="1417320"/>
          </a:xfrm>
          <a:prstGeom prst="rect">
            <a:avLst/>
          </a:prstGeom>
          <a:solidFill>
            <a:srgbClr val="E8A33D"/>
          </a:solidFill>
          <a:ln/>
        </p:spPr>
      </p:sp>
      <p:sp>
        <p:nvSpPr>
          <p:cNvPr id="26" name="Text 24"/>
          <p:cNvSpPr/>
          <p:nvPr/>
        </p:nvSpPr>
        <p:spPr>
          <a:xfrm>
            <a:off x="10515600" y="4892040"/>
            <a:ext cx="1005840" cy="640080"/>
          </a:xfrm>
          <a:prstGeom prst="rect">
            <a:avLst/>
          </a:prstGeom>
          <a:noFill/>
          <a:ln/>
        </p:spPr>
        <p:txBody>
          <a:bodyPr wrap="square" lIns="0" tIns="0" rIns="0" bIns="0" rtlCol="0" anchor="ctr"/>
          <a:lstStyle/>
          <a:p>
            <a:pPr algn="l" indent="0" marL="0">
              <a:buNone/>
            </a:pPr>
            <a:r>
              <a:rPr lang="en-US" sz="3800" b="1" dirty="0">
                <a:solidFill>
                  <a:srgbClr val="E8A33D"/>
                </a:solidFill>
                <a:latin typeface="Cairo" pitchFamily="34" charset="0"/>
                <a:ea typeface="Cairo" pitchFamily="34" charset="-122"/>
                <a:cs typeface="Cairo" pitchFamily="34" charset="-120"/>
              </a:rPr>
              <a:t>05</a:t>
            </a:r>
            <a:endParaRPr lang="en-US" sz="3800" dirty="0"/>
          </a:p>
        </p:txBody>
      </p:sp>
      <p:sp>
        <p:nvSpPr>
          <p:cNvPr id="27" name="Text 25"/>
          <p:cNvSpPr/>
          <p:nvPr/>
        </p:nvSpPr>
        <p:spPr>
          <a:xfrm>
            <a:off x="6583680" y="4892040"/>
            <a:ext cx="3931920" cy="457200"/>
          </a:xfrm>
          <a:prstGeom prst="rect">
            <a:avLst/>
          </a:prstGeom>
          <a:noFill/>
          <a:ln/>
        </p:spPr>
        <p:txBody>
          <a:bodyPr wrap="square" lIns="0" tIns="0" rIns="0" bIns="0" rtlCol="0" anchor="ctr"/>
          <a:lstStyle/>
          <a:p>
            <a:pPr rtl="1" algn="r" indent="0" marL="0">
              <a:buNone/>
            </a:pPr>
            <a:r>
              <a:rPr lang="en-US" sz="1800" b="1" dirty="0">
                <a:solidFill>
                  <a:srgbClr val="0F2A47"/>
                </a:solidFill>
                <a:latin typeface="Cairo" pitchFamily="34" charset="0"/>
                <a:ea typeface="Cairo" pitchFamily="34" charset="-122"/>
                <a:cs typeface="Cairo" pitchFamily="34" charset="-120"/>
              </a:rPr>
              <a:t>العائد على الاستثمار</a:t>
            </a:r>
            <a:endParaRPr lang="en-US" sz="1800" dirty="0"/>
          </a:p>
        </p:txBody>
      </p:sp>
      <p:sp>
        <p:nvSpPr>
          <p:cNvPr id="28" name="Text 26"/>
          <p:cNvSpPr/>
          <p:nvPr/>
        </p:nvSpPr>
        <p:spPr>
          <a:xfrm>
            <a:off x="6583680" y="5440680"/>
            <a:ext cx="3931920" cy="457200"/>
          </a:xfrm>
          <a:prstGeom prst="rect">
            <a:avLst/>
          </a:prstGeom>
          <a:noFill/>
          <a:ln/>
        </p:spPr>
        <p:txBody>
          <a:bodyPr wrap="square" lIns="0" tIns="0" rIns="0" bIns="0" rtlCol="0" anchor="ctr"/>
          <a:lstStyle/>
          <a:p>
            <a:pPr rtl="1" algn="r" indent="0" marL="0">
              <a:buNone/>
            </a:pPr>
            <a:r>
              <a:rPr lang="en-US" sz="1300" dirty="0">
                <a:solidFill>
                  <a:srgbClr val="475569"/>
                </a:solidFill>
                <a:latin typeface="Cairo" pitchFamily="34" charset="0"/>
                <a:ea typeface="Cairo" pitchFamily="34" charset="-122"/>
                <a:cs typeface="Cairo" pitchFamily="34" charset="-120"/>
              </a:rPr>
              <a:t>أرقام ونتائج ملموسة</a:t>
            </a:r>
            <a:endParaRPr lang="en-US" sz="1300" dirty="0"/>
          </a:p>
        </p:txBody>
      </p:sp>
      <p:sp>
        <p:nvSpPr>
          <p:cNvPr id="29" name="Shape 27"/>
          <p:cNvSpPr/>
          <p:nvPr/>
        </p:nvSpPr>
        <p:spPr>
          <a:xfrm>
            <a:off x="457200" y="4663440"/>
            <a:ext cx="5394960" cy="1417320"/>
          </a:xfrm>
          <a:prstGeom prst="rect">
            <a:avLst/>
          </a:prstGeom>
          <a:solidFill>
            <a:srgbClr val="FFFFFF"/>
          </a:solidFill>
          <a:ln w="6350">
            <a:solidFill>
              <a:srgbClr val="E2E8F0"/>
            </a:solidFill>
            <a:prstDash val="solid"/>
          </a:ln>
          <a:effectLst>
            <a:outerShdw sx="100000" sy="100000" kx="0" ky="0" algn="bl" rotWithShape="0" blurRad="101600" dist="25400" dir="5400000">
              <a:srgbClr val="000000">
                <a:alpha val="6000"/>
              </a:srgbClr>
            </a:outerShdw>
          </a:effectLst>
        </p:spPr>
      </p:sp>
      <p:sp>
        <p:nvSpPr>
          <p:cNvPr id="30" name="Shape 28"/>
          <p:cNvSpPr/>
          <p:nvPr/>
        </p:nvSpPr>
        <p:spPr>
          <a:xfrm>
            <a:off x="5779008" y="4663440"/>
            <a:ext cx="73152" cy="1417320"/>
          </a:xfrm>
          <a:prstGeom prst="rect">
            <a:avLst/>
          </a:prstGeom>
          <a:solidFill>
            <a:srgbClr val="E8A33D"/>
          </a:solidFill>
          <a:ln/>
        </p:spPr>
      </p:sp>
      <p:sp>
        <p:nvSpPr>
          <p:cNvPr id="31" name="Text 29"/>
          <p:cNvSpPr/>
          <p:nvPr/>
        </p:nvSpPr>
        <p:spPr>
          <a:xfrm>
            <a:off x="4663440" y="4892040"/>
            <a:ext cx="1005840" cy="640080"/>
          </a:xfrm>
          <a:prstGeom prst="rect">
            <a:avLst/>
          </a:prstGeom>
          <a:noFill/>
          <a:ln/>
        </p:spPr>
        <p:txBody>
          <a:bodyPr wrap="square" lIns="0" tIns="0" rIns="0" bIns="0" rtlCol="0" anchor="ctr"/>
          <a:lstStyle/>
          <a:p>
            <a:pPr algn="l" indent="0" marL="0">
              <a:buNone/>
            </a:pPr>
            <a:r>
              <a:rPr lang="en-US" sz="3800" b="1" dirty="0">
                <a:solidFill>
                  <a:srgbClr val="E8A33D"/>
                </a:solidFill>
                <a:latin typeface="Cairo" pitchFamily="34" charset="0"/>
                <a:ea typeface="Cairo" pitchFamily="34" charset="-122"/>
                <a:cs typeface="Cairo" pitchFamily="34" charset="-120"/>
              </a:rPr>
              <a:t>06</a:t>
            </a:r>
            <a:endParaRPr lang="en-US" sz="3800" dirty="0"/>
          </a:p>
        </p:txBody>
      </p:sp>
      <p:sp>
        <p:nvSpPr>
          <p:cNvPr id="32" name="Text 30"/>
          <p:cNvSpPr/>
          <p:nvPr/>
        </p:nvSpPr>
        <p:spPr>
          <a:xfrm>
            <a:off x="731520" y="4892040"/>
            <a:ext cx="3931920" cy="457200"/>
          </a:xfrm>
          <a:prstGeom prst="rect">
            <a:avLst/>
          </a:prstGeom>
          <a:noFill/>
          <a:ln/>
        </p:spPr>
        <p:txBody>
          <a:bodyPr wrap="square" lIns="0" tIns="0" rIns="0" bIns="0" rtlCol="0" anchor="ctr"/>
          <a:lstStyle/>
          <a:p>
            <a:pPr rtl="1" algn="r" indent="0" marL="0">
              <a:buNone/>
            </a:pPr>
            <a:r>
              <a:rPr lang="en-US" sz="1800" b="1" dirty="0">
                <a:solidFill>
                  <a:srgbClr val="0F2A47"/>
                </a:solidFill>
                <a:latin typeface="Cairo" pitchFamily="34" charset="0"/>
                <a:ea typeface="Cairo" pitchFamily="34" charset="-122"/>
                <a:cs typeface="Cairo" pitchFamily="34" charset="-120"/>
              </a:rPr>
              <a:t>التكامل والأمان</a:t>
            </a:r>
            <a:endParaRPr lang="en-US" sz="1800" dirty="0"/>
          </a:p>
        </p:txBody>
      </p:sp>
      <p:sp>
        <p:nvSpPr>
          <p:cNvPr id="33" name="Text 31"/>
          <p:cNvSpPr/>
          <p:nvPr/>
        </p:nvSpPr>
        <p:spPr>
          <a:xfrm>
            <a:off x="731520" y="5440680"/>
            <a:ext cx="3931920" cy="457200"/>
          </a:xfrm>
          <a:prstGeom prst="rect">
            <a:avLst/>
          </a:prstGeom>
          <a:noFill/>
          <a:ln/>
        </p:spPr>
        <p:txBody>
          <a:bodyPr wrap="square" lIns="0" tIns="0" rIns="0" bIns="0" rtlCol="0" anchor="ctr"/>
          <a:lstStyle/>
          <a:p>
            <a:pPr rtl="1" algn="r" indent="0" marL="0">
              <a:buNone/>
            </a:pPr>
            <a:r>
              <a:rPr lang="en-US" sz="1300" dirty="0">
                <a:solidFill>
                  <a:srgbClr val="475569"/>
                </a:solidFill>
                <a:latin typeface="Cairo" pitchFamily="34" charset="0"/>
                <a:ea typeface="Cairo" pitchFamily="34" charset="-122"/>
                <a:cs typeface="Cairo" pitchFamily="34" charset="-120"/>
              </a:rPr>
              <a:t>Zoho CRM وحماية البيانات</a:t>
            </a:r>
            <a:endParaRPr lang="en-US" sz="1300" dirty="0"/>
          </a:p>
        </p:txBody>
      </p:sp>
      <p:sp>
        <p:nvSpPr>
          <p:cNvPr id="34" name="Text 32"/>
          <p:cNvSpPr/>
          <p:nvPr/>
        </p:nvSpPr>
        <p:spPr>
          <a:xfrm>
            <a:off x="457200" y="6492240"/>
            <a:ext cx="5486400" cy="274320"/>
          </a:xfrm>
          <a:prstGeom prst="rect">
            <a:avLst/>
          </a:prstGeom>
          <a:noFill/>
          <a:ln/>
        </p:spPr>
        <p:txBody>
          <a:bodyPr wrap="square" lIns="0" tIns="0" rIns="0" bIns="0" rtlCol="0" anchor="ctr"/>
          <a:lstStyle/>
          <a:p>
            <a:pPr rtl="1" algn="r" indent="0" marL="0">
              <a:buNone/>
            </a:pPr>
            <a:r>
              <a:rPr lang="en-US" sz="900" dirty="0">
                <a:solidFill>
                  <a:srgbClr val="94A3B8"/>
                </a:solidFill>
                <a:latin typeface="Cairo" pitchFamily="34" charset="0"/>
                <a:ea typeface="Cairo" pitchFamily="34" charset="-122"/>
                <a:cs typeface="Cairo" pitchFamily="34" charset="-120"/>
              </a:rPr>
              <a:t>ModernLife — نظام إدارة التصنيع المتكامل</a:t>
            </a:r>
            <a:endParaRPr lang="en-US" sz="900" dirty="0"/>
          </a:p>
        </p:txBody>
      </p:sp>
      <p:sp>
        <p:nvSpPr>
          <p:cNvPr id="35" name="Text 33"/>
          <p:cNvSpPr/>
          <p:nvPr/>
        </p:nvSpPr>
        <p:spPr>
          <a:xfrm>
            <a:off x="11155680" y="6492240"/>
            <a:ext cx="822960" cy="274320"/>
          </a:xfrm>
          <a:prstGeom prst="rect">
            <a:avLst/>
          </a:prstGeom>
          <a:noFill/>
          <a:ln/>
        </p:spPr>
        <p:txBody>
          <a:bodyPr wrap="square" lIns="0" tIns="0" rIns="0" bIns="0" rtlCol="0" anchor="ctr"/>
          <a:lstStyle/>
          <a:p>
            <a:pPr algn="l" indent="0" marL="0">
              <a:buNone/>
            </a:pPr>
            <a:r>
              <a:rPr lang="en-US" sz="900" dirty="0">
                <a:solidFill>
                  <a:srgbClr val="94A3B8"/>
                </a:solidFill>
                <a:latin typeface="Cairo" pitchFamily="34" charset="0"/>
                <a:ea typeface="Cairo" pitchFamily="34" charset="-122"/>
                <a:cs typeface="Cairo" pitchFamily="34" charset="-120"/>
              </a:rPr>
              <a:t>2 / 12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0" y="548640"/>
            <a:ext cx="6675120" cy="365760"/>
          </a:xfrm>
          <a:prstGeom prst="rect">
            <a:avLst/>
          </a:prstGeom>
          <a:noFill/>
          <a:ln/>
        </p:spPr>
        <p:txBody>
          <a:bodyPr wrap="square" lIns="0" tIns="0" rIns="0" bIns="0" rtlCol="0" anchor="ctr"/>
          <a:lstStyle/>
          <a:p>
            <a:pPr rtl="1" algn="r" indent="0" marL="0">
              <a:buNone/>
            </a:pPr>
            <a:r>
              <a:rPr lang="en-US" sz="1300" b="1" dirty="0">
                <a:solidFill>
                  <a:srgbClr val="E8A33D"/>
                </a:solidFill>
                <a:latin typeface="Cairo" pitchFamily="34" charset="0"/>
                <a:ea typeface="Cairo" pitchFamily="34" charset="-122"/>
                <a:cs typeface="Cairo" pitchFamily="34" charset="-120"/>
              </a:rPr>
              <a:t>01 — تعريف بالنظام</a:t>
            </a:r>
            <a:endParaRPr lang="en-US" sz="1300" dirty="0"/>
          </a:p>
        </p:txBody>
      </p:sp>
      <p:sp>
        <p:nvSpPr>
          <p:cNvPr id="3" name="Text 1"/>
          <p:cNvSpPr/>
          <p:nvPr/>
        </p:nvSpPr>
        <p:spPr>
          <a:xfrm>
            <a:off x="5029200" y="914400"/>
            <a:ext cx="6675120" cy="731520"/>
          </a:xfrm>
          <a:prstGeom prst="rect">
            <a:avLst/>
          </a:prstGeom>
          <a:noFill/>
          <a:ln/>
        </p:spPr>
        <p:txBody>
          <a:bodyPr wrap="square" lIns="0" tIns="0" rIns="0" bIns="0" rtlCol="0" anchor="ctr"/>
          <a:lstStyle/>
          <a:p>
            <a:pPr rtl="1" algn="r" indent="0" marL="0">
              <a:buNone/>
            </a:pPr>
            <a:r>
              <a:rPr lang="en-US" sz="3600" b="1" dirty="0">
                <a:solidFill>
                  <a:srgbClr val="0F2A47"/>
                </a:solidFill>
                <a:latin typeface="Cairo" pitchFamily="34" charset="0"/>
                <a:ea typeface="Cairo" pitchFamily="34" charset="-122"/>
                <a:cs typeface="Cairo" pitchFamily="34" charset="-120"/>
              </a:rPr>
              <a:t>ما هو نظام ModernLife؟</a:t>
            </a:r>
            <a:endParaRPr lang="en-US" sz="3600" dirty="0"/>
          </a:p>
        </p:txBody>
      </p:sp>
      <p:sp>
        <p:nvSpPr>
          <p:cNvPr id="4" name="Shape 2"/>
          <p:cNvSpPr/>
          <p:nvPr/>
        </p:nvSpPr>
        <p:spPr>
          <a:xfrm>
            <a:off x="10972800" y="1691640"/>
            <a:ext cx="731520" cy="45720"/>
          </a:xfrm>
          <a:prstGeom prst="rect">
            <a:avLst/>
          </a:prstGeom>
          <a:solidFill>
            <a:srgbClr val="E8A33D"/>
          </a:solidFill>
          <a:ln/>
        </p:spPr>
      </p:sp>
      <p:sp>
        <p:nvSpPr>
          <p:cNvPr id="5" name="Text 3"/>
          <p:cNvSpPr/>
          <p:nvPr/>
        </p:nvSpPr>
        <p:spPr>
          <a:xfrm>
            <a:off x="5029200" y="1920240"/>
            <a:ext cx="6675120" cy="1463040"/>
          </a:xfrm>
          <a:prstGeom prst="rect">
            <a:avLst/>
          </a:prstGeom>
          <a:noFill/>
          <a:ln/>
        </p:spPr>
        <p:txBody>
          <a:bodyPr wrap="square" lIns="0" tIns="0" rIns="0" bIns="0" rtlCol="0" anchor="ctr"/>
          <a:lstStyle/>
          <a:p>
            <a:pPr rtl="1" algn="r" indent="0" marL="0">
              <a:spcAft>
                <a:spcPts val="1000"/>
              </a:spcAft>
              <a:buNone/>
            </a:pPr>
            <a:r>
              <a:rPr lang="en-US" sz="1600" dirty="0">
                <a:solidFill>
                  <a:srgbClr val="475569"/>
                </a:solidFill>
                <a:latin typeface="Cairo" pitchFamily="34" charset="0"/>
                <a:ea typeface="Cairo" pitchFamily="34" charset="-122"/>
                <a:cs typeface="Cairo" pitchFamily="34" charset="-120"/>
              </a:rPr>
              <a:t>منصة ويب متكاملة مبنية على إطار عمل Laravel، مصممة خصيصاً لإدارة دورة الإنتاج الكاملة في المصانع. يربط النظام بين المبيعات وصالات العرض والمصنع والأقسام الفنية والجودة والتركيب في واجهة واحدة موحدة.</a:t>
            </a:r>
            <a:endParaRPr lang="en-US" sz="1600" dirty="0"/>
          </a:p>
        </p:txBody>
      </p:sp>
      <p:sp>
        <p:nvSpPr>
          <p:cNvPr id="6" name="Shape 4"/>
          <p:cNvSpPr/>
          <p:nvPr/>
        </p:nvSpPr>
        <p:spPr>
          <a:xfrm>
            <a:off x="11430000" y="3685032"/>
            <a:ext cx="182880" cy="182880"/>
          </a:xfrm>
          <a:prstGeom prst="ellipse">
            <a:avLst/>
          </a:prstGeom>
          <a:solidFill>
            <a:srgbClr val="E8A33D"/>
          </a:solidFill>
          <a:ln/>
        </p:spPr>
      </p:sp>
      <p:sp>
        <p:nvSpPr>
          <p:cNvPr id="7" name="Text 5"/>
          <p:cNvSpPr/>
          <p:nvPr/>
        </p:nvSpPr>
        <p:spPr>
          <a:xfrm>
            <a:off x="5029200" y="3611880"/>
            <a:ext cx="6309360" cy="365760"/>
          </a:xfrm>
          <a:prstGeom prst="rect">
            <a:avLst/>
          </a:prstGeom>
          <a:noFill/>
          <a:ln/>
        </p:spPr>
        <p:txBody>
          <a:bodyPr wrap="square" lIns="0" tIns="0" rIns="0" bIns="0" rtlCol="0" anchor="ctr"/>
          <a:lstStyle/>
          <a:p>
            <a:pPr rtl="1" algn="r" indent="0" marL="0">
              <a:buNone/>
            </a:pPr>
            <a:r>
              <a:rPr lang="en-US" sz="1500" dirty="0">
                <a:solidFill>
                  <a:srgbClr val="1E293B"/>
                </a:solidFill>
                <a:latin typeface="Cairo" pitchFamily="34" charset="0"/>
                <a:ea typeface="Cairo" pitchFamily="34" charset="-122"/>
                <a:cs typeface="Cairo" pitchFamily="34" charset="-120"/>
              </a:rPr>
              <a:t>إدارة موحدة لجميع طلبات الإنتاج</a:t>
            </a:r>
            <a:endParaRPr lang="en-US" sz="1500" dirty="0"/>
          </a:p>
        </p:txBody>
      </p:sp>
      <p:sp>
        <p:nvSpPr>
          <p:cNvPr id="8" name="Shape 6"/>
          <p:cNvSpPr/>
          <p:nvPr/>
        </p:nvSpPr>
        <p:spPr>
          <a:xfrm>
            <a:off x="11430000" y="4187952"/>
            <a:ext cx="182880" cy="182880"/>
          </a:xfrm>
          <a:prstGeom prst="ellipse">
            <a:avLst/>
          </a:prstGeom>
          <a:solidFill>
            <a:srgbClr val="E8A33D"/>
          </a:solidFill>
          <a:ln/>
        </p:spPr>
      </p:sp>
      <p:sp>
        <p:nvSpPr>
          <p:cNvPr id="9" name="Text 7"/>
          <p:cNvSpPr/>
          <p:nvPr/>
        </p:nvSpPr>
        <p:spPr>
          <a:xfrm>
            <a:off x="5029200" y="4114800"/>
            <a:ext cx="6309360" cy="365760"/>
          </a:xfrm>
          <a:prstGeom prst="rect">
            <a:avLst/>
          </a:prstGeom>
          <a:noFill/>
          <a:ln/>
        </p:spPr>
        <p:txBody>
          <a:bodyPr wrap="square" lIns="0" tIns="0" rIns="0" bIns="0" rtlCol="0" anchor="ctr"/>
          <a:lstStyle/>
          <a:p>
            <a:pPr rtl="1" algn="r" indent="0" marL="0">
              <a:buNone/>
            </a:pPr>
            <a:r>
              <a:rPr lang="en-US" sz="1500" dirty="0">
                <a:solidFill>
                  <a:srgbClr val="1E293B"/>
                </a:solidFill>
                <a:latin typeface="Cairo" pitchFamily="34" charset="0"/>
                <a:ea typeface="Cairo" pitchFamily="34" charset="-122"/>
                <a:cs typeface="Cairo" pitchFamily="34" charset="-120"/>
              </a:rPr>
              <a:t>تتبع مباشر لحالة كل طلب</a:t>
            </a:r>
            <a:endParaRPr lang="en-US" sz="1500" dirty="0"/>
          </a:p>
        </p:txBody>
      </p:sp>
      <p:sp>
        <p:nvSpPr>
          <p:cNvPr id="10" name="Shape 8"/>
          <p:cNvSpPr/>
          <p:nvPr/>
        </p:nvSpPr>
        <p:spPr>
          <a:xfrm>
            <a:off x="11430000" y="4690872"/>
            <a:ext cx="182880" cy="182880"/>
          </a:xfrm>
          <a:prstGeom prst="ellipse">
            <a:avLst/>
          </a:prstGeom>
          <a:solidFill>
            <a:srgbClr val="E8A33D"/>
          </a:solidFill>
          <a:ln/>
        </p:spPr>
      </p:sp>
      <p:sp>
        <p:nvSpPr>
          <p:cNvPr id="11" name="Text 9"/>
          <p:cNvSpPr/>
          <p:nvPr/>
        </p:nvSpPr>
        <p:spPr>
          <a:xfrm>
            <a:off x="5029200" y="4617720"/>
            <a:ext cx="6309360" cy="365760"/>
          </a:xfrm>
          <a:prstGeom prst="rect">
            <a:avLst/>
          </a:prstGeom>
          <a:noFill/>
          <a:ln/>
        </p:spPr>
        <p:txBody>
          <a:bodyPr wrap="square" lIns="0" tIns="0" rIns="0" bIns="0" rtlCol="0" anchor="ctr"/>
          <a:lstStyle/>
          <a:p>
            <a:pPr rtl="1" algn="r" indent="0" marL="0">
              <a:buNone/>
            </a:pPr>
            <a:r>
              <a:rPr lang="en-US" sz="1500" dirty="0">
                <a:solidFill>
                  <a:srgbClr val="1E293B"/>
                </a:solidFill>
                <a:latin typeface="Cairo" pitchFamily="34" charset="0"/>
                <a:ea typeface="Cairo" pitchFamily="34" charset="-122"/>
                <a:cs typeface="Cairo" pitchFamily="34" charset="-120"/>
              </a:rPr>
              <a:t>تكامل سلس مع Zoho CRM</a:t>
            </a:r>
            <a:endParaRPr lang="en-US" sz="1500" dirty="0"/>
          </a:p>
        </p:txBody>
      </p:sp>
      <p:sp>
        <p:nvSpPr>
          <p:cNvPr id="12" name="Shape 10"/>
          <p:cNvSpPr/>
          <p:nvPr/>
        </p:nvSpPr>
        <p:spPr>
          <a:xfrm>
            <a:off x="11430000" y="5193792"/>
            <a:ext cx="182880" cy="182880"/>
          </a:xfrm>
          <a:prstGeom prst="ellipse">
            <a:avLst/>
          </a:prstGeom>
          <a:solidFill>
            <a:srgbClr val="E8A33D"/>
          </a:solidFill>
          <a:ln/>
        </p:spPr>
      </p:sp>
      <p:sp>
        <p:nvSpPr>
          <p:cNvPr id="13" name="Text 11"/>
          <p:cNvSpPr/>
          <p:nvPr/>
        </p:nvSpPr>
        <p:spPr>
          <a:xfrm>
            <a:off x="5029200" y="5120640"/>
            <a:ext cx="6309360" cy="365760"/>
          </a:xfrm>
          <a:prstGeom prst="rect">
            <a:avLst/>
          </a:prstGeom>
          <a:noFill/>
          <a:ln/>
        </p:spPr>
        <p:txBody>
          <a:bodyPr wrap="square" lIns="0" tIns="0" rIns="0" bIns="0" rtlCol="0" anchor="ctr"/>
          <a:lstStyle/>
          <a:p>
            <a:pPr rtl="1" algn="r" indent="0" marL="0">
              <a:buNone/>
            </a:pPr>
            <a:r>
              <a:rPr lang="en-US" sz="1500" dirty="0">
                <a:solidFill>
                  <a:srgbClr val="1E293B"/>
                </a:solidFill>
                <a:latin typeface="Cairo" pitchFamily="34" charset="0"/>
                <a:ea typeface="Cairo" pitchFamily="34" charset="-122"/>
                <a:cs typeface="Cairo" pitchFamily="34" charset="-120"/>
              </a:rPr>
              <a:t>صلاحيات دقيقة لكل دور وظيفي</a:t>
            </a:r>
            <a:endParaRPr lang="en-US" sz="1500" dirty="0"/>
          </a:p>
        </p:txBody>
      </p:sp>
      <p:sp>
        <p:nvSpPr>
          <p:cNvPr id="14" name="Shape 12"/>
          <p:cNvSpPr/>
          <p:nvPr/>
        </p:nvSpPr>
        <p:spPr>
          <a:xfrm>
            <a:off x="457200" y="914400"/>
            <a:ext cx="4297680" cy="4937760"/>
          </a:xfrm>
          <a:prstGeom prst="rect">
            <a:avLst/>
          </a:prstGeom>
          <a:solidFill>
            <a:srgbClr val="0F2A47"/>
          </a:solidFill>
          <a:ln/>
        </p:spPr>
      </p:sp>
      <p:sp>
        <p:nvSpPr>
          <p:cNvPr id="15" name="Shape 13"/>
          <p:cNvSpPr/>
          <p:nvPr/>
        </p:nvSpPr>
        <p:spPr>
          <a:xfrm>
            <a:off x="457200" y="914400"/>
            <a:ext cx="4297680" cy="137160"/>
          </a:xfrm>
          <a:prstGeom prst="rect">
            <a:avLst/>
          </a:prstGeom>
          <a:solidFill>
            <a:srgbClr val="E8A33D"/>
          </a:solidFill>
          <a:ln/>
        </p:spPr>
      </p:sp>
      <p:sp>
        <p:nvSpPr>
          <p:cNvPr id="16" name="Text 14"/>
          <p:cNvSpPr/>
          <p:nvPr/>
        </p:nvSpPr>
        <p:spPr>
          <a:xfrm>
            <a:off x="640080" y="1280160"/>
            <a:ext cx="3931920" cy="274320"/>
          </a:xfrm>
          <a:prstGeom prst="rect">
            <a:avLst/>
          </a:prstGeom>
          <a:noFill/>
          <a:ln/>
        </p:spPr>
        <p:txBody>
          <a:bodyPr wrap="square" lIns="0" tIns="0" rIns="0" bIns="0" rtlCol="0" anchor="ctr"/>
          <a:lstStyle/>
          <a:p>
            <a:pPr algn="ctr" indent="0" marL="0">
              <a:buNone/>
            </a:pPr>
            <a:r>
              <a:rPr lang="en-US" sz="1100" b="1" spc="600" kern="0" dirty="0">
                <a:solidFill>
                  <a:srgbClr val="F4C77B"/>
                </a:solidFill>
                <a:latin typeface="Cairo" pitchFamily="34" charset="0"/>
                <a:ea typeface="Cairo" pitchFamily="34" charset="-122"/>
                <a:cs typeface="Cairo" pitchFamily="34" charset="-120"/>
              </a:rPr>
              <a:t>BUILT ON</a:t>
            </a:r>
            <a:endParaRPr lang="en-US" sz="1100" dirty="0"/>
          </a:p>
        </p:txBody>
      </p:sp>
      <p:sp>
        <p:nvSpPr>
          <p:cNvPr id="17" name="Text 15"/>
          <p:cNvSpPr/>
          <p:nvPr/>
        </p:nvSpPr>
        <p:spPr>
          <a:xfrm>
            <a:off x="640080" y="1600200"/>
            <a:ext cx="3931920" cy="548640"/>
          </a:xfrm>
          <a:prstGeom prst="rect">
            <a:avLst/>
          </a:prstGeom>
          <a:noFill/>
          <a:ln/>
        </p:spPr>
        <p:txBody>
          <a:bodyPr wrap="square" lIns="0" tIns="0" rIns="0" bIns="0" rtlCol="0" anchor="ctr"/>
          <a:lstStyle/>
          <a:p>
            <a:pPr algn="ctr" indent="0" marL="0">
              <a:buNone/>
            </a:pPr>
            <a:r>
              <a:rPr lang="en-US" sz="2600" b="1" dirty="0">
                <a:solidFill>
                  <a:srgbClr val="FFFFFF"/>
                </a:solidFill>
                <a:latin typeface="Cairo" pitchFamily="34" charset="0"/>
                <a:ea typeface="Cairo" pitchFamily="34" charset="-122"/>
                <a:cs typeface="Cairo" pitchFamily="34" charset="-120"/>
              </a:rPr>
              <a:t>Laravel + Filament</a:t>
            </a:r>
            <a:endParaRPr lang="en-US" sz="2600" dirty="0"/>
          </a:p>
        </p:txBody>
      </p:sp>
      <p:sp>
        <p:nvSpPr>
          <p:cNvPr id="18" name="Shape 16"/>
          <p:cNvSpPr/>
          <p:nvPr/>
        </p:nvSpPr>
        <p:spPr>
          <a:xfrm>
            <a:off x="2331720" y="2286000"/>
            <a:ext cx="548640" cy="27432"/>
          </a:xfrm>
          <a:prstGeom prst="rect">
            <a:avLst/>
          </a:prstGeom>
          <a:solidFill>
            <a:srgbClr val="E8A33D"/>
          </a:solidFill>
          <a:ln/>
        </p:spPr>
      </p:sp>
      <p:sp>
        <p:nvSpPr>
          <p:cNvPr id="19" name="Text 17"/>
          <p:cNvSpPr/>
          <p:nvPr/>
        </p:nvSpPr>
        <p:spPr>
          <a:xfrm>
            <a:off x="640080" y="2606040"/>
            <a:ext cx="3931920" cy="594360"/>
          </a:xfrm>
          <a:prstGeom prst="rect">
            <a:avLst/>
          </a:prstGeom>
          <a:noFill/>
          <a:ln/>
        </p:spPr>
        <p:txBody>
          <a:bodyPr wrap="square" lIns="0" tIns="0" rIns="0" bIns="0" rtlCol="0" anchor="ctr"/>
          <a:lstStyle/>
          <a:p>
            <a:pPr algn="ctr" indent="0" marL="0">
              <a:buNone/>
            </a:pPr>
            <a:r>
              <a:rPr lang="en-US" sz="4400" b="1" dirty="0">
                <a:solidFill>
                  <a:srgbClr val="E8A33D"/>
                </a:solidFill>
                <a:latin typeface="Cairo" pitchFamily="34" charset="0"/>
                <a:ea typeface="Cairo" pitchFamily="34" charset="-122"/>
                <a:cs typeface="Cairo" pitchFamily="34" charset="-120"/>
              </a:rPr>
              <a:t>9+</a:t>
            </a:r>
            <a:endParaRPr lang="en-US" sz="4400" dirty="0"/>
          </a:p>
        </p:txBody>
      </p:sp>
      <p:sp>
        <p:nvSpPr>
          <p:cNvPr id="20" name="Text 18"/>
          <p:cNvSpPr/>
          <p:nvPr/>
        </p:nvSpPr>
        <p:spPr>
          <a:xfrm>
            <a:off x="640080" y="3200400"/>
            <a:ext cx="3931920" cy="320040"/>
          </a:xfrm>
          <a:prstGeom prst="rect">
            <a:avLst/>
          </a:prstGeom>
          <a:noFill/>
          <a:ln/>
        </p:spPr>
        <p:txBody>
          <a:bodyPr wrap="square" lIns="0" tIns="0" rIns="0" bIns="0" rtlCol="0" anchor="ctr"/>
          <a:lstStyle/>
          <a:p>
            <a:pPr rtl="1" algn="ctr" indent="0" marL="0">
              <a:buNone/>
            </a:pPr>
            <a:r>
              <a:rPr lang="en-US" sz="1300" dirty="0">
                <a:solidFill>
                  <a:srgbClr val="E2E8F0"/>
                </a:solidFill>
                <a:latin typeface="Cairo" pitchFamily="34" charset="0"/>
                <a:ea typeface="Cairo" pitchFamily="34" charset="-122"/>
                <a:cs typeface="Cairo" pitchFamily="34" charset="-120"/>
              </a:rPr>
              <a:t>أدوار وظيفية</a:t>
            </a:r>
            <a:endParaRPr lang="en-US" sz="1300" dirty="0"/>
          </a:p>
        </p:txBody>
      </p:sp>
      <p:sp>
        <p:nvSpPr>
          <p:cNvPr id="21" name="Text 19"/>
          <p:cNvSpPr/>
          <p:nvPr/>
        </p:nvSpPr>
        <p:spPr>
          <a:xfrm>
            <a:off x="640080" y="3657600"/>
            <a:ext cx="3931920" cy="594360"/>
          </a:xfrm>
          <a:prstGeom prst="rect">
            <a:avLst/>
          </a:prstGeom>
          <a:noFill/>
          <a:ln/>
        </p:spPr>
        <p:txBody>
          <a:bodyPr wrap="square" lIns="0" tIns="0" rIns="0" bIns="0" rtlCol="0" anchor="ctr"/>
          <a:lstStyle/>
          <a:p>
            <a:pPr algn="ctr" indent="0" marL="0">
              <a:buNone/>
            </a:pPr>
            <a:r>
              <a:rPr lang="en-US" sz="4400" b="1" dirty="0">
                <a:solidFill>
                  <a:srgbClr val="E8A33D"/>
                </a:solidFill>
                <a:latin typeface="Cairo" pitchFamily="34" charset="0"/>
                <a:ea typeface="Cairo" pitchFamily="34" charset="-122"/>
                <a:cs typeface="Cairo" pitchFamily="34" charset="-120"/>
              </a:rPr>
              <a:t>7</a:t>
            </a:r>
            <a:endParaRPr lang="en-US" sz="4400" dirty="0"/>
          </a:p>
        </p:txBody>
      </p:sp>
      <p:sp>
        <p:nvSpPr>
          <p:cNvPr id="22" name="Text 20"/>
          <p:cNvSpPr/>
          <p:nvPr/>
        </p:nvSpPr>
        <p:spPr>
          <a:xfrm>
            <a:off x="640080" y="4251960"/>
            <a:ext cx="3931920" cy="320040"/>
          </a:xfrm>
          <a:prstGeom prst="rect">
            <a:avLst/>
          </a:prstGeom>
          <a:noFill/>
          <a:ln/>
        </p:spPr>
        <p:txBody>
          <a:bodyPr wrap="square" lIns="0" tIns="0" rIns="0" bIns="0" rtlCol="0" anchor="ctr"/>
          <a:lstStyle/>
          <a:p>
            <a:pPr rtl="1" algn="ctr" indent="0" marL="0">
              <a:buNone/>
            </a:pPr>
            <a:r>
              <a:rPr lang="en-US" sz="1300" dirty="0">
                <a:solidFill>
                  <a:srgbClr val="E2E8F0"/>
                </a:solidFill>
                <a:latin typeface="Cairo" pitchFamily="34" charset="0"/>
                <a:ea typeface="Cairo" pitchFamily="34" charset="-122"/>
                <a:cs typeface="Cairo" pitchFamily="34" charset="-120"/>
              </a:rPr>
              <a:t>مراحل سير عمل</a:t>
            </a:r>
            <a:endParaRPr lang="en-US" sz="1300" dirty="0"/>
          </a:p>
        </p:txBody>
      </p:sp>
      <p:sp>
        <p:nvSpPr>
          <p:cNvPr id="23" name="Text 21"/>
          <p:cNvSpPr/>
          <p:nvPr/>
        </p:nvSpPr>
        <p:spPr>
          <a:xfrm>
            <a:off x="640080" y="4709160"/>
            <a:ext cx="3931920" cy="594360"/>
          </a:xfrm>
          <a:prstGeom prst="rect">
            <a:avLst/>
          </a:prstGeom>
          <a:noFill/>
          <a:ln/>
        </p:spPr>
        <p:txBody>
          <a:bodyPr wrap="square" lIns="0" tIns="0" rIns="0" bIns="0" rtlCol="0" anchor="ctr"/>
          <a:lstStyle/>
          <a:p>
            <a:pPr algn="ctr" indent="0" marL="0">
              <a:buNone/>
            </a:pPr>
            <a:r>
              <a:rPr lang="en-US" sz="4400" b="1" dirty="0">
                <a:solidFill>
                  <a:srgbClr val="E8A33D"/>
                </a:solidFill>
                <a:latin typeface="Cairo" pitchFamily="34" charset="0"/>
                <a:ea typeface="Cairo" pitchFamily="34" charset="-122"/>
                <a:cs typeface="Cairo" pitchFamily="34" charset="-120"/>
              </a:rPr>
              <a:t>100%</a:t>
            </a:r>
            <a:endParaRPr lang="en-US" sz="4400" dirty="0"/>
          </a:p>
        </p:txBody>
      </p:sp>
      <p:sp>
        <p:nvSpPr>
          <p:cNvPr id="24" name="Text 22"/>
          <p:cNvSpPr/>
          <p:nvPr/>
        </p:nvSpPr>
        <p:spPr>
          <a:xfrm>
            <a:off x="640080" y="5303520"/>
            <a:ext cx="3931920" cy="320040"/>
          </a:xfrm>
          <a:prstGeom prst="rect">
            <a:avLst/>
          </a:prstGeom>
          <a:noFill/>
          <a:ln/>
        </p:spPr>
        <p:txBody>
          <a:bodyPr wrap="square" lIns="0" tIns="0" rIns="0" bIns="0" rtlCol="0" anchor="ctr"/>
          <a:lstStyle/>
          <a:p>
            <a:pPr rtl="1" algn="ctr" indent="0" marL="0">
              <a:buNone/>
            </a:pPr>
            <a:r>
              <a:rPr lang="en-US" sz="1300" dirty="0">
                <a:solidFill>
                  <a:srgbClr val="E2E8F0"/>
                </a:solidFill>
                <a:latin typeface="Cairo" pitchFamily="34" charset="0"/>
                <a:ea typeface="Cairo" pitchFamily="34" charset="-122"/>
                <a:cs typeface="Cairo" pitchFamily="34" charset="-120"/>
              </a:rPr>
              <a:t>تحكم بالصلاحيات</a:t>
            </a:r>
            <a:endParaRPr lang="en-US" sz="1300" dirty="0"/>
          </a:p>
        </p:txBody>
      </p:sp>
      <p:sp>
        <p:nvSpPr>
          <p:cNvPr id="25" name="Text 23"/>
          <p:cNvSpPr/>
          <p:nvPr/>
        </p:nvSpPr>
        <p:spPr>
          <a:xfrm>
            <a:off x="457200" y="6492240"/>
            <a:ext cx="5486400" cy="274320"/>
          </a:xfrm>
          <a:prstGeom prst="rect">
            <a:avLst/>
          </a:prstGeom>
          <a:noFill/>
          <a:ln/>
        </p:spPr>
        <p:txBody>
          <a:bodyPr wrap="square" lIns="0" tIns="0" rIns="0" bIns="0" rtlCol="0" anchor="ctr"/>
          <a:lstStyle/>
          <a:p>
            <a:pPr rtl="1" algn="r" indent="0" marL="0">
              <a:buNone/>
            </a:pPr>
            <a:r>
              <a:rPr lang="en-US" sz="900" dirty="0">
                <a:solidFill>
                  <a:srgbClr val="94A3B8"/>
                </a:solidFill>
                <a:latin typeface="Cairo" pitchFamily="34" charset="0"/>
                <a:ea typeface="Cairo" pitchFamily="34" charset="-122"/>
                <a:cs typeface="Cairo" pitchFamily="34" charset="-120"/>
              </a:rPr>
              <a:t>ModernLife — نظام إدارة التصنيع المتكامل</a:t>
            </a:r>
            <a:endParaRPr lang="en-US" sz="900" dirty="0"/>
          </a:p>
        </p:txBody>
      </p:sp>
      <p:sp>
        <p:nvSpPr>
          <p:cNvPr id="26" name="Text 24"/>
          <p:cNvSpPr/>
          <p:nvPr/>
        </p:nvSpPr>
        <p:spPr>
          <a:xfrm>
            <a:off x="11155680" y="6492240"/>
            <a:ext cx="822960" cy="274320"/>
          </a:xfrm>
          <a:prstGeom prst="rect">
            <a:avLst/>
          </a:prstGeom>
          <a:noFill/>
          <a:ln/>
        </p:spPr>
        <p:txBody>
          <a:bodyPr wrap="square" lIns="0" tIns="0" rIns="0" bIns="0" rtlCol="0" anchor="ctr"/>
          <a:lstStyle/>
          <a:p>
            <a:pPr algn="l" indent="0" marL="0">
              <a:buNone/>
            </a:pPr>
            <a:r>
              <a:rPr lang="en-US" sz="900" dirty="0">
                <a:solidFill>
                  <a:srgbClr val="94A3B8"/>
                </a:solidFill>
                <a:latin typeface="Cairo" pitchFamily="34" charset="0"/>
                <a:ea typeface="Cairo" pitchFamily="34" charset="-122"/>
                <a:cs typeface="Cairo" pitchFamily="34" charset="-120"/>
              </a:rPr>
              <a:t>3 / 12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457200" y="457200"/>
            <a:ext cx="11247120" cy="365760"/>
          </a:xfrm>
          <a:prstGeom prst="rect">
            <a:avLst/>
          </a:prstGeom>
          <a:noFill/>
          <a:ln/>
        </p:spPr>
        <p:txBody>
          <a:bodyPr wrap="square" lIns="0" tIns="0" rIns="0" bIns="0" rtlCol="0" anchor="ctr"/>
          <a:lstStyle/>
          <a:p>
            <a:pPr rtl="1" algn="r" indent="0" marL="0">
              <a:buNone/>
            </a:pPr>
            <a:r>
              <a:rPr lang="en-US" sz="1300" b="1" dirty="0">
                <a:solidFill>
                  <a:srgbClr val="E8A33D"/>
                </a:solidFill>
                <a:latin typeface="Cairo" pitchFamily="34" charset="0"/>
                <a:ea typeface="Cairo" pitchFamily="34" charset="-122"/>
                <a:cs typeface="Cairo" pitchFamily="34" charset="-120"/>
              </a:rPr>
              <a:t>02 — التحديات</a:t>
            </a:r>
            <a:endParaRPr lang="en-US" sz="1300" dirty="0"/>
          </a:p>
        </p:txBody>
      </p:sp>
      <p:sp>
        <p:nvSpPr>
          <p:cNvPr id="3" name="Text 1"/>
          <p:cNvSpPr/>
          <p:nvPr/>
        </p:nvSpPr>
        <p:spPr>
          <a:xfrm>
            <a:off x="457200" y="822960"/>
            <a:ext cx="11247120" cy="731520"/>
          </a:xfrm>
          <a:prstGeom prst="rect">
            <a:avLst/>
          </a:prstGeom>
          <a:noFill/>
          <a:ln/>
        </p:spPr>
        <p:txBody>
          <a:bodyPr wrap="square" lIns="0" tIns="0" rIns="0" bIns="0" rtlCol="0" anchor="ctr"/>
          <a:lstStyle/>
          <a:p>
            <a:pPr rtl="1" algn="r" indent="0" marL="0">
              <a:buNone/>
            </a:pPr>
            <a:r>
              <a:rPr lang="en-US" sz="3400" b="1" dirty="0">
                <a:solidFill>
                  <a:srgbClr val="0F2A47"/>
                </a:solidFill>
                <a:latin typeface="Cairo" pitchFamily="34" charset="0"/>
                <a:ea typeface="Cairo" pitchFamily="34" charset="-122"/>
                <a:cs typeface="Cairo" pitchFamily="34" charset="-120"/>
              </a:rPr>
              <a:t>التحديات التي يحلها النظام</a:t>
            </a:r>
            <a:endParaRPr lang="en-US" sz="3400" dirty="0"/>
          </a:p>
        </p:txBody>
      </p:sp>
      <p:sp>
        <p:nvSpPr>
          <p:cNvPr id="4" name="Text 2"/>
          <p:cNvSpPr/>
          <p:nvPr/>
        </p:nvSpPr>
        <p:spPr>
          <a:xfrm>
            <a:off x="457200" y="1600200"/>
            <a:ext cx="11247120" cy="365760"/>
          </a:xfrm>
          <a:prstGeom prst="rect">
            <a:avLst/>
          </a:prstGeom>
          <a:noFill/>
          <a:ln/>
        </p:spPr>
        <p:txBody>
          <a:bodyPr wrap="square" lIns="0" tIns="0" rIns="0" bIns="0" rtlCol="0" anchor="ctr"/>
          <a:lstStyle/>
          <a:p>
            <a:pPr rtl="1" algn="r" indent="0" marL="0">
              <a:buNone/>
            </a:pPr>
            <a:r>
              <a:rPr lang="en-US" sz="1600" i="1" dirty="0">
                <a:solidFill>
                  <a:srgbClr val="475569"/>
                </a:solidFill>
                <a:latin typeface="Cairo" pitchFamily="34" charset="0"/>
                <a:ea typeface="Cairo" pitchFamily="34" charset="-122"/>
                <a:cs typeface="Cairo" pitchFamily="34" charset="-120"/>
              </a:rPr>
              <a:t>مشاكل شائعة في إدارة الإنتاج التقليدية</a:t>
            </a:r>
            <a:endParaRPr lang="en-US" sz="1600" dirty="0"/>
          </a:p>
        </p:txBody>
      </p:sp>
      <p:sp>
        <p:nvSpPr>
          <p:cNvPr id="5" name="Shape 3"/>
          <p:cNvSpPr/>
          <p:nvPr/>
        </p:nvSpPr>
        <p:spPr>
          <a:xfrm>
            <a:off x="6355080" y="2194560"/>
            <a:ext cx="5349240" cy="960120"/>
          </a:xfrm>
          <a:prstGeom prst="rect">
            <a:avLst/>
          </a:prstGeom>
          <a:solidFill>
            <a:srgbClr val="FFFFFF"/>
          </a:solidFill>
          <a:ln w="6350">
            <a:solidFill>
              <a:srgbClr val="E2E8F0"/>
            </a:solidFill>
            <a:prstDash val="solid"/>
          </a:ln>
        </p:spPr>
      </p:sp>
      <p:sp>
        <p:nvSpPr>
          <p:cNvPr id="6" name="Shape 4"/>
          <p:cNvSpPr/>
          <p:nvPr/>
        </p:nvSpPr>
        <p:spPr>
          <a:xfrm>
            <a:off x="11631168" y="2194560"/>
            <a:ext cx="73152" cy="960120"/>
          </a:xfrm>
          <a:prstGeom prst="rect">
            <a:avLst/>
          </a:prstGeom>
          <a:solidFill>
            <a:srgbClr val="EF4444"/>
          </a:solidFill>
          <a:ln/>
        </p:spPr>
      </p:sp>
      <p:sp>
        <p:nvSpPr>
          <p:cNvPr id="7" name="Text 5"/>
          <p:cNvSpPr/>
          <p:nvPr/>
        </p:nvSpPr>
        <p:spPr>
          <a:xfrm>
            <a:off x="6537960" y="2286000"/>
            <a:ext cx="4937760" cy="274320"/>
          </a:xfrm>
          <a:prstGeom prst="rect">
            <a:avLst/>
          </a:prstGeom>
          <a:noFill/>
          <a:ln/>
        </p:spPr>
        <p:txBody>
          <a:bodyPr wrap="square" lIns="0" tIns="0" rIns="0" bIns="0" rtlCol="0" anchor="ctr"/>
          <a:lstStyle/>
          <a:p>
            <a:pPr rtl="1" algn="r" indent="0" marL="0">
              <a:buNone/>
            </a:pPr>
            <a:r>
              <a:rPr lang="en-US" sz="1000" b="1" dirty="0">
                <a:solidFill>
                  <a:srgbClr val="EF4444"/>
                </a:solidFill>
                <a:latin typeface="Cairo" pitchFamily="34" charset="0"/>
                <a:ea typeface="Cairo" pitchFamily="34" charset="-122"/>
                <a:cs typeface="Cairo" pitchFamily="34" charset="-120"/>
              </a:rPr>
              <a:t>التحدي</a:t>
            </a:r>
            <a:endParaRPr lang="en-US" sz="1000" dirty="0"/>
          </a:p>
        </p:txBody>
      </p:sp>
      <p:sp>
        <p:nvSpPr>
          <p:cNvPr id="8" name="Text 6"/>
          <p:cNvSpPr/>
          <p:nvPr/>
        </p:nvSpPr>
        <p:spPr>
          <a:xfrm>
            <a:off x="6537960" y="2560320"/>
            <a:ext cx="4937760" cy="502920"/>
          </a:xfrm>
          <a:prstGeom prst="rect">
            <a:avLst/>
          </a:prstGeom>
          <a:noFill/>
          <a:ln/>
        </p:spPr>
        <p:txBody>
          <a:bodyPr wrap="square" lIns="0" tIns="0" rIns="0" bIns="0" rtlCol="0" anchor="ctr"/>
          <a:lstStyle/>
          <a:p>
            <a:pPr rtl="1" algn="r" indent="0" marL="0">
              <a:buNone/>
            </a:pPr>
            <a:r>
              <a:rPr lang="en-US" sz="1600" b="1" dirty="0">
                <a:solidFill>
                  <a:srgbClr val="1E293B"/>
                </a:solidFill>
                <a:latin typeface="Cairo" pitchFamily="34" charset="0"/>
                <a:ea typeface="Cairo" pitchFamily="34" charset="-122"/>
                <a:cs typeface="Cairo" pitchFamily="34" charset="-120"/>
              </a:rPr>
              <a:t>فقدان الطلبات بين الأقسام</a:t>
            </a:r>
            <a:endParaRPr lang="en-US" sz="1600" dirty="0"/>
          </a:p>
        </p:txBody>
      </p:sp>
      <p:sp>
        <p:nvSpPr>
          <p:cNvPr id="9" name="Text 7"/>
          <p:cNvSpPr/>
          <p:nvPr/>
        </p:nvSpPr>
        <p:spPr>
          <a:xfrm>
            <a:off x="5897880" y="2468880"/>
            <a:ext cx="411480" cy="411480"/>
          </a:xfrm>
          <a:prstGeom prst="rect">
            <a:avLst/>
          </a:prstGeom>
          <a:noFill/>
          <a:ln/>
        </p:spPr>
        <p:txBody>
          <a:bodyPr wrap="square" lIns="0" tIns="0" rIns="0" bIns="0" rtlCol="0" anchor="ctr"/>
          <a:lstStyle/>
          <a:p>
            <a:pPr algn="ctr" indent="0" marL="0">
              <a:buNone/>
            </a:pPr>
            <a:r>
              <a:rPr lang="en-US" sz="2200" dirty="0">
                <a:solidFill>
                  <a:srgbClr val="E8A33D"/>
                </a:solidFill>
                <a:latin typeface="Arial" pitchFamily="34" charset="0"/>
                <a:ea typeface="Arial" pitchFamily="34" charset="-122"/>
                <a:cs typeface="Arial" pitchFamily="34" charset="-120"/>
              </a:rPr>
              <a:t>◄</a:t>
            </a:r>
            <a:endParaRPr lang="en-US" sz="2200" dirty="0"/>
          </a:p>
        </p:txBody>
      </p:sp>
      <p:sp>
        <p:nvSpPr>
          <p:cNvPr id="10" name="Shape 8"/>
          <p:cNvSpPr/>
          <p:nvPr/>
        </p:nvSpPr>
        <p:spPr>
          <a:xfrm>
            <a:off x="457200" y="2194560"/>
            <a:ext cx="5349240" cy="960120"/>
          </a:xfrm>
          <a:prstGeom prst="rect">
            <a:avLst/>
          </a:prstGeom>
          <a:solidFill>
            <a:srgbClr val="0F2A47"/>
          </a:solidFill>
          <a:ln/>
        </p:spPr>
      </p:sp>
      <p:sp>
        <p:nvSpPr>
          <p:cNvPr id="11" name="Shape 9"/>
          <p:cNvSpPr/>
          <p:nvPr/>
        </p:nvSpPr>
        <p:spPr>
          <a:xfrm>
            <a:off x="457200" y="2194560"/>
            <a:ext cx="73152" cy="960120"/>
          </a:xfrm>
          <a:prstGeom prst="rect">
            <a:avLst/>
          </a:prstGeom>
          <a:solidFill>
            <a:srgbClr val="E8A33D"/>
          </a:solidFill>
          <a:ln/>
        </p:spPr>
      </p:sp>
      <p:sp>
        <p:nvSpPr>
          <p:cNvPr id="12" name="Text 10"/>
          <p:cNvSpPr/>
          <p:nvPr/>
        </p:nvSpPr>
        <p:spPr>
          <a:xfrm>
            <a:off x="685800" y="2286000"/>
            <a:ext cx="4937760" cy="274320"/>
          </a:xfrm>
          <a:prstGeom prst="rect">
            <a:avLst/>
          </a:prstGeom>
          <a:noFill/>
          <a:ln/>
        </p:spPr>
        <p:txBody>
          <a:bodyPr wrap="square" lIns="0" tIns="0" rIns="0" bIns="0" rtlCol="0" anchor="ctr"/>
          <a:lstStyle/>
          <a:p>
            <a:pPr rtl="1" algn="r" indent="0" marL="0">
              <a:buNone/>
            </a:pPr>
            <a:r>
              <a:rPr lang="en-US" sz="1000" b="1" dirty="0">
                <a:solidFill>
                  <a:srgbClr val="F4C77B"/>
                </a:solidFill>
                <a:latin typeface="Cairo" pitchFamily="34" charset="0"/>
                <a:ea typeface="Cairo" pitchFamily="34" charset="-122"/>
                <a:cs typeface="Cairo" pitchFamily="34" charset="-120"/>
              </a:rPr>
              <a:t>الحل من ModernLife</a:t>
            </a:r>
            <a:endParaRPr lang="en-US" sz="1000" dirty="0"/>
          </a:p>
        </p:txBody>
      </p:sp>
      <p:sp>
        <p:nvSpPr>
          <p:cNvPr id="13" name="Text 11"/>
          <p:cNvSpPr/>
          <p:nvPr/>
        </p:nvSpPr>
        <p:spPr>
          <a:xfrm>
            <a:off x="685800" y="2560320"/>
            <a:ext cx="4937760" cy="502920"/>
          </a:xfrm>
          <a:prstGeom prst="rect">
            <a:avLst/>
          </a:prstGeom>
          <a:noFill/>
          <a:ln/>
        </p:spPr>
        <p:txBody>
          <a:bodyPr wrap="square" lIns="0" tIns="0" rIns="0" bIns="0" rtlCol="0" anchor="ctr"/>
          <a:lstStyle/>
          <a:p>
            <a:pPr rtl="1" algn="r" indent="0" marL="0">
              <a:buNone/>
            </a:pPr>
            <a:r>
              <a:rPr lang="en-US" sz="1500" b="1" dirty="0">
                <a:solidFill>
                  <a:srgbClr val="FFFFFF"/>
                </a:solidFill>
                <a:latin typeface="Cairo" pitchFamily="34" charset="0"/>
                <a:ea typeface="Cairo" pitchFamily="34" charset="-122"/>
                <a:cs typeface="Cairo" pitchFamily="34" charset="-120"/>
              </a:rPr>
              <a:t>تتبع رقمي كامل لكل طلب من البداية للنهاية</a:t>
            </a:r>
            <a:endParaRPr lang="en-US" sz="1500" dirty="0"/>
          </a:p>
        </p:txBody>
      </p:sp>
      <p:sp>
        <p:nvSpPr>
          <p:cNvPr id="14" name="Shape 12"/>
          <p:cNvSpPr/>
          <p:nvPr/>
        </p:nvSpPr>
        <p:spPr>
          <a:xfrm>
            <a:off x="6355080" y="3291840"/>
            <a:ext cx="5349240" cy="960120"/>
          </a:xfrm>
          <a:prstGeom prst="rect">
            <a:avLst/>
          </a:prstGeom>
          <a:solidFill>
            <a:srgbClr val="FFFFFF"/>
          </a:solidFill>
          <a:ln w="6350">
            <a:solidFill>
              <a:srgbClr val="E2E8F0"/>
            </a:solidFill>
            <a:prstDash val="solid"/>
          </a:ln>
        </p:spPr>
      </p:sp>
      <p:sp>
        <p:nvSpPr>
          <p:cNvPr id="15" name="Shape 13"/>
          <p:cNvSpPr/>
          <p:nvPr/>
        </p:nvSpPr>
        <p:spPr>
          <a:xfrm>
            <a:off x="11631168" y="3291840"/>
            <a:ext cx="73152" cy="960120"/>
          </a:xfrm>
          <a:prstGeom prst="rect">
            <a:avLst/>
          </a:prstGeom>
          <a:solidFill>
            <a:srgbClr val="EF4444"/>
          </a:solidFill>
          <a:ln/>
        </p:spPr>
      </p:sp>
      <p:sp>
        <p:nvSpPr>
          <p:cNvPr id="16" name="Text 14"/>
          <p:cNvSpPr/>
          <p:nvPr/>
        </p:nvSpPr>
        <p:spPr>
          <a:xfrm>
            <a:off x="6537960" y="3383280"/>
            <a:ext cx="4937760" cy="274320"/>
          </a:xfrm>
          <a:prstGeom prst="rect">
            <a:avLst/>
          </a:prstGeom>
          <a:noFill/>
          <a:ln/>
        </p:spPr>
        <p:txBody>
          <a:bodyPr wrap="square" lIns="0" tIns="0" rIns="0" bIns="0" rtlCol="0" anchor="ctr"/>
          <a:lstStyle/>
          <a:p>
            <a:pPr rtl="1" algn="r" indent="0" marL="0">
              <a:buNone/>
            </a:pPr>
            <a:r>
              <a:rPr lang="en-US" sz="1000" b="1" dirty="0">
                <a:solidFill>
                  <a:srgbClr val="EF4444"/>
                </a:solidFill>
                <a:latin typeface="Cairo" pitchFamily="34" charset="0"/>
                <a:ea typeface="Cairo" pitchFamily="34" charset="-122"/>
                <a:cs typeface="Cairo" pitchFamily="34" charset="-120"/>
              </a:rPr>
              <a:t>التحدي</a:t>
            </a:r>
            <a:endParaRPr lang="en-US" sz="1000" dirty="0"/>
          </a:p>
        </p:txBody>
      </p:sp>
      <p:sp>
        <p:nvSpPr>
          <p:cNvPr id="17" name="Text 15"/>
          <p:cNvSpPr/>
          <p:nvPr/>
        </p:nvSpPr>
        <p:spPr>
          <a:xfrm>
            <a:off x="6537960" y="3657600"/>
            <a:ext cx="4937760" cy="502920"/>
          </a:xfrm>
          <a:prstGeom prst="rect">
            <a:avLst/>
          </a:prstGeom>
          <a:noFill/>
          <a:ln/>
        </p:spPr>
        <p:txBody>
          <a:bodyPr wrap="square" lIns="0" tIns="0" rIns="0" bIns="0" rtlCol="0" anchor="ctr"/>
          <a:lstStyle/>
          <a:p>
            <a:pPr rtl="1" algn="r" indent="0" marL="0">
              <a:buNone/>
            </a:pPr>
            <a:r>
              <a:rPr lang="en-US" sz="1600" b="1" dirty="0">
                <a:solidFill>
                  <a:srgbClr val="1E293B"/>
                </a:solidFill>
                <a:latin typeface="Cairo" pitchFamily="34" charset="0"/>
                <a:ea typeface="Cairo" pitchFamily="34" charset="-122"/>
                <a:cs typeface="Cairo" pitchFamily="34" charset="-120"/>
              </a:rPr>
              <a:t>اتصالات يدوية عبر الورق والواتساب</a:t>
            </a:r>
            <a:endParaRPr lang="en-US" sz="1600" dirty="0"/>
          </a:p>
        </p:txBody>
      </p:sp>
      <p:sp>
        <p:nvSpPr>
          <p:cNvPr id="18" name="Text 16"/>
          <p:cNvSpPr/>
          <p:nvPr/>
        </p:nvSpPr>
        <p:spPr>
          <a:xfrm>
            <a:off x="5897880" y="3566160"/>
            <a:ext cx="411480" cy="411480"/>
          </a:xfrm>
          <a:prstGeom prst="rect">
            <a:avLst/>
          </a:prstGeom>
          <a:noFill/>
          <a:ln/>
        </p:spPr>
        <p:txBody>
          <a:bodyPr wrap="square" lIns="0" tIns="0" rIns="0" bIns="0" rtlCol="0" anchor="ctr"/>
          <a:lstStyle/>
          <a:p>
            <a:pPr algn="ctr" indent="0" marL="0">
              <a:buNone/>
            </a:pPr>
            <a:r>
              <a:rPr lang="en-US" sz="2200" dirty="0">
                <a:solidFill>
                  <a:srgbClr val="E8A33D"/>
                </a:solidFill>
                <a:latin typeface="Arial" pitchFamily="34" charset="0"/>
                <a:ea typeface="Arial" pitchFamily="34" charset="-122"/>
                <a:cs typeface="Arial" pitchFamily="34" charset="-120"/>
              </a:rPr>
              <a:t>◄</a:t>
            </a:r>
            <a:endParaRPr lang="en-US" sz="2200" dirty="0"/>
          </a:p>
        </p:txBody>
      </p:sp>
      <p:sp>
        <p:nvSpPr>
          <p:cNvPr id="19" name="Shape 17"/>
          <p:cNvSpPr/>
          <p:nvPr/>
        </p:nvSpPr>
        <p:spPr>
          <a:xfrm>
            <a:off x="457200" y="3291840"/>
            <a:ext cx="5349240" cy="960120"/>
          </a:xfrm>
          <a:prstGeom prst="rect">
            <a:avLst/>
          </a:prstGeom>
          <a:solidFill>
            <a:srgbClr val="0F2A47"/>
          </a:solidFill>
          <a:ln/>
        </p:spPr>
      </p:sp>
      <p:sp>
        <p:nvSpPr>
          <p:cNvPr id="20" name="Shape 18"/>
          <p:cNvSpPr/>
          <p:nvPr/>
        </p:nvSpPr>
        <p:spPr>
          <a:xfrm>
            <a:off x="457200" y="3291840"/>
            <a:ext cx="73152" cy="960120"/>
          </a:xfrm>
          <a:prstGeom prst="rect">
            <a:avLst/>
          </a:prstGeom>
          <a:solidFill>
            <a:srgbClr val="E8A33D"/>
          </a:solidFill>
          <a:ln/>
        </p:spPr>
      </p:sp>
      <p:sp>
        <p:nvSpPr>
          <p:cNvPr id="21" name="Text 19"/>
          <p:cNvSpPr/>
          <p:nvPr/>
        </p:nvSpPr>
        <p:spPr>
          <a:xfrm>
            <a:off x="685800" y="3383280"/>
            <a:ext cx="4937760" cy="274320"/>
          </a:xfrm>
          <a:prstGeom prst="rect">
            <a:avLst/>
          </a:prstGeom>
          <a:noFill/>
          <a:ln/>
        </p:spPr>
        <p:txBody>
          <a:bodyPr wrap="square" lIns="0" tIns="0" rIns="0" bIns="0" rtlCol="0" anchor="ctr"/>
          <a:lstStyle/>
          <a:p>
            <a:pPr rtl="1" algn="r" indent="0" marL="0">
              <a:buNone/>
            </a:pPr>
            <a:r>
              <a:rPr lang="en-US" sz="1000" b="1" dirty="0">
                <a:solidFill>
                  <a:srgbClr val="F4C77B"/>
                </a:solidFill>
                <a:latin typeface="Cairo" pitchFamily="34" charset="0"/>
                <a:ea typeface="Cairo" pitchFamily="34" charset="-122"/>
                <a:cs typeface="Cairo" pitchFamily="34" charset="-120"/>
              </a:rPr>
              <a:t>الحل من ModernLife</a:t>
            </a:r>
            <a:endParaRPr lang="en-US" sz="1000" dirty="0"/>
          </a:p>
        </p:txBody>
      </p:sp>
      <p:sp>
        <p:nvSpPr>
          <p:cNvPr id="22" name="Text 20"/>
          <p:cNvSpPr/>
          <p:nvPr/>
        </p:nvSpPr>
        <p:spPr>
          <a:xfrm>
            <a:off x="685800" y="3657600"/>
            <a:ext cx="4937760" cy="502920"/>
          </a:xfrm>
          <a:prstGeom prst="rect">
            <a:avLst/>
          </a:prstGeom>
          <a:noFill/>
          <a:ln/>
        </p:spPr>
        <p:txBody>
          <a:bodyPr wrap="square" lIns="0" tIns="0" rIns="0" bIns="0" rtlCol="0" anchor="ctr"/>
          <a:lstStyle/>
          <a:p>
            <a:pPr rtl="1" algn="r" indent="0" marL="0">
              <a:buNone/>
            </a:pPr>
            <a:r>
              <a:rPr lang="en-US" sz="1500" b="1" dirty="0">
                <a:solidFill>
                  <a:srgbClr val="FFFFFF"/>
                </a:solidFill>
                <a:latin typeface="Cairo" pitchFamily="34" charset="0"/>
                <a:ea typeface="Cairo" pitchFamily="34" charset="-122"/>
                <a:cs typeface="Cairo" pitchFamily="34" charset="-120"/>
              </a:rPr>
              <a:t>إشعارات فورية تلقائية لكل تحديث في الطلب</a:t>
            </a:r>
            <a:endParaRPr lang="en-US" sz="1500" dirty="0"/>
          </a:p>
        </p:txBody>
      </p:sp>
      <p:sp>
        <p:nvSpPr>
          <p:cNvPr id="23" name="Shape 21"/>
          <p:cNvSpPr/>
          <p:nvPr/>
        </p:nvSpPr>
        <p:spPr>
          <a:xfrm>
            <a:off x="6355080" y="4389120"/>
            <a:ext cx="5349240" cy="960120"/>
          </a:xfrm>
          <a:prstGeom prst="rect">
            <a:avLst/>
          </a:prstGeom>
          <a:solidFill>
            <a:srgbClr val="FFFFFF"/>
          </a:solidFill>
          <a:ln w="6350">
            <a:solidFill>
              <a:srgbClr val="E2E8F0"/>
            </a:solidFill>
            <a:prstDash val="solid"/>
          </a:ln>
        </p:spPr>
      </p:sp>
      <p:sp>
        <p:nvSpPr>
          <p:cNvPr id="24" name="Shape 22"/>
          <p:cNvSpPr/>
          <p:nvPr/>
        </p:nvSpPr>
        <p:spPr>
          <a:xfrm>
            <a:off x="11631168" y="4389120"/>
            <a:ext cx="73152" cy="960120"/>
          </a:xfrm>
          <a:prstGeom prst="rect">
            <a:avLst/>
          </a:prstGeom>
          <a:solidFill>
            <a:srgbClr val="EF4444"/>
          </a:solidFill>
          <a:ln/>
        </p:spPr>
      </p:sp>
      <p:sp>
        <p:nvSpPr>
          <p:cNvPr id="25" name="Text 23"/>
          <p:cNvSpPr/>
          <p:nvPr/>
        </p:nvSpPr>
        <p:spPr>
          <a:xfrm>
            <a:off x="6537960" y="4480560"/>
            <a:ext cx="4937760" cy="274320"/>
          </a:xfrm>
          <a:prstGeom prst="rect">
            <a:avLst/>
          </a:prstGeom>
          <a:noFill/>
          <a:ln/>
        </p:spPr>
        <p:txBody>
          <a:bodyPr wrap="square" lIns="0" tIns="0" rIns="0" bIns="0" rtlCol="0" anchor="ctr"/>
          <a:lstStyle/>
          <a:p>
            <a:pPr rtl="1" algn="r" indent="0" marL="0">
              <a:buNone/>
            </a:pPr>
            <a:r>
              <a:rPr lang="en-US" sz="1000" b="1" dirty="0">
                <a:solidFill>
                  <a:srgbClr val="EF4444"/>
                </a:solidFill>
                <a:latin typeface="Cairo" pitchFamily="34" charset="0"/>
                <a:ea typeface="Cairo" pitchFamily="34" charset="-122"/>
                <a:cs typeface="Cairo" pitchFamily="34" charset="-120"/>
              </a:rPr>
              <a:t>التحدي</a:t>
            </a:r>
            <a:endParaRPr lang="en-US" sz="1000" dirty="0"/>
          </a:p>
        </p:txBody>
      </p:sp>
      <p:sp>
        <p:nvSpPr>
          <p:cNvPr id="26" name="Text 24"/>
          <p:cNvSpPr/>
          <p:nvPr/>
        </p:nvSpPr>
        <p:spPr>
          <a:xfrm>
            <a:off x="6537960" y="4754880"/>
            <a:ext cx="4937760" cy="502920"/>
          </a:xfrm>
          <a:prstGeom prst="rect">
            <a:avLst/>
          </a:prstGeom>
          <a:noFill/>
          <a:ln/>
        </p:spPr>
        <p:txBody>
          <a:bodyPr wrap="square" lIns="0" tIns="0" rIns="0" bIns="0" rtlCol="0" anchor="ctr"/>
          <a:lstStyle/>
          <a:p>
            <a:pPr rtl="1" algn="r" indent="0" marL="0">
              <a:buNone/>
            </a:pPr>
            <a:r>
              <a:rPr lang="en-US" sz="1600" b="1" dirty="0">
                <a:solidFill>
                  <a:srgbClr val="1E293B"/>
                </a:solidFill>
                <a:latin typeface="Cairo" pitchFamily="34" charset="0"/>
                <a:ea typeface="Cairo" pitchFamily="34" charset="-122"/>
                <a:cs typeface="Cairo" pitchFamily="34" charset="-120"/>
              </a:rPr>
              <a:t>صعوبة تحديد المسؤول عن كل خطوة</a:t>
            </a:r>
            <a:endParaRPr lang="en-US" sz="1600" dirty="0"/>
          </a:p>
        </p:txBody>
      </p:sp>
      <p:sp>
        <p:nvSpPr>
          <p:cNvPr id="27" name="Text 25"/>
          <p:cNvSpPr/>
          <p:nvPr/>
        </p:nvSpPr>
        <p:spPr>
          <a:xfrm>
            <a:off x="5897880" y="4663440"/>
            <a:ext cx="411480" cy="411480"/>
          </a:xfrm>
          <a:prstGeom prst="rect">
            <a:avLst/>
          </a:prstGeom>
          <a:noFill/>
          <a:ln/>
        </p:spPr>
        <p:txBody>
          <a:bodyPr wrap="square" lIns="0" tIns="0" rIns="0" bIns="0" rtlCol="0" anchor="ctr"/>
          <a:lstStyle/>
          <a:p>
            <a:pPr algn="ctr" indent="0" marL="0">
              <a:buNone/>
            </a:pPr>
            <a:r>
              <a:rPr lang="en-US" sz="2200" dirty="0">
                <a:solidFill>
                  <a:srgbClr val="E8A33D"/>
                </a:solidFill>
                <a:latin typeface="Arial" pitchFamily="34" charset="0"/>
                <a:ea typeface="Arial" pitchFamily="34" charset="-122"/>
                <a:cs typeface="Arial" pitchFamily="34" charset="-120"/>
              </a:rPr>
              <a:t>◄</a:t>
            </a:r>
            <a:endParaRPr lang="en-US" sz="2200" dirty="0"/>
          </a:p>
        </p:txBody>
      </p:sp>
      <p:sp>
        <p:nvSpPr>
          <p:cNvPr id="28" name="Shape 26"/>
          <p:cNvSpPr/>
          <p:nvPr/>
        </p:nvSpPr>
        <p:spPr>
          <a:xfrm>
            <a:off x="457200" y="4389120"/>
            <a:ext cx="5349240" cy="960120"/>
          </a:xfrm>
          <a:prstGeom prst="rect">
            <a:avLst/>
          </a:prstGeom>
          <a:solidFill>
            <a:srgbClr val="0F2A47"/>
          </a:solidFill>
          <a:ln/>
        </p:spPr>
      </p:sp>
      <p:sp>
        <p:nvSpPr>
          <p:cNvPr id="29" name="Shape 27"/>
          <p:cNvSpPr/>
          <p:nvPr/>
        </p:nvSpPr>
        <p:spPr>
          <a:xfrm>
            <a:off x="457200" y="4389120"/>
            <a:ext cx="73152" cy="960120"/>
          </a:xfrm>
          <a:prstGeom prst="rect">
            <a:avLst/>
          </a:prstGeom>
          <a:solidFill>
            <a:srgbClr val="E8A33D"/>
          </a:solidFill>
          <a:ln/>
        </p:spPr>
      </p:sp>
      <p:sp>
        <p:nvSpPr>
          <p:cNvPr id="30" name="Text 28"/>
          <p:cNvSpPr/>
          <p:nvPr/>
        </p:nvSpPr>
        <p:spPr>
          <a:xfrm>
            <a:off x="685800" y="4480560"/>
            <a:ext cx="4937760" cy="274320"/>
          </a:xfrm>
          <a:prstGeom prst="rect">
            <a:avLst/>
          </a:prstGeom>
          <a:noFill/>
          <a:ln/>
        </p:spPr>
        <p:txBody>
          <a:bodyPr wrap="square" lIns="0" tIns="0" rIns="0" bIns="0" rtlCol="0" anchor="ctr"/>
          <a:lstStyle/>
          <a:p>
            <a:pPr rtl="1" algn="r" indent="0" marL="0">
              <a:buNone/>
            </a:pPr>
            <a:r>
              <a:rPr lang="en-US" sz="1000" b="1" dirty="0">
                <a:solidFill>
                  <a:srgbClr val="F4C77B"/>
                </a:solidFill>
                <a:latin typeface="Cairo" pitchFamily="34" charset="0"/>
                <a:ea typeface="Cairo" pitchFamily="34" charset="-122"/>
                <a:cs typeface="Cairo" pitchFamily="34" charset="-120"/>
              </a:rPr>
              <a:t>الحل من ModernLife</a:t>
            </a:r>
            <a:endParaRPr lang="en-US" sz="1000" dirty="0"/>
          </a:p>
        </p:txBody>
      </p:sp>
      <p:sp>
        <p:nvSpPr>
          <p:cNvPr id="31" name="Text 29"/>
          <p:cNvSpPr/>
          <p:nvPr/>
        </p:nvSpPr>
        <p:spPr>
          <a:xfrm>
            <a:off x="685800" y="4754880"/>
            <a:ext cx="4937760" cy="502920"/>
          </a:xfrm>
          <a:prstGeom prst="rect">
            <a:avLst/>
          </a:prstGeom>
          <a:noFill/>
          <a:ln/>
        </p:spPr>
        <p:txBody>
          <a:bodyPr wrap="square" lIns="0" tIns="0" rIns="0" bIns="0" rtlCol="0" anchor="ctr"/>
          <a:lstStyle/>
          <a:p>
            <a:pPr rtl="1" algn="r" indent="0" marL="0">
              <a:buNone/>
            </a:pPr>
            <a:r>
              <a:rPr lang="en-US" sz="1500" b="1" dirty="0">
                <a:solidFill>
                  <a:srgbClr val="FFFFFF"/>
                </a:solidFill>
                <a:latin typeface="Cairo" pitchFamily="34" charset="0"/>
                <a:ea typeface="Cairo" pitchFamily="34" charset="-122"/>
                <a:cs typeface="Cairo" pitchFamily="34" charset="-120"/>
              </a:rPr>
              <a:t>نظام صلاحيات يحدد دور كل موظف بدقة</a:t>
            </a:r>
            <a:endParaRPr lang="en-US" sz="1500" dirty="0"/>
          </a:p>
        </p:txBody>
      </p:sp>
      <p:sp>
        <p:nvSpPr>
          <p:cNvPr id="32" name="Shape 30"/>
          <p:cNvSpPr/>
          <p:nvPr/>
        </p:nvSpPr>
        <p:spPr>
          <a:xfrm>
            <a:off x="6355080" y="5486400"/>
            <a:ext cx="5349240" cy="960120"/>
          </a:xfrm>
          <a:prstGeom prst="rect">
            <a:avLst/>
          </a:prstGeom>
          <a:solidFill>
            <a:srgbClr val="FFFFFF"/>
          </a:solidFill>
          <a:ln w="6350">
            <a:solidFill>
              <a:srgbClr val="E2E8F0"/>
            </a:solidFill>
            <a:prstDash val="solid"/>
          </a:ln>
        </p:spPr>
      </p:sp>
      <p:sp>
        <p:nvSpPr>
          <p:cNvPr id="33" name="Shape 31"/>
          <p:cNvSpPr/>
          <p:nvPr/>
        </p:nvSpPr>
        <p:spPr>
          <a:xfrm>
            <a:off x="11631168" y="5486400"/>
            <a:ext cx="73152" cy="960120"/>
          </a:xfrm>
          <a:prstGeom prst="rect">
            <a:avLst/>
          </a:prstGeom>
          <a:solidFill>
            <a:srgbClr val="EF4444"/>
          </a:solidFill>
          <a:ln/>
        </p:spPr>
      </p:sp>
      <p:sp>
        <p:nvSpPr>
          <p:cNvPr id="34" name="Text 32"/>
          <p:cNvSpPr/>
          <p:nvPr/>
        </p:nvSpPr>
        <p:spPr>
          <a:xfrm>
            <a:off x="6537960" y="5577840"/>
            <a:ext cx="4937760" cy="274320"/>
          </a:xfrm>
          <a:prstGeom prst="rect">
            <a:avLst/>
          </a:prstGeom>
          <a:noFill/>
          <a:ln/>
        </p:spPr>
        <p:txBody>
          <a:bodyPr wrap="square" lIns="0" tIns="0" rIns="0" bIns="0" rtlCol="0" anchor="ctr"/>
          <a:lstStyle/>
          <a:p>
            <a:pPr rtl="1" algn="r" indent="0" marL="0">
              <a:buNone/>
            </a:pPr>
            <a:r>
              <a:rPr lang="en-US" sz="1000" b="1" dirty="0">
                <a:solidFill>
                  <a:srgbClr val="EF4444"/>
                </a:solidFill>
                <a:latin typeface="Cairo" pitchFamily="34" charset="0"/>
                <a:ea typeface="Cairo" pitchFamily="34" charset="-122"/>
                <a:cs typeface="Cairo" pitchFamily="34" charset="-120"/>
              </a:rPr>
              <a:t>التحدي</a:t>
            </a:r>
            <a:endParaRPr lang="en-US" sz="1000" dirty="0"/>
          </a:p>
        </p:txBody>
      </p:sp>
      <p:sp>
        <p:nvSpPr>
          <p:cNvPr id="35" name="Text 33"/>
          <p:cNvSpPr/>
          <p:nvPr/>
        </p:nvSpPr>
        <p:spPr>
          <a:xfrm>
            <a:off x="6537960" y="5852160"/>
            <a:ext cx="4937760" cy="502920"/>
          </a:xfrm>
          <a:prstGeom prst="rect">
            <a:avLst/>
          </a:prstGeom>
          <a:noFill/>
          <a:ln/>
        </p:spPr>
        <p:txBody>
          <a:bodyPr wrap="square" lIns="0" tIns="0" rIns="0" bIns="0" rtlCol="0" anchor="ctr"/>
          <a:lstStyle/>
          <a:p>
            <a:pPr rtl="1" algn="r" indent="0" marL="0">
              <a:buNone/>
            </a:pPr>
            <a:r>
              <a:rPr lang="en-US" sz="1600" b="1" dirty="0">
                <a:solidFill>
                  <a:srgbClr val="1E293B"/>
                </a:solidFill>
                <a:latin typeface="Cairo" pitchFamily="34" charset="0"/>
                <a:ea typeface="Cairo" pitchFamily="34" charset="-122"/>
                <a:cs typeface="Cairo" pitchFamily="34" charset="-120"/>
              </a:rPr>
              <a:t>غياب الرؤية الشاملة لحالة الإنتاج</a:t>
            </a:r>
            <a:endParaRPr lang="en-US" sz="1600" dirty="0"/>
          </a:p>
        </p:txBody>
      </p:sp>
      <p:sp>
        <p:nvSpPr>
          <p:cNvPr id="36" name="Text 34"/>
          <p:cNvSpPr/>
          <p:nvPr/>
        </p:nvSpPr>
        <p:spPr>
          <a:xfrm>
            <a:off x="5897880" y="5760720"/>
            <a:ext cx="411480" cy="411480"/>
          </a:xfrm>
          <a:prstGeom prst="rect">
            <a:avLst/>
          </a:prstGeom>
          <a:noFill/>
          <a:ln/>
        </p:spPr>
        <p:txBody>
          <a:bodyPr wrap="square" lIns="0" tIns="0" rIns="0" bIns="0" rtlCol="0" anchor="ctr"/>
          <a:lstStyle/>
          <a:p>
            <a:pPr algn="ctr" indent="0" marL="0">
              <a:buNone/>
            </a:pPr>
            <a:r>
              <a:rPr lang="en-US" sz="2200" dirty="0">
                <a:solidFill>
                  <a:srgbClr val="E8A33D"/>
                </a:solidFill>
                <a:latin typeface="Arial" pitchFamily="34" charset="0"/>
                <a:ea typeface="Arial" pitchFamily="34" charset="-122"/>
                <a:cs typeface="Arial" pitchFamily="34" charset="-120"/>
              </a:rPr>
              <a:t>◄</a:t>
            </a:r>
            <a:endParaRPr lang="en-US" sz="2200" dirty="0"/>
          </a:p>
        </p:txBody>
      </p:sp>
      <p:sp>
        <p:nvSpPr>
          <p:cNvPr id="37" name="Shape 35"/>
          <p:cNvSpPr/>
          <p:nvPr/>
        </p:nvSpPr>
        <p:spPr>
          <a:xfrm>
            <a:off x="457200" y="5486400"/>
            <a:ext cx="5349240" cy="960120"/>
          </a:xfrm>
          <a:prstGeom prst="rect">
            <a:avLst/>
          </a:prstGeom>
          <a:solidFill>
            <a:srgbClr val="0F2A47"/>
          </a:solidFill>
          <a:ln/>
        </p:spPr>
      </p:sp>
      <p:sp>
        <p:nvSpPr>
          <p:cNvPr id="38" name="Shape 36"/>
          <p:cNvSpPr/>
          <p:nvPr/>
        </p:nvSpPr>
        <p:spPr>
          <a:xfrm>
            <a:off x="457200" y="5486400"/>
            <a:ext cx="73152" cy="960120"/>
          </a:xfrm>
          <a:prstGeom prst="rect">
            <a:avLst/>
          </a:prstGeom>
          <a:solidFill>
            <a:srgbClr val="E8A33D"/>
          </a:solidFill>
          <a:ln/>
        </p:spPr>
      </p:sp>
      <p:sp>
        <p:nvSpPr>
          <p:cNvPr id="39" name="Text 37"/>
          <p:cNvSpPr/>
          <p:nvPr/>
        </p:nvSpPr>
        <p:spPr>
          <a:xfrm>
            <a:off x="685800" y="5577840"/>
            <a:ext cx="4937760" cy="274320"/>
          </a:xfrm>
          <a:prstGeom prst="rect">
            <a:avLst/>
          </a:prstGeom>
          <a:noFill/>
          <a:ln/>
        </p:spPr>
        <p:txBody>
          <a:bodyPr wrap="square" lIns="0" tIns="0" rIns="0" bIns="0" rtlCol="0" anchor="ctr"/>
          <a:lstStyle/>
          <a:p>
            <a:pPr rtl="1" algn="r" indent="0" marL="0">
              <a:buNone/>
            </a:pPr>
            <a:r>
              <a:rPr lang="en-US" sz="1000" b="1" dirty="0">
                <a:solidFill>
                  <a:srgbClr val="F4C77B"/>
                </a:solidFill>
                <a:latin typeface="Cairo" pitchFamily="34" charset="0"/>
                <a:ea typeface="Cairo" pitchFamily="34" charset="-122"/>
                <a:cs typeface="Cairo" pitchFamily="34" charset="-120"/>
              </a:rPr>
              <a:t>الحل من ModernLife</a:t>
            </a:r>
            <a:endParaRPr lang="en-US" sz="1000" dirty="0"/>
          </a:p>
        </p:txBody>
      </p:sp>
      <p:sp>
        <p:nvSpPr>
          <p:cNvPr id="40" name="Text 38"/>
          <p:cNvSpPr/>
          <p:nvPr/>
        </p:nvSpPr>
        <p:spPr>
          <a:xfrm>
            <a:off x="685800" y="5852160"/>
            <a:ext cx="4937760" cy="502920"/>
          </a:xfrm>
          <a:prstGeom prst="rect">
            <a:avLst/>
          </a:prstGeom>
          <a:noFill/>
          <a:ln/>
        </p:spPr>
        <p:txBody>
          <a:bodyPr wrap="square" lIns="0" tIns="0" rIns="0" bIns="0" rtlCol="0" anchor="ctr"/>
          <a:lstStyle/>
          <a:p>
            <a:pPr rtl="1" algn="r" indent="0" marL="0">
              <a:buNone/>
            </a:pPr>
            <a:r>
              <a:rPr lang="en-US" sz="1500" b="1" dirty="0">
                <a:solidFill>
                  <a:srgbClr val="FFFFFF"/>
                </a:solidFill>
                <a:latin typeface="Cairo" pitchFamily="34" charset="0"/>
                <a:ea typeface="Cairo" pitchFamily="34" charset="-122"/>
                <a:cs typeface="Cairo" pitchFamily="34" charset="-120"/>
              </a:rPr>
              <a:t>لوحة معلومات موحدة لجميع المشاريع</a:t>
            </a:r>
            <a:endParaRPr lang="en-US" sz="1500" dirty="0"/>
          </a:p>
        </p:txBody>
      </p:sp>
      <p:sp>
        <p:nvSpPr>
          <p:cNvPr id="41" name="Text 39"/>
          <p:cNvSpPr/>
          <p:nvPr/>
        </p:nvSpPr>
        <p:spPr>
          <a:xfrm>
            <a:off x="457200" y="6492240"/>
            <a:ext cx="5486400" cy="274320"/>
          </a:xfrm>
          <a:prstGeom prst="rect">
            <a:avLst/>
          </a:prstGeom>
          <a:noFill/>
          <a:ln/>
        </p:spPr>
        <p:txBody>
          <a:bodyPr wrap="square" lIns="0" tIns="0" rIns="0" bIns="0" rtlCol="0" anchor="ctr"/>
          <a:lstStyle/>
          <a:p>
            <a:pPr rtl="1" algn="r" indent="0" marL="0">
              <a:buNone/>
            </a:pPr>
            <a:r>
              <a:rPr lang="en-US" sz="900" dirty="0">
                <a:solidFill>
                  <a:srgbClr val="94A3B8"/>
                </a:solidFill>
                <a:latin typeface="Cairo" pitchFamily="34" charset="0"/>
                <a:ea typeface="Cairo" pitchFamily="34" charset="-122"/>
                <a:cs typeface="Cairo" pitchFamily="34" charset="-120"/>
              </a:rPr>
              <a:t>ModernLife — نظام إدارة التصنيع المتكامل</a:t>
            </a:r>
            <a:endParaRPr lang="en-US" sz="900" dirty="0"/>
          </a:p>
        </p:txBody>
      </p:sp>
      <p:sp>
        <p:nvSpPr>
          <p:cNvPr id="42" name="Text 40"/>
          <p:cNvSpPr/>
          <p:nvPr/>
        </p:nvSpPr>
        <p:spPr>
          <a:xfrm>
            <a:off x="11155680" y="6492240"/>
            <a:ext cx="822960" cy="274320"/>
          </a:xfrm>
          <a:prstGeom prst="rect">
            <a:avLst/>
          </a:prstGeom>
          <a:noFill/>
          <a:ln/>
        </p:spPr>
        <p:txBody>
          <a:bodyPr wrap="square" lIns="0" tIns="0" rIns="0" bIns="0" rtlCol="0" anchor="ctr"/>
          <a:lstStyle/>
          <a:p>
            <a:pPr algn="l" indent="0" marL="0">
              <a:buNone/>
            </a:pPr>
            <a:r>
              <a:rPr lang="en-US" sz="900" dirty="0">
                <a:solidFill>
                  <a:srgbClr val="94A3B8"/>
                </a:solidFill>
                <a:latin typeface="Cairo" pitchFamily="34" charset="0"/>
                <a:ea typeface="Cairo" pitchFamily="34" charset="-122"/>
                <a:cs typeface="Cairo" pitchFamily="34" charset="-120"/>
              </a:rPr>
              <a:t>4 / 12</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47120" cy="365760"/>
          </a:xfrm>
          <a:prstGeom prst="rect">
            <a:avLst/>
          </a:prstGeom>
          <a:noFill/>
          <a:ln/>
        </p:spPr>
        <p:txBody>
          <a:bodyPr wrap="square" lIns="0" tIns="0" rIns="0" bIns="0" rtlCol="0" anchor="ctr"/>
          <a:lstStyle/>
          <a:p>
            <a:pPr rtl="1" algn="r" indent="0" marL="0">
              <a:buNone/>
            </a:pPr>
            <a:r>
              <a:rPr lang="en-US" sz="1300" b="1" dirty="0">
                <a:solidFill>
                  <a:srgbClr val="E8A33D"/>
                </a:solidFill>
                <a:latin typeface="Cairo" pitchFamily="34" charset="0"/>
                <a:ea typeface="Cairo" pitchFamily="34" charset="-122"/>
                <a:cs typeface="Cairo" pitchFamily="34" charset="-120"/>
              </a:rPr>
              <a:t>03 — المميزات</a:t>
            </a:r>
            <a:endParaRPr lang="en-US" sz="1300" dirty="0"/>
          </a:p>
        </p:txBody>
      </p:sp>
      <p:sp>
        <p:nvSpPr>
          <p:cNvPr id="3" name="Text 1"/>
          <p:cNvSpPr/>
          <p:nvPr/>
        </p:nvSpPr>
        <p:spPr>
          <a:xfrm>
            <a:off x="457200" y="822960"/>
            <a:ext cx="11247120" cy="640080"/>
          </a:xfrm>
          <a:prstGeom prst="rect">
            <a:avLst/>
          </a:prstGeom>
          <a:noFill/>
          <a:ln/>
        </p:spPr>
        <p:txBody>
          <a:bodyPr wrap="square" lIns="0" tIns="0" rIns="0" bIns="0" rtlCol="0" anchor="ctr"/>
          <a:lstStyle/>
          <a:p>
            <a:pPr rtl="1" algn="r" indent="0" marL="0">
              <a:buNone/>
            </a:pPr>
            <a:r>
              <a:rPr lang="en-US" sz="3400" b="1" dirty="0">
                <a:solidFill>
                  <a:srgbClr val="0F2A47"/>
                </a:solidFill>
                <a:latin typeface="Cairo" pitchFamily="34" charset="0"/>
                <a:ea typeface="Cairo" pitchFamily="34" charset="-122"/>
                <a:cs typeface="Cairo" pitchFamily="34" charset="-120"/>
              </a:rPr>
              <a:t>المميزات والوظائف الرئيسية</a:t>
            </a:r>
            <a:endParaRPr lang="en-US" sz="3400" dirty="0"/>
          </a:p>
        </p:txBody>
      </p:sp>
      <p:sp>
        <p:nvSpPr>
          <p:cNvPr id="4" name="Shape 2"/>
          <p:cNvSpPr/>
          <p:nvPr/>
        </p:nvSpPr>
        <p:spPr>
          <a:xfrm>
            <a:off x="10698480" y="1554480"/>
            <a:ext cx="1005840" cy="45720"/>
          </a:xfrm>
          <a:prstGeom prst="rect">
            <a:avLst/>
          </a:prstGeom>
          <a:solidFill>
            <a:srgbClr val="E8A33D"/>
          </a:solidFill>
          <a:ln/>
        </p:spPr>
      </p:sp>
      <p:sp>
        <p:nvSpPr>
          <p:cNvPr id="5" name="Shape 3"/>
          <p:cNvSpPr/>
          <p:nvPr/>
        </p:nvSpPr>
        <p:spPr>
          <a:xfrm>
            <a:off x="8092440" y="1874520"/>
            <a:ext cx="3657600" cy="2103120"/>
          </a:xfrm>
          <a:prstGeom prst="rect">
            <a:avLst/>
          </a:prstGeom>
          <a:solidFill>
            <a:srgbClr val="F5F7FA"/>
          </a:solidFill>
          <a:ln/>
        </p:spPr>
      </p:sp>
      <p:sp>
        <p:nvSpPr>
          <p:cNvPr id="6" name="Shape 4"/>
          <p:cNvSpPr/>
          <p:nvPr/>
        </p:nvSpPr>
        <p:spPr>
          <a:xfrm>
            <a:off x="8092440" y="1874520"/>
            <a:ext cx="3657600" cy="73152"/>
          </a:xfrm>
          <a:prstGeom prst="rect">
            <a:avLst/>
          </a:prstGeom>
          <a:solidFill>
            <a:srgbClr val="E8A33D"/>
          </a:solidFill>
          <a:ln/>
        </p:spPr>
      </p:sp>
      <p:sp>
        <p:nvSpPr>
          <p:cNvPr id="7" name="Shape 5"/>
          <p:cNvSpPr/>
          <p:nvPr/>
        </p:nvSpPr>
        <p:spPr>
          <a:xfrm>
            <a:off x="10835640" y="2194560"/>
            <a:ext cx="640080" cy="640080"/>
          </a:xfrm>
          <a:prstGeom prst="ellipse">
            <a:avLst/>
          </a:prstGeom>
          <a:solidFill>
            <a:srgbClr val="0F2A47"/>
          </a:solidFill>
          <a:ln/>
        </p:spPr>
      </p:sp>
      <p:sp>
        <p:nvSpPr>
          <p:cNvPr id="8" name="Text 6"/>
          <p:cNvSpPr/>
          <p:nvPr/>
        </p:nvSpPr>
        <p:spPr>
          <a:xfrm>
            <a:off x="10835640" y="2194560"/>
            <a:ext cx="640080" cy="640080"/>
          </a:xfrm>
          <a:prstGeom prst="rect">
            <a:avLst/>
          </a:prstGeom>
          <a:noFill/>
          <a:ln/>
        </p:spPr>
        <p:txBody>
          <a:bodyPr wrap="square" lIns="0" tIns="0" rIns="0" bIns="0" rtlCol="0" anchor="ctr"/>
          <a:lstStyle/>
          <a:p>
            <a:pPr algn="ctr" indent="0" marL="0">
              <a:buNone/>
            </a:pPr>
            <a:r>
              <a:rPr lang="en-US" sz="2400" dirty="0">
                <a:solidFill>
                  <a:srgbClr val="E8A33D"/>
                </a:solidFill>
                <a:latin typeface="Arial" pitchFamily="34" charset="0"/>
                <a:ea typeface="Arial" pitchFamily="34" charset="-122"/>
                <a:cs typeface="Arial" pitchFamily="34" charset="-120"/>
              </a:rPr>
              <a:t>⚙</a:t>
            </a:r>
            <a:endParaRPr lang="en-US" sz="2400" dirty="0"/>
          </a:p>
        </p:txBody>
      </p:sp>
      <p:sp>
        <p:nvSpPr>
          <p:cNvPr id="9" name="Text 7"/>
          <p:cNvSpPr/>
          <p:nvPr/>
        </p:nvSpPr>
        <p:spPr>
          <a:xfrm>
            <a:off x="8275320" y="2971800"/>
            <a:ext cx="3291840" cy="365760"/>
          </a:xfrm>
          <a:prstGeom prst="rect">
            <a:avLst/>
          </a:prstGeom>
          <a:noFill/>
          <a:ln/>
        </p:spPr>
        <p:txBody>
          <a:bodyPr wrap="square" lIns="0" tIns="0" rIns="0" bIns="0" rtlCol="0" anchor="ctr"/>
          <a:lstStyle/>
          <a:p>
            <a:pPr rtl="1" algn="r" indent="0" marL="0">
              <a:buNone/>
            </a:pPr>
            <a:r>
              <a:rPr lang="en-US" sz="1700" b="1" dirty="0">
                <a:solidFill>
                  <a:srgbClr val="0F2A47"/>
                </a:solidFill>
                <a:latin typeface="Cairo" pitchFamily="34" charset="0"/>
                <a:ea typeface="Cairo" pitchFamily="34" charset="-122"/>
                <a:cs typeface="Cairo" pitchFamily="34" charset="-120"/>
              </a:rPr>
              <a:t>سير عمل الطلبات</a:t>
            </a:r>
            <a:endParaRPr lang="en-US" sz="1700" dirty="0"/>
          </a:p>
        </p:txBody>
      </p:sp>
      <p:sp>
        <p:nvSpPr>
          <p:cNvPr id="10" name="Text 8"/>
          <p:cNvSpPr/>
          <p:nvPr/>
        </p:nvSpPr>
        <p:spPr>
          <a:xfrm>
            <a:off x="8275320" y="3337560"/>
            <a:ext cx="3291840" cy="594360"/>
          </a:xfrm>
          <a:prstGeom prst="rect">
            <a:avLst/>
          </a:prstGeom>
          <a:noFill/>
          <a:ln/>
        </p:spPr>
        <p:txBody>
          <a:bodyPr wrap="square" lIns="0" tIns="0" rIns="0" bIns="0" rtlCol="0" anchor="ctr"/>
          <a:lstStyle/>
          <a:p>
            <a:pPr rtl="1" algn="r" indent="0" marL="0">
              <a:buNone/>
            </a:pPr>
            <a:r>
              <a:rPr lang="en-US" sz="1150" dirty="0">
                <a:solidFill>
                  <a:srgbClr val="475569"/>
                </a:solidFill>
                <a:latin typeface="Cairo" pitchFamily="34" charset="0"/>
                <a:ea typeface="Cairo" pitchFamily="34" charset="-122"/>
                <a:cs typeface="Cairo" pitchFamily="34" charset="-120"/>
              </a:rPr>
              <a:t>إدارة متعددة المراحل من الطلب وحتى التسليم النهائي عبر 7 مراحل منظمة</a:t>
            </a:r>
            <a:endParaRPr lang="en-US" sz="1150" dirty="0"/>
          </a:p>
        </p:txBody>
      </p:sp>
      <p:sp>
        <p:nvSpPr>
          <p:cNvPr id="11" name="Shape 9"/>
          <p:cNvSpPr/>
          <p:nvPr/>
        </p:nvSpPr>
        <p:spPr>
          <a:xfrm>
            <a:off x="4251960" y="1874520"/>
            <a:ext cx="3657600" cy="2103120"/>
          </a:xfrm>
          <a:prstGeom prst="rect">
            <a:avLst/>
          </a:prstGeom>
          <a:solidFill>
            <a:srgbClr val="F5F7FA"/>
          </a:solidFill>
          <a:ln/>
        </p:spPr>
      </p:sp>
      <p:sp>
        <p:nvSpPr>
          <p:cNvPr id="12" name="Shape 10"/>
          <p:cNvSpPr/>
          <p:nvPr/>
        </p:nvSpPr>
        <p:spPr>
          <a:xfrm>
            <a:off x="4251960" y="1874520"/>
            <a:ext cx="3657600" cy="73152"/>
          </a:xfrm>
          <a:prstGeom prst="rect">
            <a:avLst/>
          </a:prstGeom>
          <a:solidFill>
            <a:srgbClr val="E8A33D"/>
          </a:solidFill>
          <a:ln/>
        </p:spPr>
      </p:sp>
      <p:sp>
        <p:nvSpPr>
          <p:cNvPr id="13" name="Shape 11"/>
          <p:cNvSpPr/>
          <p:nvPr/>
        </p:nvSpPr>
        <p:spPr>
          <a:xfrm>
            <a:off x="6995160" y="2194560"/>
            <a:ext cx="640080" cy="640080"/>
          </a:xfrm>
          <a:prstGeom prst="ellipse">
            <a:avLst/>
          </a:prstGeom>
          <a:solidFill>
            <a:srgbClr val="0F2A47"/>
          </a:solidFill>
          <a:ln/>
        </p:spPr>
      </p:sp>
      <p:sp>
        <p:nvSpPr>
          <p:cNvPr id="14" name="Text 12"/>
          <p:cNvSpPr/>
          <p:nvPr/>
        </p:nvSpPr>
        <p:spPr>
          <a:xfrm>
            <a:off x="6995160" y="2194560"/>
            <a:ext cx="640080" cy="640080"/>
          </a:xfrm>
          <a:prstGeom prst="rect">
            <a:avLst/>
          </a:prstGeom>
          <a:noFill/>
          <a:ln/>
        </p:spPr>
        <p:txBody>
          <a:bodyPr wrap="square" lIns="0" tIns="0" rIns="0" bIns="0" rtlCol="0" anchor="ctr"/>
          <a:lstStyle/>
          <a:p>
            <a:pPr algn="ctr" indent="0" marL="0">
              <a:buNone/>
            </a:pPr>
            <a:r>
              <a:rPr lang="en-US" sz="2400" dirty="0">
                <a:solidFill>
                  <a:srgbClr val="E8A33D"/>
                </a:solidFill>
                <a:latin typeface="Arial" pitchFamily="34" charset="0"/>
                <a:ea typeface="Arial" pitchFamily="34" charset="-122"/>
                <a:cs typeface="Arial" pitchFamily="34" charset="-120"/>
              </a:rPr>
              <a:t>📋</a:t>
            </a:r>
            <a:endParaRPr lang="en-US" sz="2400" dirty="0"/>
          </a:p>
        </p:txBody>
      </p:sp>
      <p:sp>
        <p:nvSpPr>
          <p:cNvPr id="15" name="Text 13"/>
          <p:cNvSpPr/>
          <p:nvPr/>
        </p:nvSpPr>
        <p:spPr>
          <a:xfrm>
            <a:off x="4434840" y="2971800"/>
            <a:ext cx="3291840" cy="365760"/>
          </a:xfrm>
          <a:prstGeom prst="rect">
            <a:avLst/>
          </a:prstGeom>
          <a:noFill/>
          <a:ln/>
        </p:spPr>
        <p:txBody>
          <a:bodyPr wrap="square" lIns="0" tIns="0" rIns="0" bIns="0" rtlCol="0" anchor="ctr"/>
          <a:lstStyle/>
          <a:p>
            <a:pPr rtl="1" algn="r" indent="0" marL="0">
              <a:buNone/>
            </a:pPr>
            <a:r>
              <a:rPr lang="en-US" sz="1700" b="1" dirty="0">
                <a:solidFill>
                  <a:srgbClr val="0F2A47"/>
                </a:solidFill>
                <a:latin typeface="Cairo" pitchFamily="34" charset="0"/>
                <a:ea typeface="Cairo" pitchFamily="34" charset="-122"/>
                <a:cs typeface="Cairo" pitchFamily="34" charset="-120"/>
              </a:rPr>
              <a:t>إدارة المشاريع</a:t>
            </a:r>
            <a:endParaRPr lang="en-US" sz="1700" dirty="0"/>
          </a:p>
        </p:txBody>
      </p:sp>
      <p:sp>
        <p:nvSpPr>
          <p:cNvPr id="16" name="Text 14"/>
          <p:cNvSpPr/>
          <p:nvPr/>
        </p:nvSpPr>
        <p:spPr>
          <a:xfrm>
            <a:off x="4434840" y="3337560"/>
            <a:ext cx="3291840" cy="594360"/>
          </a:xfrm>
          <a:prstGeom prst="rect">
            <a:avLst/>
          </a:prstGeom>
          <a:noFill/>
          <a:ln/>
        </p:spPr>
        <p:txBody>
          <a:bodyPr wrap="square" lIns="0" tIns="0" rIns="0" bIns="0" rtlCol="0" anchor="ctr"/>
          <a:lstStyle/>
          <a:p>
            <a:pPr rtl="1" algn="r" indent="0" marL="0">
              <a:buNone/>
            </a:pPr>
            <a:r>
              <a:rPr lang="en-US" sz="1150" dirty="0">
                <a:solidFill>
                  <a:srgbClr val="475569"/>
                </a:solidFill>
                <a:latin typeface="Cairo" pitchFamily="34" charset="0"/>
                <a:ea typeface="Cairo" pitchFamily="34" charset="-122"/>
                <a:cs typeface="Cairo" pitchFamily="34" charset="-120"/>
              </a:rPr>
              <a:t>تحويل الطلبات المعتمدة إلى مشاريع قابلة للتتبع مع جدول زمني واضح</a:t>
            </a:r>
            <a:endParaRPr lang="en-US" sz="1150" dirty="0"/>
          </a:p>
        </p:txBody>
      </p:sp>
      <p:sp>
        <p:nvSpPr>
          <p:cNvPr id="17" name="Shape 15"/>
          <p:cNvSpPr/>
          <p:nvPr/>
        </p:nvSpPr>
        <p:spPr>
          <a:xfrm>
            <a:off x="411480" y="1874520"/>
            <a:ext cx="3657600" cy="2103120"/>
          </a:xfrm>
          <a:prstGeom prst="rect">
            <a:avLst/>
          </a:prstGeom>
          <a:solidFill>
            <a:srgbClr val="F5F7FA"/>
          </a:solidFill>
          <a:ln/>
        </p:spPr>
      </p:sp>
      <p:sp>
        <p:nvSpPr>
          <p:cNvPr id="18" name="Shape 16"/>
          <p:cNvSpPr/>
          <p:nvPr/>
        </p:nvSpPr>
        <p:spPr>
          <a:xfrm>
            <a:off x="411480" y="1874520"/>
            <a:ext cx="3657600" cy="73152"/>
          </a:xfrm>
          <a:prstGeom prst="rect">
            <a:avLst/>
          </a:prstGeom>
          <a:solidFill>
            <a:srgbClr val="E8A33D"/>
          </a:solidFill>
          <a:ln/>
        </p:spPr>
      </p:sp>
      <p:sp>
        <p:nvSpPr>
          <p:cNvPr id="19" name="Shape 17"/>
          <p:cNvSpPr/>
          <p:nvPr/>
        </p:nvSpPr>
        <p:spPr>
          <a:xfrm>
            <a:off x="3154680" y="2194560"/>
            <a:ext cx="640080" cy="640080"/>
          </a:xfrm>
          <a:prstGeom prst="ellipse">
            <a:avLst/>
          </a:prstGeom>
          <a:solidFill>
            <a:srgbClr val="0F2A47"/>
          </a:solidFill>
          <a:ln/>
        </p:spPr>
      </p:sp>
      <p:sp>
        <p:nvSpPr>
          <p:cNvPr id="20" name="Text 18"/>
          <p:cNvSpPr/>
          <p:nvPr/>
        </p:nvSpPr>
        <p:spPr>
          <a:xfrm>
            <a:off x="3154680" y="2194560"/>
            <a:ext cx="640080" cy="640080"/>
          </a:xfrm>
          <a:prstGeom prst="rect">
            <a:avLst/>
          </a:prstGeom>
          <a:noFill/>
          <a:ln/>
        </p:spPr>
        <p:txBody>
          <a:bodyPr wrap="square" lIns="0" tIns="0" rIns="0" bIns="0" rtlCol="0" anchor="ctr"/>
          <a:lstStyle/>
          <a:p>
            <a:pPr algn="ctr" indent="0" marL="0">
              <a:buNone/>
            </a:pPr>
            <a:r>
              <a:rPr lang="en-US" sz="2400" dirty="0">
                <a:solidFill>
                  <a:srgbClr val="E8A33D"/>
                </a:solidFill>
                <a:latin typeface="Arial" pitchFamily="34" charset="0"/>
                <a:ea typeface="Arial" pitchFamily="34" charset="-122"/>
                <a:cs typeface="Arial" pitchFamily="34" charset="-120"/>
              </a:rPr>
              <a:t>✓</a:t>
            </a:r>
            <a:endParaRPr lang="en-US" sz="2400" dirty="0"/>
          </a:p>
        </p:txBody>
      </p:sp>
      <p:sp>
        <p:nvSpPr>
          <p:cNvPr id="21" name="Text 19"/>
          <p:cNvSpPr/>
          <p:nvPr/>
        </p:nvSpPr>
        <p:spPr>
          <a:xfrm>
            <a:off x="594360" y="2971800"/>
            <a:ext cx="3291840" cy="365760"/>
          </a:xfrm>
          <a:prstGeom prst="rect">
            <a:avLst/>
          </a:prstGeom>
          <a:noFill/>
          <a:ln/>
        </p:spPr>
        <p:txBody>
          <a:bodyPr wrap="square" lIns="0" tIns="0" rIns="0" bIns="0" rtlCol="0" anchor="ctr"/>
          <a:lstStyle/>
          <a:p>
            <a:pPr rtl="1" algn="r" indent="0" marL="0">
              <a:buNone/>
            </a:pPr>
            <a:r>
              <a:rPr lang="en-US" sz="1700" b="1" dirty="0">
                <a:solidFill>
                  <a:srgbClr val="0F2A47"/>
                </a:solidFill>
                <a:latin typeface="Cairo" pitchFamily="34" charset="0"/>
                <a:ea typeface="Cairo" pitchFamily="34" charset="-122"/>
                <a:cs typeface="Cairo" pitchFamily="34" charset="-120"/>
              </a:rPr>
              <a:t>إدارة المهام</a:t>
            </a:r>
            <a:endParaRPr lang="en-US" sz="1700" dirty="0"/>
          </a:p>
        </p:txBody>
      </p:sp>
      <p:sp>
        <p:nvSpPr>
          <p:cNvPr id="22" name="Text 20"/>
          <p:cNvSpPr/>
          <p:nvPr/>
        </p:nvSpPr>
        <p:spPr>
          <a:xfrm>
            <a:off x="594360" y="3337560"/>
            <a:ext cx="3291840" cy="594360"/>
          </a:xfrm>
          <a:prstGeom prst="rect">
            <a:avLst/>
          </a:prstGeom>
          <a:noFill/>
          <a:ln/>
        </p:spPr>
        <p:txBody>
          <a:bodyPr wrap="square" lIns="0" tIns="0" rIns="0" bIns="0" rtlCol="0" anchor="ctr"/>
          <a:lstStyle/>
          <a:p>
            <a:pPr rtl="1" algn="r" indent="0" marL="0">
              <a:buNone/>
            </a:pPr>
            <a:r>
              <a:rPr lang="en-US" sz="1150" dirty="0">
                <a:solidFill>
                  <a:srgbClr val="475569"/>
                </a:solidFill>
                <a:latin typeface="Cairo" pitchFamily="34" charset="0"/>
                <a:ea typeface="Cairo" pitchFamily="34" charset="-122"/>
                <a:cs typeface="Cairo" pitchFamily="34" charset="-120"/>
              </a:rPr>
              <a:t>توزيع المهام بين الأقسام مع متابعة التنفيذ والمواعيد النهائية</a:t>
            </a:r>
            <a:endParaRPr lang="en-US" sz="1150" dirty="0"/>
          </a:p>
        </p:txBody>
      </p:sp>
      <p:sp>
        <p:nvSpPr>
          <p:cNvPr id="23" name="Shape 21"/>
          <p:cNvSpPr/>
          <p:nvPr/>
        </p:nvSpPr>
        <p:spPr>
          <a:xfrm>
            <a:off x="8092440" y="4160520"/>
            <a:ext cx="3657600" cy="2103120"/>
          </a:xfrm>
          <a:prstGeom prst="rect">
            <a:avLst/>
          </a:prstGeom>
          <a:solidFill>
            <a:srgbClr val="F5F7FA"/>
          </a:solidFill>
          <a:ln/>
        </p:spPr>
      </p:sp>
      <p:sp>
        <p:nvSpPr>
          <p:cNvPr id="24" name="Shape 22"/>
          <p:cNvSpPr/>
          <p:nvPr/>
        </p:nvSpPr>
        <p:spPr>
          <a:xfrm>
            <a:off x="8092440" y="4160520"/>
            <a:ext cx="3657600" cy="73152"/>
          </a:xfrm>
          <a:prstGeom prst="rect">
            <a:avLst/>
          </a:prstGeom>
          <a:solidFill>
            <a:srgbClr val="E8A33D"/>
          </a:solidFill>
          <a:ln/>
        </p:spPr>
      </p:sp>
      <p:sp>
        <p:nvSpPr>
          <p:cNvPr id="25" name="Shape 23"/>
          <p:cNvSpPr/>
          <p:nvPr/>
        </p:nvSpPr>
        <p:spPr>
          <a:xfrm>
            <a:off x="10835640" y="4480560"/>
            <a:ext cx="640080" cy="640080"/>
          </a:xfrm>
          <a:prstGeom prst="ellipse">
            <a:avLst/>
          </a:prstGeom>
          <a:solidFill>
            <a:srgbClr val="0F2A47"/>
          </a:solidFill>
          <a:ln/>
        </p:spPr>
      </p:sp>
      <p:sp>
        <p:nvSpPr>
          <p:cNvPr id="26" name="Text 24"/>
          <p:cNvSpPr/>
          <p:nvPr/>
        </p:nvSpPr>
        <p:spPr>
          <a:xfrm>
            <a:off x="10835640" y="4480560"/>
            <a:ext cx="640080" cy="640080"/>
          </a:xfrm>
          <a:prstGeom prst="rect">
            <a:avLst/>
          </a:prstGeom>
          <a:noFill/>
          <a:ln/>
        </p:spPr>
        <p:txBody>
          <a:bodyPr wrap="square" lIns="0" tIns="0" rIns="0" bIns="0" rtlCol="0" anchor="ctr"/>
          <a:lstStyle/>
          <a:p>
            <a:pPr algn="ctr" indent="0" marL="0">
              <a:buNone/>
            </a:pPr>
            <a:r>
              <a:rPr lang="en-US" sz="2400" dirty="0">
                <a:solidFill>
                  <a:srgbClr val="E8A33D"/>
                </a:solidFill>
                <a:latin typeface="Arial" pitchFamily="34" charset="0"/>
                <a:ea typeface="Arial" pitchFamily="34" charset="-122"/>
                <a:cs typeface="Arial" pitchFamily="34" charset="-120"/>
              </a:rPr>
              <a:t>🔒</a:t>
            </a:r>
            <a:endParaRPr lang="en-US" sz="2400" dirty="0"/>
          </a:p>
        </p:txBody>
      </p:sp>
      <p:sp>
        <p:nvSpPr>
          <p:cNvPr id="27" name="Text 25"/>
          <p:cNvSpPr/>
          <p:nvPr/>
        </p:nvSpPr>
        <p:spPr>
          <a:xfrm>
            <a:off x="8275320" y="5257800"/>
            <a:ext cx="3291840" cy="365760"/>
          </a:xfrm>
          <a:prstGeom prst="rect">
            <a:avLst/>
          </a:prstGeom>
          <a:noFill/>
          <a:ln/>
        </p:spPr>
        <p:txBody>
          <a:bodyPr wrap="square" lIns="0" tIns="0" rIns="0" bIns="0" rtlCol="0" anchor="ctr"/>
          <a:lstStyle/>
          <a:p>
            <a:pPr rtl="1" algn="r" indent="0" marL="0">
              <a:buNone/>
            </a:pPr>
            <a:r>
              <a:rPr lang="en-US" sz="1700" b="1" dirty="0">
                <a:solidFill>
                  <a:srgbClr val="0F2A47"/>
                </a:solidFill>
                <a:latin typeface="Cairo" pitchFamily="34" charset="0"/>
                <a:ea typeface="Cairo" pitchFamily="34" charset="-122"/>
                <a:cs typeface="Cairo" pitchFamily="34" charset="-120"/>
              </a:rPr>
              <a:t>صلاحيات متقدمة</a:t>
            </a:r>
            <a:endParaRPr lang="en-US" sz="1700" dirty="0"/>
          </a:p>
        </p:txBody>
      </p:sp>
      <p:sp>
        <p:nvSpPr>
          <p:cNvPr id="28" name="Text 26"/>
          <p:cNvSpPr/>
          <p:nvPr/>
        </p:nvSpPr>
        <p:spPr>
          <a:xfrm>
            <a:off x="8275320" y="5623560"/>
            <a:ext cx="3291840" cy="594360"/>
          </a:xfrm>
          <a:prstGeom prst="rect">
            <a:avLst/>
          </a:prstGeom>
          <a:noFill/>
          <a:ln/>
        </p:spPr>
        <p:txBody>
          <a:bodyPr wrap="square" lIns="0" tIns="0" rIns="0" bIns="0" rtlCol="0" anchor="ctr"/>
          <a:lstStyle/>
          <a:p>
            <a:pPr rtl="1" algn="r" indent="0" marL="0">
              <a:buNone/>
            </a:pPr>
            <a:r>
              <a:rPr lang="en-US" sz="1150" dirty="0">
                <a:solidFill>
                  <a:srgbClr val="475569"/>
                </a:solidFill>
                <a:latin typeface="Cairo" pitchFamily="34" charset="0"/>
                <a:ea typeface="Cairo" pitchFamily="34" charset="-122"/>
                <a:cs typeface="Cairo" pitchFamily="34" charset="-120"/>
              </a:rPr>
              <a:t>نظام أذونات شامل يعتمد على Spatie Permission مع تحكم دقيق للأدوار</a:t>
            </a:r>
            <a:endParaRPr lang="en-US" sz="1150" dirty="0"/>
          </a:p>
        </p:txBody>
      </p:sp>
      <p:sp>
        <p:nvSpPr>
          <p:cNvPr id="29" name="Shape 27"/>
          <p:cNvSpPr/>
          <p:nvPr/>
        </p:nvSpPr>
        <p:spPr>
          <a:xfrm>
            <a:off x="4251960" y="4160520"/>
            <a:ext cx="3657600" cy="2103120"/>
          </a:xfrm>
          <a:prstGeom prst="rect">
            <a:avLst/>
          </a:prstGeom>
          <a:solidFill>
            <a:srgbClr val="F5F7FA"/>
          </a:solidFill>
          <a:ln/>
        </p:spPr>
      </p:sp>
      <p:sp>
        <p:nvSpPr>
          <p:cNvPr id="30" name="Shape 28"/>
          <p:cNvSpPr/>
          <p:nvPr/>
        </p:nvSpPr>
        <p:spPr>
          <a:xfrm>
            <a:off x="4251960" y="4160520"/>
            <a:ext cx="3657600" cy="73152"/>
          </a:xfrm>
          <a:prstGeom prst="rect">
            <a:avLst/>
          </a:prstGeom>
          <a:solidFill>
            <a:srgbClr val="E8A33D"/>
          </a:solidFill>
          <a:ln/>
        </p:spPr>
      </p:sp>
      <p:sp>
        <p:nvSpPr>
          <p:cNvPr id="31" name="Shape 29"/>
          <p:cNvSpPr/>
          <p:nvPr/>
        </p:nvSpPr>
        <p:spPr>
          <a:xfrm>
            <a:off x="6995160" y="4480560"/>
            <a:ext cx="640080" cy="640080"/>
          </a:xfrm>
          <a:prstGeom prst="ellipse">
            <a:avLst/>
          </a:prstGeom>
          <a:solidFill>
            <a:srgbClr val="0F2A47"/>
          </a:solidFill>
          <a:ln/>
        </p:spPr>
      </p:sp>
      <p:sp>
        <p:nvSpPr>
          <p:cNvPr id="32" name="Text 30"/>
          <p:cNvSpPr/>
          <p:nvPr/>
        </p:nvSpPr>
        <p:spPr>
          <a:xfrm>
            <a:off x="6995160" y="4480560"/>
            <a:ext cx="640080" cy="640080"/>
          </a:xfrm>
          <a:prstGeom prst="rect">
            <a:avLst/>
          </a:prstGeom>
          <a:noFill/>
          <a:ln/>
        </p:spPr>
        <p:txBody>
          <a:bodyPr wrap="square" lIns="0" tIns="0" rIns="0" bIns="0" rtlCol="0" anchor="ctr"/>
          <a:lstStyle/>
          <a:p>
            <a:pPr algn="ctr" indent="0" marL="0">
              <a:buNone/>
            </a:pPr>
            <a:r>
              <a:rPr lang="en-US" sz="2400" dirty="0">
                <a:solidFill>
                  <a:srgbClr val="E8A33D"/>
                </a:solidFill>
                <a:latin typeface="Arial" pitchFamily="34" charset="0"/>
                <a:ea typeface="Arial" pitchFamily="34" charset="-122"/>
                <a:cs typeface="Arial" pitchFamily="34" charset="-120"/>
              </a:rPr>
              <a:t>📁</a:t>
            </a:r>
            <a:endParaRPr lang="en-US" sz="2400" dirty="0"/>
          </a:p>
        </p:txBody>
      </p:sp>
      <p:sp>
        <p:nvSpPr>
          <p:cNvPr id="33" name="Text 31"/>
          <p:cNvSpPr/>
          <p:nvPr/>
        </p:nvSpPr>
        <p:spPr>
          <a:xfrm>
            <a:off x="4434840" y="5257800"/>
            <a:ext cx="3291840" cy="365760"/>
          </a:xfrm>
          <a:prstGeom prst="rect">
            <a:avLst/>
          </a:prstGeom>
          <a:noFill/>
          <a:ln/>
        </p:spPr>
        <p:txBody>
          <a:bodyPr wrap="square" lIns="0" tIns="0" rIns="0" bIns="0" rtlCol="0" anchor="ctr"/>
          <a:lstStyle/>
          <a:p>
            <a:pPr rtl="1" algn="r" indent="0" marL="0">
              <a:buNone/>
            </a:pPr>
            <a:r>
              <a:rPr lang="en-US" sz="1700" b="1" dirty="0">
                <a:solidFill>
                  <a:srgbClr val="0F2A47"/>
                </a:solidFill>
                <a:latin typeface="Cairo" pitchFamily="34" charset="0"/>
                <a:ea typeface="Cairo" pitchFamily="34" charset="-122"/>
                <a:cs typeface="Cairo" pitchFamily="34" charset="-120"/>
              </a:rPr>
              <a:t>إدارة الملفات</a:t>
            </a:r>
            <a:endParaRPr lang="en-US" sz="1700" dirty="0"/>
          </a:p>
        </p:txBody>
      </p:sp>
      <p:sp>
        <p:nvSpPr>
          <p:cNvPr id="34" name="Text 32"/>
          <p:cNvSpPr/>
          <p:nvPr/>
        </p:nvSpPr>
        <p:spPr>
          <a:xfrm>
            <a:off x="4434840" y="5623560"/>
            <a:ext cx="3291840" cy="594360"/>
          </a:xfrm>
          <a:prstGeom prst="rect">
            <a:avLst/>
          </a:prstGeom>
          <a:noFill/>
          <a:ln/>
        </p:spPr>
        <p:txBody>
          <a:bodyPr wrap="square" lIns="0" tIns="0" rIns="0" bIns="0" rtlCol="0" anchor="ctr"/>
          <a:lstStyle/>
          <a:p>
            <a:pPr rtl="1" algn="r" indent="0" marL="0">
              <a:buNone/>
            </a:pPr>
            <a:r>
              <a:rPr lang="en-US" sz="1150" dirty="0">
                <a:solidFill>
                  <a:srgbClr val="475569"/>
                </a:solidFill>
                <a:latin typeface="Cairo" pitchFamily="34" charset="0"/>
                <a:ea typeface="Cairo" pitchFamily="34" charset="-122"/>
                <a:cs typeface="Cairo" pitchFamily="34" charset="-120"/>
              </a:rPr>
              <a:t>رفع وتأمين الملفات مع تحكم في الوصول حسب صلاحية المستخدم</a:t>
            </a:r>
            <a:endParaRPr lang="en-US" sz="1150" dirty="0"/>
          </a:p>
        </p:txBody>
      </p:sp>
      <p:sp>
        <p:nvSpPr>
          <p:cNvPr id="35" name="Shape 33"/>
          <p:cNvSpPr/>
          <p:nvPr/>
        </p:nvSpPr>
        <p:spPr>
          <a:xfrm>
            <a:off x="411480" y="4160520"/>
            <a:ext cx="3657600" cy="2103120"/>
          </a:xfrm>
          <a:prstGeom prst="rect">
            <a:avLst/>
          </a:prstGeom>
          <a:solidFill>
            <a:srgbClr val="F5F7FA"/>
          </a:solidFill>
          <a:ln/>
        </p:spPr>
      </p:sp>
      <p:sp>
        <p:nvSpPr>
          <p:cNvPr id="36" name="Shape 34"/>
          <p:cNvSpPr/>
          <p:nvPr/>
        </p:nvSpPr>
        <p:spPr>
          <a:xfrm>
            <a:off x="411480" y="4160520"/>
            <a:ext cx="3657600" cy="73152"/>
          </a:xfrm>
          <a:prstGeom prst="rect">
            <a:avLst/>
          </a:prstGeom>
          <a:solidFill>
            <a:srgbClr val="E8A33D"/>
          </a:solidFill>
          <a:ln/>
        </p:spPr>
      </p:sp>
      <p:sp>
        <p:nvSpPr>
          <p:cNvPr id="37" name="Shape 35"/>
          <p:cNvSpPr/>
          <p:nvPr/>
        </p:nvSpPr>
        <p:spPr>
          <a:xfrm>
            <a:off x="3154680" y="4480560"/>
            <a:ext cx="640080" cy="640080"/>
          </a:xfrm>
          <a:prstGeom prst="ellipse">
            <a:avLst/>
          </a:prstGeom>
          <a:solidFill>
            <a:srgbClr val="0F2A47"/>
          </a:solidFill>
          <a:ln/>
        </p:spPr>
      </p:sp>
      <p:sp>
        <p:nvSpPr>
          <p:cNvPr id="38" name="Text 36"/>
          <p:cNvSpPr/>
          <p:nvPr/>
        </p:nvSpPr>
        <p:spPr>
          <a:xfrm>
            <a:off x="3154680" y="4480560"/>
            <a:ext cx="640080" cy="640080"/>
          </a:xfrm>
          <a:prstGeom prst="rect">
            <a:avLst/>
          </a:prstGeom>
          <a:noFill/>
          <a:ln/>
        </p:spPr>
        <p:txBody>
          <a:bodyPr wrap="square" lIns="0" tIns="0" rIns="0" bIns="0" rtlCol="0" anchor="ctr"/>
          <a:lstStyle/>
          <a:p>
            <a:pPr algn="ctr" indent="0" marL="0">
              <a:buNone/>
            </a:pPr>
            <a:r>
              <a:rPr lang="en-US" sz="2400" dirty="0">
                <a:solidFill>
                  <a:srgbClr val="E8A33D"/>
                </a:solidFill>
                <a:latin typeface="Arial" pitchFamily="34" charset="0"/>
                <a:ea typeface="Arial" pitchFamily="34" charset="-122"/>
                <a:cs typeface="Arial" pitchFamily="34" charset="-120"/>
              </a:rPr>
              <a:t>🔔</a:t>
            </a:r>
            <a:endParaRPr lang="en-US" sz="2400" dirty="0"/>
          </a:p>
        </p:txBody>
      </p:sp>
      <p:sp>
        <p:nvSpPr>
          <p:cNvPr id="39" name="Text 37"/>
          <p:cNvSpPr/>
          <p:nvPr/>
        </p:nvSpPr>
        <p:spPr>
          <a:xfrm>
            <a:off x="594360" y="5257800"/>
            <a:ext cx="3291840" cy="365760"/>
          </a:xfrm>
          <a:prstGeom prst="rect">
            <a:avLst/>
          </a:prstGeom>
          <a:noFill/>
          <a:ln/>
        </p:spPr>
        <p:txBody>
          <a:bodyPr wrap="square" lIns="0" tIns="0" rIns="0" bIns="0" rtlCol="0" anchor="ctr"/>
          <a:lstStyle/>
          <a:p>
            <a:pPr rtl="1" algn="r" indent="0" marL="0">
              <a:buNone/>
            </a:pPr>
            <a:r>
              <a:rPr lang="en-US" sz="1700" b="1" dirty="0">
                <a:solidFill>
                  <a:srgbClr val="0F2A47"/>
                </a:solidFill>
                <a:latin typeface="Cairo" pitchFamily="34" charset="0"/>
                <a:ea typeface="Cairo" pitchFamily="34" charset="-122"/>
                <a:cs typeface="Cairo" pitchFamily="34" charset="-120"/>
              </a:rPr>
              <a:t>إشعارات فورية</a:t>
            </a:r>
            <a:endParaRPr lang="en-US" sz="1700" dirty="0"/>
          </a:p>
        </p:txBody>
      </p:sp>
      <p:sp>
        <p:nvSpPr>
          <p:cNvPr id="40" name="Text 38"/>
          <p:cNvSpPr/>
          <p:nvPr/>
        </p:nvSpPr>
        <p:spPr>
          <a:xfrm>
            <a:off x="594360" y="5623560"/>
            <a:ext cx="3291840" cy="594360"/>
          </a:xfrm>
          <a:prstGeom prst="rect">
            <a:avLst/>
          </a:prstGeom>
          <a:noFill/>
          <a:ln/>
        </p:spPr>
        <p:txBody>
          <a:bodyPr wrap="square" lIns="0" tIns="0" rIns="0" bIns="0" rtlCol="0" anchor="ctr"/>
          <a:lstStyle/>
          <a:p>
            <a:pPr rtl="1" algn="r" indent="0" marL="0">
              <a:buNone/>
            </a:pPr>
            <a:r>
              <a:rPr lang="en-US" sz="1150" dirty="0">
                <a:solidFill>
                  <a:srgbClr val="475569"/>
                </a:solidFill>
                <a:latin typeface="Cairo" pitchFamily="34" charset="0"/>
                <a:ea typeface="Cairo" pitchFamily="34" charset="-122"/>
                <a:cs typeface="Cairo" pitchFamily="34" charset="-120"/>
              </a:rPr>
              <a:t>تنبيهات لحظية لكل حدث وتحديث في سير العمل لجميع الأطراف المعنية</a:t>
            </a:r>
            <a:endParaRPr lang="en-US" sz="1150" dirty="0"/>
          </a:p>
        </p:txBody>
      </p:sp>
      <p:sp>
        <p:nvSpPr>
          <p:cNvPr id="41" name="Text 39"/>
          <p:cNvSpPr/>
          <p:nvPr/>
        </p:nvSpPr>
        <p:spPr>
          <a:xfrm>
            <a:off x="457200" y="6492240"/>
            <a:ext cx="5486400" cy="274320"/>
          </a:xfrm>
          <a:prstGeom prst="rect">
            <a:avLst/>
          </a:prstGeom>
          <a:noFill/>
          <a:ln/>
        </p:spPr>
        <p:txBody>
          <a:bodyPr wrap="square" lIns="0" tIns="0" rIns="0" bIns="0" rtlCol="0" anchor="ctr"/>
          <a:lstStyle/>
          <a:p>
            <a:pPr rtl="1" algn="r" indent="0" marL="0">
              <a:buNone/>
            </a:pPr>
            <a:r>
              <a:rPr lang="en-US" sz="900" dirty="0">
                <a:solidFill>
                  <a:srgbClr val="94A3B8"/>
                </a:solidFill>
                <a:latin typeface="Cairo" pitchFamily="34" charset="0"/>
                <a:ea typeface="Cairo" pitchFamily="34" charset="-122"/>
                <a:cs typeface="Cairo" pitchFamily="34" charset="-120"/>
              </a:rPr>
              <a:t>ModernLife — نظام إدارة التصنيع المتكامل</a:t>
            </a:r>
            <a:endParaRPr lang="en-US" sz="900" dirty="0"/>
          </a:p>
        </p:txBody>
      </p:sp>
      <p:sp>
        <p:nvSpPr>
          <p:cNvPr id="42" name="Text 40"/>
          <p:cNvSpPr/>
          <p:nvPr/>
        </p:nvSpPr>
        <p:spPr>
          <a:xfrm>
            <a:off x="11155680" y="6492240"/>
            <a:ext cx="822960" cy="274320"/>
          </a:xfrm>
          <a:prstGeom prst="rect">
            <a:avLst/>
          </a:prstGeom>
          <a:noFill/>
          <a:ln/>
        </p:spPr>
        <p:txBody>
          <a:bodyPr wrap="square" lIns="0" tIns="0" rIns="0" bIns="0" rtlCol="0" anchor="ctr"/>
          <a:lstStyle/>
          <a:p>
            <a:pPr algn="l" indent="0" marL="0">
              <a:buNone/>
            </a:pPr>
            <a:r>
              <a:rPr lang="en-US" sz="900" dirty="0">
                <a:solidFill>
                  <a:srgbClr val="94A3B8"/>
                </a:solidFill>
                <a:latin typeface="Cairo" pitchFamily="34" charset="0"/>
                <a:ea typeface="Cairo" pitchFamily="34" charset="-122"/>
                <a:cs typeface="Cairo" pitchFamily="34" charset="-120"/>
              </a:rPr>
              <a:t>5 / 12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81827"/>
        </a:solidFill>
      </p:bgPr>
    </p:bg>
    <p:spTree>
      <p:nvGrpSpPr>
        <p:cNvPr id="1" name=""/>
        <p:cNvGrpSpPr/>
        <p:nvPr/>
      </p:nvGrpSpPr>
      <p:grpSpPr>
        <a:xfrm>
          <a:off x="0" y="0"/>
          <a:ext cx="0" cy="0"/>
          <a:chOff x="0" y="0"/>
          <a:chExt cx="0" cy="0"/>
        </a:xfrm>
      </p:grpSpPr>
      <p:sp>
        <p:nvSpPr>
          <p:cNvPr id="2" name="Text 0"/>
          <p:cNvSpPr/>
          <p:nvPr/>
        </p:nvSpPr>
        <p:spPr>
          <a:xfrm>
            <a:off x="457200" y="457200"/>
            <a:ext cx="11247120" cy="365760"/>
          </a:xfrm>
          <a:prstGeom prst="rect">
            <a:avLst/>
          </a:prstGeom>
          <a:noFill/>
          <a:ln/>
        </p:spPr>
        <p:txBody>
          <a:bodyPr wrap="square" lIns="0" tIns="0" rIns="0" bIns="0" rtlCol="0" anchor="ctr"/>
          <a:lstStyle/>
          <a:p>
            <a:pPr rtl="1" algn="r" indent="0" marL="0">
              <a:buNone/>
            </a:pPr>
            <a:r>
              <a:rPr lang="en-US" sz="1300" b="1" dirty="0">
                <a:solidFill>
                  <a:srgbClr val="E8A33D"/>
                </a:solidFill>
                <a:latin typeface="Cairo" pitchFamily="34" charset="0"/>
                <a:ea typeface="Cairo" pitchFamily="34" charset="-122"/>
                <a:cs typeface="Cairo" pitchFamily="34" charset="-120"/>
              </a:rPr>
              <a:t>04 — سير العمل</a:t>
            </a:r>
            <a:endParaRPr lang="en-US" sz="1300" dirty="0"/>
          </a:p>
        </p:txBody>
      </p:sp>
      <p:sp>
        <p:nvSpPr>
          <p:cNvPr id="3" name="Text 1"/>
          <p:cNvSpPr/>
          <p:nvPr/>
        </p:nvSpPr>
        <p:spPr>
          <a:xfrm>
            <a:off x="457200" y="822960"/>
            <a:ext cx="11247120" cy="640080"/>
          </a:xfrm>
          <a:prstGeom prst="rect">
            <a:avLst/>
          </a:prstGeom>
          <a:noFill/>
          <a:ln/>
        </p:spPr>
        <p:txBody>
          <a:bodyPr wrap="square" lIns="0" tIns="0" rIns="0" bIns="0" rtlCol="0" anchor="ctr"/>
          <a:lstStyle/>
          <a:p>
            <a:pPr rtl="1" algn="r" indent="0" marL="0">
              <a:buNone/>
            </a:pPr>
            <a:r>
              <a:rPr lang="en-US" sz="3200" b="1" dirty="0">
                <a:solidFill>
                  <a:srgbClr val="FFFFFF"/>
                </a:solidFill>
                <a:latin typeface="Cairo" pitchFamily="34" charset="0"/>
                <a:ea typeface="Cairo" pitchFamily="34" charset="-122"/>
                <a:cs typeface="Cairo" pitchFamily="34" charset="-120"/>
              </a:rPr>
              <a:t>رحلة الطلب: من البيع حتى التسليم</a:t>
            </a:r>
            <a:endParaRPr lang="en-US" sz="3200" dirty="0"/>
          </a:p>
        </p:txBody>
      </p:sp>
      <p:sp>
        <p:nvSpPr>
          <p:cNvPr id="4" name="Text 2"/>
          <p:cNvSpPr/>
          <p:nvPr/>
        </p:nvSpPr>
        <p:spPr>
          <a:xfrm>
            <a:off x="457200" y="1508760"/>
            <a:ext cx="11247120" cy="365760"/>
          </a:xfrm>
          <a:prstGeom prst="rect">
            <a:avLst/>
          </a:prstGeom>
          <a:noFill/>
          <a:ln/>
        </p:spPr>
        <p:txBody>
          <a:bodyPr wrap="square" lIns="0" tIns="0" rIns="0" bIns="0" rtlCol="0" anchor="ctr"/>
          <a:lstStyle/>
          <a:p>
            <a:pPr rtl="1" algn="r" indent="0" marL="0">
              <a:buNone/>
            </a:pPr>
            <a:r>
              <a:rPr lang="en-US" sz="1400" i="1" dirty="0">
                <a:solidFill>
                  <a:srgbClr val="E2E8F0"/>
                </a:solidFill>
                <a:latin typeface="Cairo" pitchFamily="34" charset="0"/>
                <a:ea typeface="Cairo" pitchFamily="34" charset="-122"/>
                <a:cs typeface="Cairo" pitchFamily="34" charset="-120"/>
              </a:rPr>
              <a:t>سير عمل احترافي عبر سبع مراحل منظمة تضمن جودة التنفيذ والمساءلة في كل خطوة</a:t>
            </a:r>
            <a:endParaRPr lang="en-US" sz="1400" dirty="0"/>
          </a:p>
        </p:txBody>
      </p:sp>
      <p:sp>
        <p:nvSpPr>
          <p:cNvPr id="5" name="Shape 3"/>
          <p:cNvSpPr/>
          <p:nvPr/>
        </p:nvSpPr>
        <p:spPr>
          <a:xfrm>
            <a:off x="1299754" y="4133088"/>
            <a:ext cx="9562011" cy="36576"/>
          </a:xfrm>
          <a:prstGeom prst="rect">
            <a:avLst/>
          </a:prstGeom>
          <a:solidFill>
            <a:srgbClr val="475569"/>
          </a:solidFill>
          <a:ln/>
        </p:spPr>
      </p:sp>
      <p:sp>
        <p:nvSpPr>
          <p:cNvPr id="6" name="Shape 4"/>
          <p:cNvSpPr/>
          <p:nvPr/>
        </p:nvSpPr>
        <p:spPr>
          <a:xfrm>
            <a:off x="10541726" y="3840480"/>
            <a:ext cx="640080" cy="640080"/>
          </a:xfrm>
          <a:prstGeom prst="ellipse">
            <a:avLst/>
          </a:prstGeom>
          <a:solidFill>
            <a:srgbClr val="E8A33D"/>
          </a:solidFill>
          <a:ln w="38100">
            <a:solidFill>
              <a:srgbClr val="081827"/>
            </a:solidFill>
            <a:prstDash val="solid"/>
          </a:ln>
        </p:spPr>
      </p:sp>
      <p:sp>
        <p:nvSpPr>
          <p:cNvPr id="7" name="Text 5"/>
          <p:cNvSpPr/>
          <p:nvPr/>
        </p:nvSpPr>
        <p:spPr>
          <a:xfrm>
            <a:off x="10541726" y="3840480"/>
            <a:ext cx="640080" cy="640080"/>
          </a:xfrm>
          <a:prstGeom prst="rect">
            <a:avLst/>
          </a:prstGeom>
          <a:noFill/>
          <a:ln/>
        </p:spPr>
        <p:txBody>
          <a:bodyPr wrap="square" lIns="0" tIns="0" rIns="0" bIns="0" rtlCol="0" anchor="ctr"/>
          <a:lstStyle/>
          <a:p>
            <a:pPr algn="ctr" indent="0" marL="0">
              <a:buNone/>
            </a:pPr>
            <a:r>
              <a:rPr lang="en-US" sz="2200" b="1" dirty="0">
                <a:solidFill>
                  <a:srgbClr val="081827"/>
                </a:solidFill>
                <a:latin typeface="Cairo" pitchFamily="34" charset="0"/>
                <a:ea typeface="Cairo" pitchFamily="34" charset="-122"/>
                <a:cs typeface="Cairo" pitchFamily="34" charset="-120"/>
              </a:rPr>
              <a:t>1</a:t>
            </a:r>
            <a:endParaRPr lang="en-US" sz="2200" dirty="0"/>
          </a:p>
        </p:txBody>
      </p:sp>
      <p:sp>
        <p:nvSpPr>
          <p:cNvPr id="8" name="Text 6"/>
          <p:cNvSpPr/>
          <p:nvPr/>
        </p:nvSpPr>
        <p:spPr>
          <a:xfrm>
            <a:off x="10084526" y="3063240"/>
            <a:ext cx="1554480" cy="548640"/>
          </a:xfrm>
          <a:prstGeom prst="rect">
            <a:avLst/>
          </a:prstGeom>
          <a:noFill/>
          <a:ln/>
        </p:spPr>
        <p:txBody>
          <a:bodyPr wrap="square" lIns="0" tIns="0" rIns="0" bIns="0" rtlCol="0" anchor="ctr"/>
          <a:lstStyle/>
          <a:p>
            <a:pPr rtl="1" algn="ctr" indent="0" marL="0">
              <a:buNone/>
            </a:pPr>
            <a:r>
              <a:rPr lang="en-US" sz="1200" b="1" dirty="0">
                <a:solidFill>
                  <a:srgbClr val="FFFFFF"/>
                </a:solidFill>
                <a:latin typeface="Cairo" pitchFamily="34" charset="0"/>
                <a:ea typeface="Cairo" pitchFamily="34" charset="-122"/>
                <a:cs typeface="Cairo" pitchFamily="34" charset="-120"/>
              </a:rPr>
              <a:t>إنشاء الطلب</a:t>
            </a:r>
            <a:endParaRPr lang="en-US" sz="1200" dirty="0"/>
          </a:p>
        </p:txBody>
      </p:sp>
      <p:sp>
        <p:nvSpPr>
          <p:cNvPr id="9" name="Text 7"/>
          <p:cNvSpPr/>
          <p:nvPr/>
        </p:nvSpPr>
        <p:spPr>
          <a:xfrm>
            <a:off x="10084526" y="4617720"/>
            <a:ext cx="1554480" cy="548640"/>
          </a:xfrm>
          <a:prstGeom prst="rect">
            <a:avLst/>
          </a:prstGeom>
          <a:noFill/>
          <a:ln/>
        </p:spPr>
        <p:txBody>
          <a:bodyPr wrap="square" lIns="0" tIns="0" rIns="0" bIns="0" rtlCol="0" anchor="ctr"/>
          <a:lstStyle/>
          <a:p>
            <a:pPr rtl="1" algn="ctr" indent="0" marL="0">
              <a:buNone/>
            </a:pPr>
            <a:r>
              <a:rPr lang="en-US" sz="950" dirty="0">
                <a:solidFill>
                  <a:srgbClr val="F4C77B"/>
                </a:solidFill>
                <a:latin typeface="Cairo" pitchFamily="34" charset="0"/>
                <a:ea typeface="Cairo" pitchFamily="34" charset="-122"/>
                <a:cs typeface="Cairo" pitchFamily="34" charset="-120"/>
              </a:rPr>
              <a:t>المبيعات / صالة العرض</a:t>
            </a:r>
            <a:endParaRPr lang="en-US" sz="950" dirty="0"/>
          </a:p>
        </p:txBody>
      </p:sp>
      <p:sp>
        <p:nvSpPr>
          <p:cNvPr id="10" name="Shape 8"/>
          <p:cNvSpPr/>
          <p:nvPr/>
        </p:nvSpPr>
        <p:spPr>
          <a:xfrm>
            <a:off x="8948057" y="3840480"/>
            <a:ext cx="640080" cy="640080"/>
          </a:xfrm>
          <a:prstGeom prst="ellipse">
            <a:avLst/>
          </a:prstGeom>
          <a:solidFill>
            <a:srgbClr val="E8A33D"/>
          </a:solidFill>
          <a:ln w="38100">
            <a:solidFill>
              <a:srgbClr val="081827"/>
            </a:solidFill>
            <a:prstDash val="solid"/>
          </a:ln>
        </p:spPr>
      </p:sp>
      <p:sp>
        <p:nvSpPr>
          <p:cNvPr id="11" name="Text 9"/>
          <p:cNvSpPr/>
          <p:nvPr/>
        </p:nvSpPr>
        <p:spPr>
          <a:xfrm>
            <a:off x="8948057" y="3840480"/>
            <a:ext cx="640080" cy="640080"/>
          </a:xfrm>
          <a:prstGeom prst="rect">
            <a:avLst/>
          </a:prstGeom>
          <a:noFill/>
          <a:ln/>
        </p:spPr>
        <p:txBody>
          <a:bodyPr wrap="square" lIns="0" tIns="0" rIns="0" bIns="0" rtlCol="0" anchor="ctr"/>
          <a:lstStyle/>
          <a:p>
            <a:pPr algn="ctr" indent="0" marL="0">
              <a:buNone/>
            </a:pPr>
            <a:r>
              <a:rPr lang="en-US" sz="2200" b="1" dirty="0">
                <a:solidFill>
                  <a:srgbClr val="081827"/>
                </a:solidFill>
                <a:latin typeface="Cairo" pitchFamily="34" charset="0"/>
                <a:ea typeface="Cairo" pitchFamily="34" charset="-122"/>
                <a:cs typeface="Cairo" pitchFamily="34" charset="-120"/>
              </a:rPr>
              <a:t>2</a:t>
            </a:r>
            <a:endParaRPr lang="en-US" sz="2200" dirty="0"/>
          </a:p>
        </p:txBody>
      </p:sp>
      <p:sp>
        <p:nvSpPr>
          <p:cNvPr id="12" name="Text 10"/>
          <p:cNvSpPr/>
          <p:nvPr/>
        </p:nvSpPr>
        <p:spPr>
          <a:xfrm>
            <a:off x="8490857" y="3063240"/>
            <a:ext cx="1554480" cy="548640"/>
          </a:xfrm>
          <a:prstGeom prst="rect">
            <a:avLst/>
          </a:prstGeom>
          <a:noFill/>
          <a:ln/>
        </p:spPr>
        <p:txBody>
          <a:bodyPr wrap="square" lIns="0" tIns="0" rIns="0" bIns="0" rtlCol="0" anchor="ctr"/>
          <a:lstStyle/>
          <a:p>
            <a:pPr rtl="1" algn="ctr" indent="0" marL="0">
              <a:buNone/>
            </a:pPr>
            <a:r>
              <a:rPr lang="en-US" sz="1200" b="1" dirty="0">
                <a:solidFill>
                  <a:srgbClr val="FFFFFF"/>
                </a:solidFill>
                <a:latin typeface="Cairo" pitchFamily="34" charset="0"/>
                <a:ea typeface="Cairo" pitchFamily="34" charset="-122"/>
                <a:cs typeface="Cairo" pitchFamily="34" charset="-120"/>
              </a:rPr>
              <a:t>مراجعة صالة العرض</a:t>
            </a:r>
            <a:endParaRPr lang="en-US" sz="1200" dirty="0"/>
          </a:p>
        </p:txBody>
      </p:sp>
      <p:sp>
        <p:nvSpPr>
          <p:cNvPr id="13" name="Text 11"/>
          <p:cNvSpPr/>
          <p:nvPr/>
        </p:nvSpPr>
        <p:spPr>
          <a:xfrm>
            <a:off x="8490857" y="4617720"/>
            <a:ext cx="1554480" cy="548640"/>
          </a:xfrm>
          <a:prstGeom prst="rect">
            <a:avLst/>
          </a:prstGeom>
          <a:noFill/>
          <a:ln/>
        </p:spPr>
        <p:txBody>
          <a:bodyPr wrap="square" lIns="0" tIns="0" rIns="0" bIns="0" rtlCol="0" anchor="ctr"/>
          <a:lstStyle/>
          <a:p>
            <a:pPr rtl="1" algn="ctr" indent="0" marL="0">
              <a:buNone/>
            </a:pPr>
            <a:r>
              <a:rPr lang="en-US" sz="950" dirty="0">
                <a:solidFill>
                  <a:srgbClr val="F4C77B"/>
                </a:solidFill>
                <a:latin typeface="Cairo" pitchFamily="34" charset="0"/>
                <a:ea typeface="Cairo" pitchFamily="34" charset="-122"/>
                <a:cs typeface="Cairo" pitchFamily="34" charset="-120"/>
              </a:rPr>
              <a:t>مدير صالة العرض</a:t>
            </a:r>
            <a:endParaRPr lang="en-US" sz="950" dirty="0"/>
          </a:p>
        </p:txBody>
      </p:sp>
      <p:sp>
        <p:nvSpPr>
          <p:cNvPr id="14" name="Shape 12"/>
          <p:cNvSpPr/>
          <p:nvPr/>
        </p:nvSpPr>
        <p:spPr>
          <a:xfrm>
            <a:off x="7354389" y="3840480"/>
            <a:ext cx="640080" cy="640080"/>
          </a:xfrm>
          <a:prstGeom prst="ellipse">
            <a:avLst/>
          </a:prstGeom>
          <a:solidFill>
            <a:srgbClr val="E8A33D"/>
          </a:solidFill>
          <a:ln w="38100">
            <a:solidFill>
              <a:srgbClr val="081827"/>
            </a:solidFill>
            <a:prstDash val="solid"/>
          </a:ln>
        </p:spPr>
      </p:sp>
      <p:sp>
        <p:nvSpPr>
          <p:cNvPr id="15" name="Text 13"/>
          <p:cNvSpPr/>
          <p:nvPr/>
        </p:nvSpPr>
        <p:spPr>
          <a:xfrm>
            <a:off x="7354389" y="3840480"/>
            <a:ext cx="640080" cy="640080"/>
          </a:xfrm>
          <a:prstGeom prst="rect">
            <a:avLst/>
          </a:prstGeom>
          <a:noFill/>
          <a:ln/>
        </p:spPr>
        <p:txBody>
          <a:bodyPr wrap="square" lIns="0" tIns="0" rIns="0" bIns="0" rtlCol="0" anchor="ctr"/>
          <a:lstStyle/>
          <a:p>
            <a:pPr algn="ctr" indent="0" marL="0">
              <a:buNone/>
            </a:pPr>
            <a:r>
              <a:rPr lang="en-US" sz="2200" b="1" dirty="0">
                <a:solidFill>
                  <a:srgbClr val="081827"/>
                </a:solidFill>
                <a:latin typeface="Cairo" pitchFamily="34" charset="0"/>
                <a:ea typeface="Cairo" pitchFamily="34" charset="-122"/>
                <a:cs typeface="Cairo" pitchFamily="34" charset="-120"/>
              </a:rPr>
              <a:t>3</a:t>
            </a:r>
            <a:endParaRPr lang="en-US" sz="2200" dirty="0"/>
          </a:p>
        </p:txBody>
      </p:sp>
      <p:sp>
        <p:nvSpPr>
          <p:cNvPr id="16" name="Text 14"/>
          <p:cNvSpPr/>
          <p:nvPr/>
        </p:nvSpPr>
        <p:spPr>
          <a:xfrm>
            <a:off x="6897189" y="3063240"/>
            <a:ext cx="1554480" cy="548640"/>
          </a:xfrm>
          <a:prstGeom prst="rect">
            <a:avLst/>
          </a:prstGeom>
          <a:noFill/>
          <a:ln/>
        </p:spPr>
        <p:txBody>
          <a:bodyPr wrap="square" lIns="0" tIns="0" rIns="0" bIns="0" rtlCol="0" anchor="ctr"/>
          <a:lstStyle/>
          <a:p>
            <a:pPr rtl="1" algn="ctr" indent="0" marL="0">
              <a:buNone/>
            </a:pPr>
            <a:r>
              <a:rPr lang="en-US" sz="1200" b="1" dirty="0">
                <a:solidFill>
                  <a:srgbClr val="FFFFFF"/>
                </a:solidFill>
                <a:latin typeface="Cairo" pitchFamily="34" charset="0"/>
                <a:ea typeface="Cairo" pitchFamily="34" charset="-122"/>
                <a:cs typeface="Cairo" pitchFamily="34" charset="-120"/>
              </a:rPr>
              <a:t>استلام المصنع</a:t>
            </a:r>
            <a:endParaRPr lang="en-US" sz="1200" dirty="0"/>
          </a:p>
        </p:txBody>
      </p:sp>
      <p:sp>
        <p:nvSpPr>
          <p:cNvPr id="17" name="Text 15"/>
          <p:cNvSpPr/>
          <p:nvPr/>
        </p:nvSpPr>
        <p:spPr>
          <a:xfrm>
            <a:off x="6897189" y="4617720"/>
            <a:ext cx="1554480" cy="548640"/>
          </a:xfrm>
          <a:prstGeom prst="rect">
            <a:avLst/>
          </a:prstGeom>
          <a:noFill/>
          <a:ln/>
        </p:spPr>
        <p:txBody>
          <a:bodyPr wrap="square" lIns="0" tIns="0" rIns="0" bIns="0" rtlCol="0" anchor="ctr"/>
          <a:lstStyle/>
          <a:p>
            <a:pPr rtl="1" algn="ctr" indent="0" marL="0">
              <a:buNone/>
            </a:pPr>
            <a:r>
              <a:rPr lang="en-US" sz="950" dirty="0">
                <a:solidFill>
                  <a:srgbClr val="F4C77B"/>
                </a:solidFill>
                <a:latin typeface="Cairo" pitchFamily="34" charset="0"/>
                <a:ea typeface="Cairo" pitchFamily="34" charset="-122"/>
                <a:cs typeface="Cairo" pitchFamily="34" charset="-120"/>
              </a:rPr>
              <a:t>مدير المصنع</a:t>
            </a:r>
            <a:endParaRPr lang="en-US" sz="950" dirty="0"/>
          </a:p>
        </p:txBody>
      </p:sp>
      <p:sp>
        <p:nvSpPr>
          <p:cNvPr id="18" name="Shape 16"/>
          <p:cNvSpPr/>
          <p:nvPr/>
        </p:nvSpPr>
        <p:spPr>
          <a:xfrm>
            <a:off x="5760720" y="3840480"/>
            <a:ext cx="640080" cy="640080"/>
          </a:xfrm>
          <a:prstGeom prst="ellipse">
            <a:avLst/>
          </a:prstGeom>
          <a:solidFill>
            <a:srgbClr val="E8A33D"/>
          </a:solidFill>
          <a:ln w="38100">
            <a:solidFill>
              <a:srgbClr val="081827"/>
            </a:solidFill>
            <a:prstDash val="solid"/>
          </a:ln>
        </p:spPr>
      </p:sp>
      <p:sp>
        <p:nvSpPr>
          <p:cNvPr id="19" name="Text 17"/>
          <p:cNvSpPr/>
          <p:nvPr/>
        </p:nvSpPr>
        <p:spPr>
          <a:xfrm>
            <a:off x="5760720" y="3840480"/>
            <a:ext cx="640080" cy="640080"/>
          </a:xfrm>
          <a:prstGeom prst="rect">
            <a:avLst/>
          </a:prstGeom>
          <a:noFill/>
          <a:ln/>
        </p:spPr>
        <p:txBody>
          <a:bodyPr wrap="square" lIns="0" tIns="0" rIns="0" bIns="0" rtlCol="0" anchor="ctr"/>
          <a:lstStyle/>
          <a:p>
            <a:pPr algn="ctr" indent="0" marL="0">
              <a:buNone/>
            </a:pPr>
            <a:r>
              <a:rPr lang="en-US" sz="2200" b="1" dirty="0">
                <a:solidFill>
                  <a:srgbClr val="081827"/>
                </a:solidFill>
                <a:latin typeface="Cairo" pitchFamily="34" charset="0"/>
                <a:ea typeface="Cairo" pitchFamily="34" charset="-122"/>
                <a:cs typeface="Cairo" pitchFamily="34" charset="-120"/>
              </a:rPr>
              <a:t>4</a:t>
            </a:r>
            <a:endParaRPr lang="en-US" sz="2200" dirty="0"/>
          </a:p>
        </p:txBody>
      </p:sp>
      <p:sp>
        <p:nvSpPr>
          <p:cNvPr id="20" name="Text 18"/>
          <p:cNvSpPr/>
          <p:nvPr/>
        </p:nvSpPr>
        <p:spPr>
          <a:xfrm>
            <a:off x="5303520" y="3063240"/>
            <a:ext cx="1554480" cy="548640"/>
          </a:xfrm>
          <a:prstGeom prst="rect">
            <a:avLst/>
          </a:prstGeom>
          <a:noFill/>
          <a:ln/>
        </p:spPr>
        <p:txBody>
          <a:bodyPr wrap="square" lIns="0" tIns="0" rIns="0" bIns="0" rtlCol="0" anchor="ctr"/>
          <a:lstStyle/>
          <a:p>
            <a:pPr rtl="1" algn="ctr" indent="0" marL="0">
              <a:buNone/>
            </a:pPr>
            <a:r>
              <a:rPr lang="en-US" sz="1200" b="1" dirty="0">
                <a:solidFill>
                  <a:srgbClr val="FFFFFF"/>
                </a:solidFill>
                <a:latin typeface="Cairo" pitchFamily="34" charset="0"/>
                <a:ea typeface="Cairo" pitchFamily="34" charset="-122"/>
                <a:cs typeface="Cairo" pitchFamily="34" charset="-120"/>
              </a:rPr>
              <a:t>توزيع الأقسام</a:t>
            </a:r>
            <a:endParaRPr lang="en-US" sz="1200" dirty="0"/>
          </a:p>
        </p:txBody>
      </p:sp>
      <p:sp>
        <p:nvSpPr>
          <p:cNvPr id="21" name="Text 19"/>
          <p:cNvSpPr/>
          <p:nvPr/>
        </p:nvSpPr>
        <p:spPr>
          <a:xfrm>
            <a:off x="5303520" y="4617720"/>
            <a:ext cx="1554480" cy="548640"/>
          </a:xfrm>
          <a:prstGeom prst="rect">
            <a:avLst/>
          </a:prstGeom>
          <a:noFill/>
          <a:ln/>
        </p:spPr>
        <p:txBody>
          <a:bodyPr wrap="square" lIns="0" tIns="0" rIns="0" bIns="0" rtlCol="0" anchor="ctr"/>
          <a:lstStyle/>
          <a:p>
            <a:pPr rtl="1" algn="ctr" indent="0" marL="0">
              <a:buNone/>
            </a:pPr>
            <a:r>
              <a:rPr lang="en-US" sz="950" dirty="0">
                <a:solidFill>
                  <a:srgbClr val="F4C77B"/>
                </a:solidFill>
                <a:latin typeface="Cairo" pitchFamily="34" charset="0"/>
                <a:ea typeface="Cairo" pitchFamily="34" charset="-122"/>
                <a:cs typeface="Cairo" pitchFamily="34" charset="-120"/>
              </a:rPr>
              <a:t>مدير المصنع</a:t>
            </a:r>
            <a:endParaRPr lang="en-US" sz="950" dirty="0"/>
          </a:p>
        </p:txBody>
      </p:sp>
      <p:sp>
        <p:nvSpPr>
          <p:cNvPr id="22" name="Shape 20"/>
          <p:cNvSpPr/>
          <p:nvPr/>
        </p:nvSpPr>
        <p:spPr>
          <a:xfrm>
            <a:off x="4167051" y="3840480"/>
            <a:ext cx="640080" cy="640080"/>
          </a:xfrm>
          <a:prstGeom prst="ellipse">
            <a:avLst/>
          </a:prstGeom>
          <a:solidFill>
            <a:srgbClr val="E8A33D"/>
          </a:solidFill>
          <a:ln w="38100">
            <a:solidFill>
              <a:srgbClr val="081827"/>
            </a:solidFill>
            <a:prstDash val="solid"/>
          </a:ln>
        </p:spPr>
      </p:sp>
      <p:sp>
        <p:nvSpPr>
          <p:cNvPr id="23" name="Text 21"/>
          <p:cNvSpPr/>
          <p:nvPr/>
        </p:nvSpPr>
        <p:spPr>
          <a:xfrm>
            <a:off x="4167051" y="3840480"/>
            <a:ext cx="640080" cy="640080"/>
          </a:xfrm>
          <a:prstGeom prst="rect">
            <a:avLst/>
          </a:prstGeom>
          <a:noFill/>
          <a:ln/>
        </p:spPr>
        <p:txBody>
          <a:bodyPr wrap="square" lIns="0" tIns="0" rIns="0" bIns="0" rtlCol="0" anchor="ctr"/>
          <a:lstStyle/>
          <a:p>
            <a:pPr algn="ctr" indent="0" marL="0">
              <a:buNone/>
            </a:pPr>
            <a:r>
              <a:rPr lang="en-US" sz="2200" b="1" dirty="0">
                <a:solidFill>
                  <a:srgbClr val="081827"/>
                </a:solidFill>
                <a:latin typeface="Cairo" pitchFamily="34" charset="0"/>
                <a:ea typeface="Cairo" pitchFamily="34" charset="-122"/>
                <a:cs typeface="Cairo" pitchFamily="34" charset="-120"/>
              </a:rPr>
              <a:t>5</a:t>
            </a:r>
            <a:endParaRPr lang="en-US" sz="2200" dirty="0"/>
          </a:p>
        </p:txBody>
      </p:sp>
      <p:sp>
        <p:nvSpPr>
          <p:cNvPr id="24" name="Text 22"/>
          <p:cNvSpPr/>
          <p:nvPr/>
        </p:nvSpPr>
        <p:spPr>
          <a:xfrm>
            <a:off x="3709851" y="3063240"/>
            <a:ext cx="1554480" cy="548640"/>
          </a:xfrm>
          <a:prstGeom prst="rect">
            <a:avLst/>
          </a:prstGeom>
          <a:noFill/>
          <a:ln/>
        </p:spPr>
        <p:txBody>
          <a:bodyPr wrap="square" lIns="0" tIns="0" rIns="0" bIns="0" rtlCol="0" anchor="ctr"/>
          <a:lstStyle/>
          <a:p>
            <a:pPr rtl="1" algn="ctr" indent="0" marL="0">
              <a:buNone/>
            </a:pPr>
            <a:r>
              <a:rPr lang="en-US" sz="1200" b="1" dirty="0">
                <a:solidFill>
                  <a:srgbClr val="FFFFFF"/>
                </a:solidFill>
                <a:latin typeface="Cairo" pitchFamily="34" charset="0"/>
                <a:ea typeface="Cairo" pitchFamily="34" charset="-122"/>
                <a:cs typeface="Cairo" pitchFamily="34" charset="-120"/>
              </a:rPr>
              <a:t>المشتريات والتصنيع</a:t>
            </a:r>
            <a:endParaRPr lang="en-US" sz="1200" dirty="0"/>
          </a:p>
        </p:txBody>
      </p:sp>
      <p:sp>
        <p:nvSpPr>
          <p:cNvPr id="25" name="Text 23"/>
          <p:cNvSpPr/>
          <p:nvPr/>
        </p:nvSpPr>
        <p:spPr>
          <a:xfrm>
            <a:off x="3709851" y="4617720"/>
            <a:ext cx="1554480" cy="548640"/>
          </a:xfrm>
          <a:prstGeom prst="rect">
            <a:avLst/>
          </a:prstGeom>
          <a:noFill/>
          <a:ln/>
        </p:spPr>
        <p:txBody>
          <a:bodyPr wrap="square" lIns="0" tIns="0" rIns="0" bIns="0" rtlCol="0" anchor="ctr"/>
          <a:lstStyle/>
          <a:p>
            <a:pPr rtl="1" algn="ctr" indent="0" marL="0">
              <a:buNone/>
            </a:pPr>
            <a:r>
              <a:rPr lang="en-US" sz="950" dirty="0">
                <a:solidFill>
                  <a:srgbClr val="F4C77B"/>
                </a:solidFill>
                <a:latin typeface="Cairo" pitchFamily="34" charset="0"/>
                <a:ea typeface="Cairo" pitchFamily="34" charset="-122"/>
                <a:cs typeface="Cairo" pitchFamily="34" charset="-120"/>
              </a:rPr>
              <a:t>المشتريات + الأقسام</a:t>
            </a:r>
            <a:endParaRPr lang="en-US" sz="950" dirty="0"/>
          </a:p>
        </p:txBody>
      </p:sp>
      <p:sp>
        <p:nvSpPr>
          <p:cNvPr id="26" name="Shape 24"/>
          <p:cNvSpPr/>
          <p:nvPr/>
        </p:nvSpPr>
        <p:spPr>
          <a:xfrm>
            <a:off x="2573383" y="3840480"/>
            <a:ext cx="640080" cy="640080"/>
          </a:xfrm>
          <a:prstGeom prst="ellipse">
            <a:avLst/>
          </a:prstGeom>
          <a:solidFill>
            <a:srgbClr val="E8A33D"/>
          </a:solidFill>
          <a:ln w="38100">
            <a:solidFill>
              <a:srgbClr val="081827"/>
            </a:solidFill>
            <a:prstDash val="solid"/>
          </a:ln>
        </p:spPr>
      </p:sp>
      <p:sp>
        <p:nvSpPr>
          <p:cNvPr id="27" name="Text 25"/>
          <p:cNvSpPr/>
          <p:nvPr/>
        </p:nvSpPr>
        <p:spPr>
          <a:xfrm>
            <a:off x="2573383" y="3840480"/>
            <a:ext cx="640080" cy="640080"/>
          </a:xfrm>
          <a:prstGeom prst="rect">
            <a:avLst/>
          </a:prstGeom>
          <a:noFill/>
          <a:ln/>
        </p:spPr>
        <p:txBody>
          <a:bodyPr wrap="square" lIns="0" tIns="0" rIns="0" bIns="0" rtlCol="0" anchor="ctr"/>
          <a:lstStyle/>
          <a:p>
            <a:pPr algn="ctr" indent="0" marL="0">
              <a:buNone/>
            </a:pPr>
            <a:r>
              <a:rPr lang="en-US" sz="2200" b="1" dirty="0">
                <a:solidFill>
                  <a:srgbClr val="081827"/>
                </a:solidFill>
                <a:latin typeface="Cairo" pitchFamily="34" charset="0"/>
                <a:ea typeface="Cairo" pitchFamily="34" charset="-122"/>
                <a:cs typeface="Cairo" pitchFamily="34" charset="-120"/>
              </a:rPr>
              <a:t>6</a:t>
            </a:r>
            <a:endParaRPr lang="en-US" sz="2200" dirty="0"/>
          </a:p>
        </p:txBody>
      </p:sp>
      <p:sp>
        <p:nvSpPr>
          <p:cNvPr id="28" name="Text 26"/>
          <p:cNvSpPr/>
          <p:nvPr/>
        </p:nvSpPr>
        <p:spPr>
          <a:xfrm>
            <a:off x="2116183" y="3063240"/>
            <a:ext cx="1554480" cy="548640"/>
          </a:xfrm>
          <a:prstGeom prst="rect">
            <a:avLst/>
          </a:prstGeom>
          <a:noFill/>
          <a:ln/>
        </p:spPr>
        <p:txBody>
          <a:bodyPr wrap="square" lIns="0" tIns="0" rIns="0" bIns="0" rtlCol="0" anchor="ctr"/>
          <a:lstStyle/>
          <a:p>
            <a:pPr rtl="1" algn="ctr" indent="0" marL="0">
              <a:buNone/>
            </a:pPr>
            <a:r>
              <a:rPr lang="en-US" sz="1200" b="1" dirty="0">
                <a:solidFill>
                  <a:srgbClr val="FFFFFF"/>
                </a:solidFill>
                <a:latin typeface="Cairo" pitchFamily="34" charset="0"/>
                <a:ea typeface="Cairo" pitchFamily="34" charset="-122"/>
                <a:cs typeface="Cairo" pitchFamily="34" charset="-120"/>
              </a:rPr>
              <a:t>فحص الجودة</a:t>
            </a:r>
            <a:endParaRPr lang="en-US" sz="1200" dirty="0"/>
          </a:p>
        </p:txBody>
      </p:sp>
      <p:sp>
        <p:nvSpPr>
          <p:cNvPr id="29" name="Text 27"/>
          <p:cNvSpPr/>
          <p:nvPr/>
        </p:nvSpPr>
        <p:spPr>
          <a:xfrm>
            <a:off x="2116183" y="4617720"/>
            <a:ext cx="1554480" cy="548640"/>
          </a:xfrm>
          <a:prstGeom prst="rect">
            <a:avLst/>
          </a:prstGeom>
          <a:noFill/>
          <a:ln/>
        </p:spPr>
        <p:txBody>
          <a:bodyPr wrap="square" lIns="0" tIns="0" rIns="0" bIns="0" rtlCol="0" anchor="ctr"/>
          <a:lstStyle/>
          <a:p>
            <a:pPr rtl="1" algn="ctr" indent="0" marL="0">
              <a:buNone/>
            </a:pPr>
            <a:r>
              <a:rPr lang="en-US" sz="950" dirty="0">
                <a:solidFill>
                  <a:srgbClr val="F4C77B"/>
                </a:solidFill>
                <a:latin typeface="Cairo" pitchFamily="34" charset="0"/>
                <a:ea typeface="Cairo" pitchFamily="34" charset="-122"/>
                <a:cs typeface="Cairo" pitchFamily="34" charset="-120"/>
              </a:rPr>
              <a:t>مدير الجودة</a:t>
            </a:r>
            <a:endParaRPr lang="en-US" sz="950" dirty="0"/>
          </a:p>
        </p:txBody>
      </p:sp>
      <p:sp>
        <p:nvSpPr>
          <p:cNvPr id="30" name="Shape 28"/>
          <p:cNvSpPr/>
          <p:nvPr/>
        </p:nvSpPr>
        <p:spPr>
          <a:xfrm>
            <a:off x="979714" y="3840480"/>
            <a:ext cx="640080" cy="640080"/>
          </a:xfrm>
          <a:prstGeom prst="ellipse">
            <a:avLst/>
          </a:prstGeom>
          <a:solidFill>
            <a:srgbClr val="E8A33D"/>
          </a:solidFill>
          <a:ln w="38100">
            <a:solidFill>
              <a:srgbClr val="081827"/>
            </a:solidFill>
            <a:prstDash val="solid"/>
          </a:ln>
        </p:spPr>
      </p:sp>
      <p:sp>
        <p:nvSpPr>
          <p:cNvPr id="31" name="Text 29"/>
          <p:cNvSpPr/>
          <p:nvPr/>
        </p:nvSpPr>
        <p:spPr>
          <a:xfrm>
            <a:off x="979714" y="3840480"/>
            <a:ext cx="640080" cy="640080"/>
          </a:xfrm>
          <a:prstGeom prst="rect">
            <a:avLst/>
          </a:prstGeom>
          <a:noFill/>
          <a:ln/>
        </p:spPr>
        <p:txBody>
          <a:bodyPr wrap="square" lIns="0" tIns="0" rIns="0" bIns="0" rtlCol="0" anchor="ctr"/>
          <a:lstStyle/>
          <a:p>
            <a:pPr algn="ctr" indent="0" marL="0">
              <a:buNone/>
            </a:pPr>
            <a:r>
              <a:rPr lang="en-US" sz="2200" b="1" dirty="0">
                <a:solidFill>
                  <a:srgbClr val="081827"/>
                </a:solidFill>
                <a:latin typeface="Cairo" pitchFamily="34" charset="0"/>
                <a:ea typeface="Cairo" pitchFamily="34" charset="-122"/>
                <a:cs typeface="Cairo" pitchFamily="34" charset="-120"/>
              </a:rPr>
              <a:t>7</a:t>
            </a:r>
            <a:endParaRPr lang="en-US" sz="2200" dirty="0"/>
          </a:p>
        </p:txBody>
      </p:sp>
      <p:sp>
        <p:nvSpPr>
          <p:cNvPr id="32" name="Text 30"/>
          <p:cNvSpPr/>
          <p:nvPr/>
        </p:nvSpPr>
        <p:spPr>
          <a:xfrm>
            <a:off x="522514" y="3063240"/>
            <a:ext cx="1554480" cy="548640"/>
          </a:xfrm>
          <a:prstGeom prst="rect">
            <a:avLst/>
          </a:prstGeom>
          <a:noFill/>
          <a:ln/>
        </p:spPr>
        <p:txBody>
          <a:bodyPr wrap="square" lIns="0" tIns="0" rIns="0" bIns="0" rtlCol="0" anchor="ctr"/>
          <a:lstStyle/>
          <a:p>
            <a:pPr rtl="1" algn="ctr" indent="0" marL="0">
              <a:buNone/>
            </a:pPr>
            <a:r>
              <a:rPr lang="en-US" sz="1200" b="1" dirty="0">
                <a:solidFill>
                  <a:srgbClr val="FFFFFF"/>
                </a:solidFill>
                <a:latin typeface="Cairo" pitchFamily="34" charset="0"/>
                <a:ea typeface="Cairo" pitchFamily="34" charset="-122"/>
                <a:cs typeface="Cairo" pitchFamily="34" charset="-120"/>
              </a:rPr>
              <a:t>التركيب والتسليم</a:t>
            </a:r>
            <a:endParaRPr lang="en-US" sz="1200" dirty="0"/>
          </a:p>
        </p:txBody>
      </p:sp>
      <p:sp>
        <p:nvSpPr>
          <p:cNvPr id="33" name="Text 31"/>
          <p:cNvSpPr/>
          <p:nvPr/>
        </p:nvSpPr>
        <p:spPr>
          <a:xfrm>
            <a:off x="522514" y="4617720"/>
            <a:ext cx="1554480" cy="548640"/>
          </a:xfrm>
          <a:prstGeom prst="rect">
            <a:avLst/>
          </a:prstGeom>
          <a:noFill/>
          <a:ln/>
        </p:spPr>
        <p:txBody>
          <a:bodyPr wrap="square" lIns="0" tIns="0" rIns="0" bIns="0" rtlCol="0" anchor="ctr"/>
          <a:lstStyle/>
          <a:p>
            <a:pPr rtl="1" algn="ctr" indent="0" marL="0">
              <a:buNone/>
            </a:pPr>
            <a:r>
              <a:rPr lang="en-US" sz="950" dirty="0">
                <a:solidFill>
                  <a:srgbClr val="F4C77B"/>
                </a:solidFill>
                <a:latin typeface="Cairo" pitchFamily="34" charset="0"/>
                <a:ea typeface="Cairo" pitchFamily="34" charset="-122"/>
                <a:cs typeface="Cairo" pitchFamily="34" charset="-120"/>
              </a:rPr>
              <a:t>مدير التركيب</a:t>
            </a:r>
            <a:endParaRPr lang="en-US" sz="950" dirty="0"/>
          </a:p>
        </p:txBody>
      </p:sp>
      <p:sp>
        <p:nvSpPr>
          <p:cNvPr id="34" name="Shape 32"/>
          <p:cNvSpPr/>
          <p:nvPr/>
        </p:nvSpPr>
        <p:spPr>
          <a:xfrm>
            <a:off x="6355080" y="5486400"/>
            <a:ext cx="5303520" cy="914400"/>
          </a:xfrm>
          <a:prstGeom prst="rect">
            <a:avLst/>
          </a:prstGeom>
          <a:solidFill>
            <a:srgbClr val="0F2A47"/>
          </a:solidFill>
          <a:ln w="19050">
            <a:solidFill>
              <a:srgbClr val="E8A33D"/>
            </a:solidFill>
            <a:prstDash val="solid"/>
          </a:ln>
        </p:spPr>
      </p:sp>
      <p:sp>
        <p:nvSpPr>
          <p:cNvPr id="35" name="Shape 33"/>
          <p:cNvSpPr/>
          <p:nvPr/>
        </p:nvSpPr>
        <p:spPr>
          <a:xfrm>
            <a:off x="11585448" y="5486400"/>
            <a:ext cx="73152" cy="914400"/>
          </a:xfrm>
          <a:prstGeom prst="rect">
            <a:avLst/>
          </a:prstGeom>
          <a:solidFill>
            <a:srgbClr val="E8A33D"/>
          </a:solidFill>
          <a:ln/>
        </p:spPr>
      </p:sp>
      <p:sp>
        <p:nvSpPr>
          <p:cNvPr id="36" name="Text 34"/>
          <p:cNvSpPr/>
          <p:nvPr/>
        </p:nvSpPr>
        <p:spPr>
          <a:xfrm>
            <a:off x="6537960" y="5623560"/>
            <a:ext cx="4937760" cy="365760"/>
          </a:xfrm>
          <a:prstGeom prst="rect">
            <a:avLst/>
          </a:prstGeom>
          <a:noFill/>
          <a:ln/>
        </p:spPr>
        <p:txBody>
          <a:bodyPr wrap="square" lIns="0" tIns="0" rIns="0" bIns="0" rtlCol="0" anchor="ctr"/>
          <a:lstStyle/>
          <a:p>
            <a:pPr rtl="1" algn="r" indent="0" marL="0">
              <a:buNone/>
            </a:pPr>
            <a:r>
              <a:rPr lang="en-US" sz="1600" b="1" dirty="0">
                <a:solidFill>
                  <a:srgbClr val="E8A33D"/>
                </a:solidFill>
                <a:latin typeface="Cairo" pitchFamily="34" charset="0"/>
                <a:ea typeface="Cairo" pitchFamily="34" charset="-122"/>
                <a:cs typeface="Cairo" pitchFamily="34" charset="-120"/>
              </a:rPr>
              <a:t>طلب مباشر</a:t>
            </a:r>
            <a:endParaRPr lang="en-US" sz="1600" dirty="0"/>
          </a:p>
        </p:txBody>
      </p:sp>
      <p:sp>
        <p:nvSpPr>
          <p:cNvPr id="37" name="Text 35"/>
          <p:cNvSpPr/>
          <p:nvPr/>
        </p:nvSpPr>
        <p:spPr>
          <a:xfrm>
            <a:off x="6537960" y="5989320"/>
            <a:ext cx="4937760" cy="365760"/>
          </a:xfrm>
          <a:prstGeom prst="rect">
            <a:avLst/>
          </a:prstGeom>
          <a:noFill/>
          <a:ln/>
        </p:spPr>
        <p:txBody>
          <a:bodyPr wrap="square" lIns="0" tIns="0" rIns="0" bIns="0" rtlCol="0" anchor="ctr"/>
          <a:lstStyle/>
          <a:p>
            <a:pPr rtl="1" algn="r" indent="0" marL="0">
              <a:buNone/>
            </a:pPr>
            <a:r>
              <a:rPr lang="en-US" sz="1200" dirty="0">
                <a:solidFill>
                  <a:srgbClr val="E2E8F0"/>
                </a:solidFill>
                <a:latin typeface="Cairo" pitchFamily="34" charset="0"/>
                <a:ea typeface="Cairo" pitchFamily="34" charset="-122"/>
                <a:cs typeface="Cairo" pitchFamily="34" charset="-120"/>
              </a:rPr>
              <a:t>ينتقل مباشرة من المبيعات إلى استلام المصنع</a:t>
            </a:r>
            <a:endParaRPr lang="en-US" sz="1200" dirty="0"/>
          </a:p>
        </p:txBody>
      </p:sp>
      <p:sp>
        <p:nvSpPr>
          <p:cNvPr id="38" name="Shape 36"/>
          <p:cNvSpPr/>
          <p:nvPr/>
        </p:nvSpPr>
        <p:spPr>
          <a:xfrm>
            <a:off x="502920" y="5486400"/>
            <a:ext cx="5303520" cy="914400"/>
          </a:xfrm>
          <a:prstGeom prst="rect">
            <a:avLst/>
          </a:prstGeom>
          <a:solidFill>
            <a:srgbClr val="0F2A47"/>
          </a:solidFill>
          <a:ln w="19050">
            <a:solidFill>
              <a:srgbClr val="10B981"/>
            </a:solidFill>
            <a:prstDash val="solid"/>
          </a:ln>
        </p:spPr>
      </p:sp>
      <p:sp>
        <p:nvSpPr>
          <p:cNvPr id="39" name="Shape 37"/>
          <p:cNvSpPr/>
          <p:nvPr/>
        </p:nvSpPr>
        <p:spPr>
          <a:xfrm>
            <a:off x="5733288" y="5486400"/>
            <a:ext cx="73152" cy="914400"/>
          </a:xfrm>
          <a:prstGeom prst="rect">
            <a:avLst/>
          </a:prstGeom>
          <a:solidFill>
            <a:srgbClr val="10B981"/>
          </a:solidFill>
          <a:ln/>
        </p:spPr>
      </p:sp>
      <p:sp>
        <p:nvSpPr>
          <p:cNvPr id="40" name="Text 38"/>
          <p:cNvSpPr/>
          <p:nvPr/>
        </p:nvSpPr>
        <p:spPr>
          <a:xfrm>
            <a:off x="685800" y="5623560"/>
            <a:ext cx="4937760" cy="365760"/>
          </a:xfrm>
          <a:prstGeom prst="rect">
            <a:avLst/>
          </a:prstGeom>
          <a:noFill/>
          <a:ln/>
        </p:spPr>
        <p:txBody>
          <a:bodyPr wrap="square" lIns="0" tIns="0" rIns="0" bIns="0" rtlCol="0" anchor="ctr"/>
          <a:lstStyle/>
          <a:p>
            <a:pPr rtl="1" algn="r" indent="0" marL="0">
              <a:buNone/>
            </a:pPr>
            <a:r>
              <a:rPr lang="en-US" sz="1600" b="1" dirty="0">
                <a:solidFill>
                  <a:srgbClr val="10B981"/>
                </a:solidFill>
                <a:latin typeface="Cairo" pitchFamily="34" charset="0"/>
                <a:ea typeface="Cairo" pitchFamily="34" charset="-122"/>
                <a:cs typeface="Cairo" pitchFamily="34" charset="-120"/>
              </a:rPr>
              <a:t>طلب غير مباشر</a:t>
            </a:r>
            <a:endParaRPr lang="en-US" sz="1600" dirty="0"/>
          </a:p>
        </p:txBody>
      </p:sp>
      <p:sp>
        <p:nvSpPr>
          <p:cNvPr id="41" name="Text 39"/>
          <p:cNvSpPr/>
          <p:nvPr/>
        </p:nvSpPr>
        <p:spPr>
          <a:xfrm>
            <a:off x="685800" y="5989320"/>
            <a:ext cx="4937760" cy="365760"/>
          </a:xfrm>
          <a:prstGeom prst="rect">
            <a:avLst/>
          </a:prstGeom>
          <a:noFill/>
          <a:ln/>
        </p:spPr>
        <p:txBody>
          <a:bodyPr wrap="square" lIns="0" tIns="0" rIns="0" bIns="0" rtlCol="0" anchor="ctr"/>
          <a:lstStyle/>
          <a:p>
            <a:pPr rtl="1" algn="r" indent="0" marL="0">
              <a:buNone/>
            </a:pPr>
            <a:r>
              <a:rPr lang="en-US" sz="1200" dirty="0">
                <a:solidFill>
                  <a:srgbClr val="E2E8F0"/>
                </a:solidFill>
                <a:latin typeface="Cairo" pitchFamily="34" charset="0"/>
                <a:ea typeface="Cairo" pitchFamily="34" charset="-122"/>
                <a:cs typeface="Cairo" pitchFamily="34" charset="-120"/>
              </a:rPr>
              <a:t>يمر عبر صالة العرض للمراجعة والاعتماد أولاً</a:t>
            </a:r>
            <a:endParaRPr lang="en-US" sz="1200" dirty="0"/>
          </a:p>
        </p:txBody>
      </p:sp>
      <p:sp>
        <p:nvSpPr>
          <p:cNvPr id="42" name="Text 40"/>
          <p:cNvSpPr/>
          <p:nvPr/>
        </p:nvSpPr>
        <p:spPr>
          <a:xfrm>
            <a:off x="11155680" y="6492240"/>
            <a:ext cx="822960" cy="274320"/>
          </a:xfrm>
          <a:prstGeom prst="rect">
            <a:avLst/>
          </a:prstGeom>
          <a:noFill/>
          <a:ln/>
        </p:spPr>
        <p:txBody>
          <a:bodyPr wrap="square" lIns="0" tIns="0" rIns="0" bIns="0" rtlCol="0" anchor="ctr"/>
          <a:lstStyle/>
          <a:p>
            <a:pPr algn="l" indent="0" marL="0">
              <a:buNone/>
            </a:pPr>
            <a:r>
              <a:rPr lang="en-US" sz="900" dirty="0">
                <a:solidFill>
                  <a:srgbClr val="94A3B8"/>
                </a:solidFill>
                <a:latin typeface="Cairo" pitchFamily="34" charset="0"/>
                <a:ea typeface="Cairo" pitchFamily="34" charset="-122"/>
                <a:cs typeface="Cairo" pitchFamily="34" charset="-120"/>
              </a:rPr>
              <a:t>6 / 12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47120" cy="365760"/>
          </a:xfrm>
          <a:prstGeom prst="rect">
            <a:avLst/>
          </a:prstGeom>
          <a:noFill/>
          <a:ln/>
        </p:spPr>
        <p:txBody>
          <a:bodyPr wrap="square" lIns="0" tIns="0" rIns="0" bIns="0" rtlCol="0" anchor="ctr"/>
          <a:lstStyle/>
          <a:p>
            <a:pPr rtl="1" algn="r" indent="0" marL="0">
              <a:buNone/>
            </a:pPr>
            <a:r>
              <a:rPr lang="en-US" sz="1300" b="1" dirty="0">
                <a:solidFill>
                  <a:srgbClr val="E8A33D"/>
                </a:solidFill>
                <a:latin typeface="Cairo" pitchFamily="34" charset="0"/>
                <a:ea typeface="Cairo" pitchFamily="34" charset="-122"/>
                <a:cs typeface="Cairo" pitchFamily="34" charset="-120"/>
              </a:rPr>
              <a:t>04 — الوحدات</a:t>
            </a:r>
            <a:endParaRPr lang="en-US" sz="1300" dirty="0"/>
          </a:p>
        </p:txBody>
      </p:sp>
      <p:sp>
        <p:nvSpPr>
          <p:cNvPr id="3" name="Text 1"/>
          <p:cNvSpPr/>
          <p:nvPr/>
        </p:nvSpPr>
        <p:spPr>
          <a:xfrm>
            <a:off x="457200" y="822960"/>
            <a:ext cx="11247120" cy="640080"/>
          </a:xfrm>
          <a:prstGeom prst="rect">
            <a:avLst/>
          </a:prstGeom>
          <a:noFill/>
          <a:ln/>
        </p:spPr>
        <p:txBody>
          <a:bodyPr wrap="square" lIns="0" tIns="0" rIns="0" bIns="0" rtlCol="0" anchor="ctr"/>
          <a:lstStyle/>
          <a:p>
            <a:pPr rtl="1" algn="r" indent="0" marL="0">
              <a:buNone/>
            </a:pPr>
            <a:r>
              <a:rPr lang="en-US" sz="3400" b="1" dirty="0">
                <a:solidFill>
                  <a:srgbClr val="0F2A47"/>
                </a:solidFill>
                <a:latin typeface="Cairo" pitchFamily="34" charset="0"/>
                <a:ea typeface="Cairo" pitchFamily="34" charset="-122"/>
                <a:cs typeface="Cairo" pitchFamily="34" charset="-120"/>
              </a:rPr>
              <a:t>هيكل الأدوار والصلاحيات</a:t>
            </a:r>
            <a:endParaRPr lang="en-US" sz="3400" dirty="0"/>
          </a:p>
        </p:txBody>
      </p:sp>
      <p:sp>
        <p:nvSpPr>
          <p:cNvPr id="4" name="Text 2"/>
          <p:cNvSpPr/>
          <p:nvPr/>
        </p:nvSpPr>
        <p:spPr>
          <a:xfrm>
            <a:off x="457200" y="1508760"/>
            <a:ext cx="11247120" cy="365760"/>
          </a:xfrm>
          <a:prstGeom prst="rect">
            <a:avLst/>
          </a:prstGeom>
          <a:noFill/>
          <a:ln/>
        </p:spPr>
        <p:txBody>
          <a:bodyPr wrap="square" lIns="0" tIns="0" rIns="0" bIns="0" rtlCol="0" anchor="ctr"/>
          <a:lstStyle/>
          <a:p>
            <a:pPr rtl="1" algn="r" indent="0" marL="0">
              <a:buNone/>
            </a:pPr>
            <a:r>
              <a:rPr lang="en-US" sz="1400" i="1" dirty="0">
                <a:solidFill>
                  <a:srgbClr val="475569"/>
                </a:solidFill>
                <a:latin typeface="Cairo" pitchFamily="34" charset="0"/>
                <a:ea typeface="Cairo" pitchFamily="34" charset="-122"/>
                <a:cs typeface="Cairo" pitchFamily="34" charset="-120"/>
              </a:rPr>
              <a:t>كل دور يرى ما يحتاجه فقط — حماية كاملة للبيانات الحساسة</a:t>
            </a:r>
            <a:endParaRPr lang="en-US" sz="1400" dirty="0"/>
          </a:p>
        </p:txBody>
      </p:sp>
      <p:sp>
        <p:nvSpPr>
          <p:cNvPr id="5" name="Shape 3"/>
          <p:cNvSpPr/>
          <p:nvPr/>
        </p:nvSpPr>
        <p:spPr>
          <a:xfrm>
            <a:off x="6263640" y="2103120"/>
            <a:ext cx="5486400" cy="548640"/>
          </a:xfrm>
          <a:prstGeom prst="rect">
            <a:avLst/>
          </a:prstGeom>
          <a:solidFill>
            <a:srgbClr val="FFFFFF"/>
          </a:solidFill>
          <a:ln w="6350">
            <a:solidFill>
              <a:srgbClr val="E2E8F0"/>
            </a:solidFill>
            <a:prstDash val="solid"/>
          </a:ln>
        </p:spPr>
      </p:sp>
      <p:sp>
        <p:nvSpPr>
          <p:cNvPr id="6" name="Shape 4"/>
          <p:cNvSpPr/>
          <p:nvPr/>
        </p:nvSpPr>
        <p:spPr>
          <a:xfrm>
            <a:off x="10835640" y="2103120"/>
            <a:ext cx="914400" cy="548640"/>
          </a:xfrm>
          <a:prstGeom prst="rect">
            <a:avLst/>
          </a:prstGeom>
          <a:solidFill>
            <a:srgbClr val="E8A33D"/>
          </a:solidFill>
          <a:ln/>
        </p:spPr>
      </p:sp>
      <p:sp>
        <p:nvSpPr>
          <p:cNvPr id="7" name="Text 5"/>
          <p:cNvSpPr/>
          <p:nvPr/>
        </p:nvSpPr>
        <p:spPr>
          <a:xfrm>
            <a:off x="10835640" y="2103120"/>
            <a:ext cx="914400" cy="548640"/>
          </a:xfrm>
          <a:prstGeom prst="rect">
            <a:avLst/>
          </a:prstGeom>
          <a:noFill/>
          <a:ln/>
        </p:spPr>
        <p:txBody>
          <a:bodyPr wrap="square" lIns="0" tIns="0" rIns="0" bIns="0" rtlCol="0" anchor="ctr"/>
          <a:lstStyle/>
          <a:p>
            <a:pPr rtl="1" algn="ctr" indent="0" marL="0">
              <a:buNone/>
            </a:pPr>
            <a:r>
              <a:rPr lang="en-US" sz="1200" b="1" dirty="0">
                <a:solidFill>
                  <a:srgbClr val="FFFFFF"/>
                </a:solidFill>
                <a:latin typeface="Cairo" pitchFamily="34" charset="0"/>
                <a:ea typeface="Cairo" pitchFamily="34" charset="-122"/>
                <a:cs typeface="Cairo" pitchFamily="34" charset="-120"/>
              </a:rPr>
              <a:t>عالي</a:t>
            </a:r>
            <a:endParaRPr lang="en-US" sz="1200" dirty="0"/>
          </a:p>
        </p:txBody>
      </p:sp>
      <p:sp>
        <p:nvSpPr>
          <p:cNvPr id="8" name="Text 6"/>
          <p:cNvSpPr/>
          <p:nvPr/>
        </p:nvSpPr>
        <p:spPr>
          <a:xfrm>
            <a:off x="6446520" y="2148840"/>
            <a:ext cx="4389120" cy="256032"/>
          </a:xfrm>
          <a:prstGeom prst="rect">
            <a:avLst/>
          </a:prstGeom>
          <a:noFill/>
          <a:ln/>
        </p:spPr>
        <p:txBody>
          <a:bodyPr wrap="square" lIns="0" tIns="0" rIns="0" bIns="0" rtlCol="0" anchor="ctr"/>
          <a:lstStyle/>
          <a:p>
            <a:pPr rtl="1" algn="r" indent="0" marL="0">
              <a:buNone/>
            </a:pPr>
            <a:r>
              <a:rPr lang="en-US" sz="1300" b="1" dirty="0">
                <a:solidFill>
                  <a:srgbClr val="0F2A47"/>
                </a:solidFill>
                <a:latin typeface="Cairo" pitchFamily="34" charset="0"/>
                <a:ea typeface="Cairo" pitchFamily="34" charset="-122"/>
                <a:cs typeface="Cairo" pitchFamily="34" charset="-120"/>
              </a:rPr>
              <a:t>المدير العام</a:t>
            </a:r>
            <a:endParaRPr lang="en-US" sz="1300" dirty="0"/>
          </a:p>
        </p:txBody>
      </p:sp>
      <p:sp>
        <p:nvSpPr>
          <p:cNvPr id="9" name="Text 7"/>
          <p:cNvSpPr/>
          <p:nvPr/>
        </p:nvSpPr>
        <p:spPr>
          <a:xfrm>
            <a:off x="6446520" y="2395728"/>
            <a:ext cx="4389120" cy="256032"/>
          </a:xfrm>
          <a:prstGeom prst="rect">
            <a:avLst/>
          </a:prstGeom>
          <a:noFill/>
          <a:ln/>
        </p:spPr>
        <p:txBody>
          <a:bodyPr wrap="square" lIns="0" tIns="0" rIns="0" bIns="0" rtlCol="0" anchor="ctr"/>
          <a:lstStyle/>
          <a:p>
            <a:pPr rtl="1" algn="r" indent="0" marL="0">
              <a:buNone/>
            </a:pPr>
            <a:r>
              <a:rPr lang="en-US" sz="1050" dirty="0">
                <a:solidFill>
                  <a:srgbClr val="475569"/>
                </a:solidFill>
                <a:latin typeface="Cairo" pitchFamily="34" charset="0"/>
                <a:ea typeface="Cairo" pitchFamily="34" charset="-122"/>
                <a:cs typeface="Cairo" pitchFamily="34" charset="-120"/>
              </a:rPr>
              <a:t>صلاحية كاملة لجميع أقسام النظام</a:t>
            </a:r>
            <a:endParaRPr lang="en-US" sz="1050" dirty="0"/>
          </a:p>
        </p:txBody>
      </p:sp>
      <p:sp>
        <p:nvSpPr>
          <p:cNvPr id="10" name="Shape 8"/>
          <p:cNvSpPr/>
          <p:nvPr/>
        </p:nvSpPr>
        <p:spPr>
          <a:xfrm>
            <a:off x="411480" y="2103120"/>
            <a:ext cx="5486400" cy="548640"/>
          </a:xfrm>
          <a:prstGeom prst="rect">
            <a:avLst/>
          </a:prstGeom>
          <a:solidFill>
            <a:srgbClr val="FFFFFF"/>
          </a:solidFill>
          <a:ln w="6350">
            <a:solidFill>
              <a:srgbClr val="E2E8F0"/>
            </a:solidFill>
            <a:prstDash val="solid"/>
          </a:ln>
        </p:spPr>
      </p:sp>
      <p:sp>
        <p:nvSpPr>
          <p:cNvPr id="11" name="Shape 9"/>
          <p:cNvSpPr/>
          <p:nvPr/>
        </p:nvSpPr>
        <p:spPr>
          <a:xfrm>
            <a:off x="4983480" y="2103120"/>
            <a:ext cx="914400" cy="548640"/>
          </a:xfrm>
          <a:prstGeom prst="rect">
            <a:avLst/>
          </a:prstGeom>
          <a:solidFill>
            <a:srgbClr val="E8A33D"/>
          </a:solidFill>
          <a:ln/>
        </p:spPr>
      </p:sp>
      <p:sp>
        <p:nvSpPr>
          <p:cNvPr id="12" name="Text 10"/>
          <p:cNvSpPr/>
          <p:nvPr/>
        </p:nvSpPr>
        <p:spPr>
          <a:xfrm>
            <a:off x="4983480" y="2103120"/>
            <a:ext cx="914400" cy="548640"/>
          </a:xfrm>
          <a:prstGeom prst="rect">
            <a:avLst/>
          </a:prstGeom>
          <a:noFill/>
          <a:ln/>
        </p:spPr>
        <p:txBody>
          <a:bodyPr wrap="square" lIns="0" tIns="0" rIns="0" bIns="0" rtlCol="0" anchor="ctr"/>
          <a:lstStyle/>
          <a:p>
            <a:pPr rtl="1" algn="ctr" indent="0" marL="0">
              <a:buNone/>
            </a:pPr>
            <a:r>
              <a:rPr lang="en-US" sz="1200" b="1" dirty="0">
                <a:solidFill>
                  <a:srgbClr val="FFFFFF"/>
                </a:solidFill>
                <a:latin typeface="Cairo" pitchFamily="34" charset="0"/>
                <a:ea typeface="Cairo" pitchFamily="34" charset="-122"/>
                <a:cs typeface="Cairo" pitchFamily="34" charset="-120"/>
              </a:rPr>
              <a:t>عالي</a:t>
            </a:r>
            <a:endParaRPr lang="en-US" sz="1200" dirty="0"/>
          </a:p>
        </p:txBody>
      </p:sp>
      <p:sp>
        <p:nvSpPr>
          <p:cNvPr id="13" name="Text 11"/>
          <p:cNvSpPr/>
          <p:nvPr/>
        </p:nvSpPr>
        <p:spPr>
          <a:xfrm>
            <a:off x="594360" y="2148840"/>
            <a:ext cx="4389120" cy="256032"/>
          </a:xfrm>
          <a:prstGeom prst="rect">
            <a:avLst/>
          </a:prstGeom>
          <a:noFill/>
          <a:ln/>
        </p:spPr>
        <p:txBody>
          <a:bodyPr wrap="square" lIns="0" tIns="0" rIns="0" bIns="0" rtlCol="0" anchor="ctr"/>
          <a:lstStyle/>
          <a:p>
            <a:pPr rtl="1" algn="r" indent="0" marL="0">
              <a:buNone/>
            </a:pPr>
            <a:r>
              <a:rPr lang="en-US" sz="1300" b="1" dirty="0">
                <a:solidFill>
                  <a:srgbClr val="0F2A47"/>
                </a:solidFill>
                <a:latin typeface="Cairo" pitchFamily="34" charset="0"/>
                <a:ea typeface="Cairo" pitchFamily="34" charset="-122"/>
                <a:cs typeface="Cairo" pitchFamily="34" charset="-120"/>
              </a:rPr>
              <a:t>مدير المصنع</a:t>
            </a:r>
            <a:endParaRPr lang="en-US" sz="1300" dirty="0"/>
          </a:p>
        </p:txBody>
      </p:sp>
      <p:sp>
        <p:nvSpPr>
          <p:cNvPr id="14" name="Text 12"/>
          <p:cNvSpPr/>
          <p:nvPr/>
        </p:nvSpPr>
        <p:spPr>
          <a:xfrm>
            <a:off x="594360" y="2395728"/>
            <a:ext cx="4389120" cy="256032"/>
          </a:xfrm>
          <a:prstGeom prst="rect">
            <a:avLst/>
          </a:prstGeom>
          <a:noFill/>
          <a:ln/>
        </p:spPr>
        <p:txBody>
          <a:bodyPr wrap="square" lIns="0" tIns="0" rIns="0" bIns="0" rtlCol="0" anchor="ctr"/>
          <a:lstStyle/>
          <a:p>
            <a:pPr rtl="1" algn="r" indent="0" marL="0">
              <a:buNone/>
            </a:pPr>
            <a:r>
              <a:rPr lang="en-US" sz="1050" dirty="0">
                <a:solidFill>
                  <a:srgbClr val="475569"/>
                </a:solidFill>
                <a:latin typeface="Cairo" pitchFamily="34" charset="0"/>
                <a:ea typeface="Cairo" pitchFamily="34" charset="-122"/>
                <a:cs typeface="Cairo" pitchFamily="34" charset="-120"/>
              </a:rPr>
              <a:t>إدارة عمليات المصنع وتوزيع الأقسام</a:t>
            </a:r>
            <a:endParaRPr lang="en-US" sz="1050" dirty="0"/>
          </a:p>
        </p:txBody>
      </p:sp>
      <p:sp>
        <p:nvSpPr>
          <p:cNvPr id="15" name="Shape 13"/>
          <p:cNvSpPr/>
          <p:nvPr/>
        </p:nvSpPr>
        <p:spPr>
          <a:xfrm>
            <a:off x="6263640" y="2761488"/>
            <a:ext cx="5486400" cy="548640"/>
          </a:xfrm>
          <a:prstGeom prst="rect">
            <a:avLst/>
          </a:prstGeom>
          <a:solidFill>
            <a:srgbClr val="FFFFFF"/>
          </a:solidFill>
          <a:ln w="6350">
            <a:solidFill>
              <a:srgbClr val="E2E8F0"/>
            </a:solidFill>
            <a:prstDash val="solid"/>
          </a:ln>
        </p:spPr>
      </p:sp>
      <p:sp>
        <p:nvSpPr>
          <p:cNvPr id="16" name="Shape 14"/>
          <p:cNvSpPr/>
          <p:nvPr/>
        </p:nvSpPr>
        <p:spPr>
          <a:xfrm>
            <a:off x="10835640" y="2761488"/>
            <a:ext cx="914400" cy="548640"/>
          </a:xfrm>
          <a:prstGeom prst="rect">
            <a:avLst/>
          </a:prstGeom>
          <a:solidFill>
            <a:srgbClr val="0F2A47"/>
          </a:solidFill>
          <a:ln/>
        </p:spPr>
      </p:sp>
      <p:sp>
        <p:nvSpPr>
          <p:cNvPr id="17" name="Text 15"/>
          <p:cNvSpPr/>
          <p:nvPr/>
        </p:nvSpPr>
        <p:spPr>
          <a:xfrm>
            <a:off x="10835640" y="2761488"/>
            <a:ext cx="914400" cy="548640"/>
          </a:xfrm>
          <a:prstGeom prst="rect">
            <a:avLst/>
          </a:prstGeom>
          <a:noFill/>
          <a:ln/>
        </p:spPr>
        <p:txBody>
          <a:bodyPr wrap="square" lIns="0" tIns="0" rIns="0" bIns="0" rtlCol="0" anchor="ctr"/>
          <a:lstStyle/>
          <a:p>
            <a:pPr rtl="1" algn="ctr" indent="0" marL="0">
              <a:buNone/>
            </a:pPr>
            <a:r>
              <a:rPr lang="en-US" sz="1200" b="1" dirty="0">
                <a:solidFill>
                  <a:srgbClr val="FFFFFF"/>
                </a:solidFill>
                <a:latin typeface="Cairo" pitchFamily="34" charset="0"/>
                <a:ea typeface="Cairo" pitchFamily="34" charset="-122"/>
                <a:cs typeface="Cairo" pitchFamily="34" charset="-120"/>
              </a:rPr>
              <a:t>متوسط</a:t>
            </a:r>
            <a:endParaRPr lang="en-US" sz="1200" dirty="0"/>
          </a:p>
        </p:txBody>
      </p:sp>
      <p:sp>
        <p:nvSpPr>
          <p:cNvPr id="18" name="Text 16"/>
          <p:cNvSpPr/>
          <p:nvPr/>
        </p:nvSpPr>
        <p:spPr>
          <a:xfrm>
            <a:off x="6446520" y="2807208"/>
            <a:ext cx="4389120" cy="256032"/>
          </a:xfrm>
          <a:prstGeom prst="rect">
            <a:avLst/>
          </a:prstGeom>
          <a:noFill/>
          <a:ln/>
        </p:spPr>
        <p:txBody>
          <a:bodyPr wrap="square" lIns="0" tIns="0" rIns="0" bIns="0" rtlCol="0" anchor="ctr"/>
          <a:lstStyle/>
          <a:p>
            <a:pPr rtl="1" algn="r" indent="0" marL="0">
              <a:buNone/>
            </a:pPr>
            <a:r>
              <a:rPr lang="en-US" sz="1300" b="1" dirty="0">
                <a:solidFill>
                  <a:srgbClr val="0F2A47"/>
                </a:solidFill>
                <a:latin typeface="Cairo" pitchFamily="34" charset="0"/>
                <a:ea typeface="Cairo" pitchFamily="34" charset="-122"/>
                <a:cs typeface="Cairo" pitchFamily="34" charset="-120"/>
              </a:rPr>
              <a:t>مدير صالة العرض</a:t>
            </a:r>
            <a:endParaRPr lang="en-US" sz="1300" dirty="0"/>
          </a:p>
        </p:txBody>
      </p:sp>
      <p:sp>
        <p:nvSpPr>
          <p:cNvPr id="19" name="Text 17"/>
          <p:cNvSpPr/>
          <p:nvPr/>
        </p:nvSpPr>
        <p:spPr>
          <a:xfrm>
            <a:off x="6446520" y="3054096"/>
            <a:ext cx="4389120" cy="256032"/>
          </a:xfrm>
          <a:prstGeom prst="rect">
            <a:avLst/>
          </a:prstGeom>
          <a:noFill/>
          <a:ln/>
        </p:spPr>
        <p:txBody>
          <a:bodyPr wrap="square" lIns="0" tIns="0" rIns="0" bIns="0" rtlCol="0" anchor="ctr"/>
          <a:lstStyle/>
          <a:p>
            <a:pPr rtl="1" algn="r" indent="0" marL="0">
              <a:buNone/>
            </a:pPr>
            <a:r>
              <a:rPr lang="en-US" sz="1050" dirty="0">
                <a:solidFill>
                  <a:srgbClr val="475569"/>
                </a:solidFill>
                <a:latin typeface="Cairo" pitchFamily="34" charset="0"/>
                <a:ea typeface="Cairo" pitchFamily="34" charset="-122"/>
                <a:cs typeface="Cairo" pitchFamily="34" charset="-120"/>
              </a:rPr>
              <a:t>مراجعة واعتماد الطلبات غير المباشرة</a:t>
            </a:r>
            <a:endParaRPr lang="en-US" sz="1050" dirty="0"/>
          </a:p>
        </p:txBody>
      </p:sp>
      <p:sp>
        <p:nvSpPr>
          <p:cNvPr id="20" name="Shape 18"/>
          <p:cNvSpPr/>
          <p:nvPr/>
        </p:nvSpPr>
        <p:spPr>
          <a:xfrm>
            <a:off x="411480" y="2761488"/>
            <a:ext cx="5486400" cy="548640"/>
          </a:xfrm>
          <a:prstGeom prst="rect">
            <a:avLst/>
          </a:prstGeom>
          <a:solidFill>
            <a:srgbClr val="FFFFFF"/>
          </a:solidFill>
          <a:ln w="6350">
            <a:solidFill>
              <a:srgbClr val="E2E8F0"/>
            </a:solidFill>
            <a:prstDash val="solid"/>
          </a:ln>
        </p:spPr>
      </p:sp>
      <p:sp>
        <p:nvSpPr>
          <p:cNvPr id="21" name="Shape 19"/>
          <p:cNvSpPr/>
          <p:nvPr/>
        </p:nvSpPr>
        <p:spPr>
          <a:xfrm>
            <a:off x="4983480" y="2761488"/>
            <a:ext cx="914400" cy="548640"/>
          </a:xfrm>
          <a:prstGeom prst="rect">
            <a:avLst/>
          </a:prstGeom>
          <a:solidFill>
            <a:srgbClr val="0F2A47"/>
          </a:solidFill>
          <a:ln/>
        </p:spPr>
      </p:sp>
      <p:sp>
        <p:nvSpPr>
          <p:cNvPr id="22" name="Text 20"/>
          <p:cNvSpPr/>
          <p:nvPr/>
        </p:nvSpPr>
        <p:spPr>
          <a:xfrm>
            <a:off x="4983480" y="2761488"/>
            <a:ext cx="914400" cy="548640"/>
          </a:xfrm>
          <a:prstGeom prst="rect">
            <a:avLst/>
          </a:prstGeom>
          <a:noFill/>
          <a:ln/>
        </p:spPr>
        <p:txBody>
          <a:bodyPr wrap="square" lIns="0" tIns="0" rIns="0" bIns="0" rtlCol="0" anchor="ctr"/>
          <a:lstStyle/>
          <a:p>
            <a:pPr rtl="1" algn="ctr" indent="0" marL="0">
              <a:buNone/>
            </a:pPr>
            <a:r>
              <a:rPr lang="en-US" sz="1200" b="1" dirty="0">
                <a:solidFill>
                  <a:srgbClr val="FFFFFF"/>
                </a:solidFill>
                <a:latin typeface="Cairo" pitchFamily="34" charset="0"/>
                <a:ea typeface="Cairo" pitchFamily="34" charset="-122"/>
                <a:cs typeface="Cairo" pitchFamily="34" charset="-120"/>
              </a:rPr>
              <a:t>متوسط</a:t>
            </a:r>
            <a:endParaRPr lang="en-US" sz="1200" dirty="0"/>
          </a:p>
        </p:txBody>
      </p:sp>
      <p:sp>
        <p:nvSpPr>
          <p:cNvPr id="23" name="Text 21"/>
          <p:cNvSpPr/>
          <p:nvPr/>
        </p:nvSpPr>
        <p:spPr>
          <a:xfrm>
            <a:off x="594360" y="2807208"/>
            <a:ext cx="4389120" cy="256032"/>
          </a:xfrm>
          <a:prstGeom prst="rect">
            <a:avLst/>
          </a:prstGeom>
          <a:noFill/>
          <a:ln/>
        </p:spPr>
        <p:txBody>
          <a:bodyPr wrap="square" lIns="0" tIns="0" rIns="0" bIns="0" rtlCol="0" anchor="ctr"/>
          <a:lstStyle/>
          <a:p>
            <a:pPr rtl="1" algn="r" indent="0" marL="0">
              <a:buNone/>
            </a:pPr>
            <a:r>
              <a:rPr lang="en-US" sz="1300" b="1" dirty="0">
                <a:solidFill>
                  <a:srgbClr val="0F2A47"/>
                </a:solidFill>
                <a:latin typeface="Cairo" pitchFamily="34" charset="0"/>
                <a:ea typeface="Cairo" pitchFamily="34" charset="-122"/>
                <a:cs typeface="Cairo" pitchFamily="34" charset="-120"/>
              </a:rPr>
              <a:t>مدير القسم</a:t>
            </a:r>
            <a:endParaRPr lang="en-US" sz="1300" dirty="0"/>
          </a:p>
        </p:txBody>
      </p:sp>
      <p:sp>
        <p:nvSpPr>
          <p:cNvPr id="24" name="Text 22"/>
          <p:cNvSpPr/>
          <p:nvPr/>
        </p:nvSpPr>
        <p:spPr>
          <a:xfrm>
            <a:off x="594360" y="3054096"/>
            <a:ext cx="4389120" cy="256032"/>
          </a:xfrm>
          <a:prstGeom prst="rect">
            <a:avLst/>
          </a:prstGeom>
          <a:noFill/>
          <a:ln/>
        </p:spPr>
        <p:txBody>
          <a:bodyPr wrap="square" lIns="0" tIns="0" rIns="0" bIns="0" rtlCol="0" anchor="ctr"/>
          <a:lstStyle/>
          <a:p>
            <a:pPr rtl="1" algn="r" indent="0" marL="0">
              <a:buNone/>
            </a:pPr>
            <a:r>
              <a:rPr lang="en-US" sz="1050" dirty="0">
                <a:solidFill>
                  <a:srgbClr val="475569"/>
                </a:solidFill>
                <a:latin typeface="Cairo" pitchFamily="34" charset="0"/>
                <a:ea typeface="Cairo" pitchFamily="34" charset="-122"/>
                <a:cs typeface="Cairo" pitchFamily="34" charset="-120"/>
              </a:rPr>
              <a:t>إدارة فريقه ومتابعة مهام قسمه فقط</a:t>
            </a:r>
            <a:endParaRPr lang="en-US" sz="1050" dirty="0"/>
          </a:p>
        </p:txBody>
      </p:sp>
      <p:sp>
        <p:nvSpPr>
          <p:cNvPr id="25" name="Shape 23"/>
          <p:cNvSpPr/>
          <p:nvPr/>
        </p:nvSpPr>
        <p:spPr>
          <a:xfrm>
            <a:off x="6263640" y="3419856"/>
            <a:ext cx="5486400" cy="548640"/>
          </a:xfrm>
          <a:prstGeom prst="rect">
            <a:avLst/>
          </a:prstGeom>
          <a:solidFill>
            <a:srgbClr val="FFFFFF"/>
          </a:solidFill>
          <a:ln w="6350">
            <a:solidFill>
              <a:srgbClr val="E2E8F0"/>
            </a:solidFill>
            <a:prstDash val="solid"/>
          </a:ln>
        </p:spPr>
      </p:sp>
      <p:sp>
        <p:nvSpPr>
          <p:cNvPr id="26" name="Shape 24"/>
          <p:cNvSpPr/>
          <p:nvPr/>
        </p:nvSpPr>
        <p:spPr>
          <a:xfrm>
            <a:off x="10835640" y="3419856"/>
            <a:ext cx="914400" cy="548640"/>
          </a:xfrm>
          <a:prstGeom prst="rect">
            <a:avLst/>
          </a:prstGeom>
          <a:solidFill>
            <a:srgbClr val="0F2A47"/>
          </a:solidFill>
          <a:ln/>
        </p:spPr>
      </p:sp>
      <p:sp>
        <p:nvSpPr>
          <p:cNvPr id="27" name="Text 25"/>
          <p:cNvSpPr/>
          <p:nvPr/>
        </p:nvSpPr>
        <p:spPr>
          <a:xfrm>
            <a:off x="10835640" y="3419856"/>
            <a:ext cx="914400" cy="548640"/>
          </a:xfrm>
          <a:prstGeom prst="rect">
            <a:avLst/>
          </a:prstGeom>
          <a:noFill/>
          <a:ln/>
        </p:spPr>
        <p:txBody>
          <a:bodyPr wrap="square" lIns="0" tIns="0" rIns="0" bIns="0" rtlCol="0" anchor="ctr"/>
          <a:lstStyle/>
          <a:p>
            <a:pPr rtl="1" algn="ctr" indent="0" marL="0">
              <a:buNone/>
            </a:pPr>
            <a:r>
              <a:rPr lang="en-US" sz="1200" b="1" dirty="0">
                <a:solidFill>
                  <a:srgbClr val="FFFFFF"/>
                </a:solidFill>
                <a:latin typeface="Cairo" pitchFamily="34" charset="0"/>
                <a:ea typeface="Cairo" pitchFamily="34" charset="-122"/>
                <a:cs typeface="Cairo" pitchFamily="34" charset="-120"/>
              </a:rPr>
              <a:t>متوسط</a:t>
            </a:r>
            <a:endParaRPr lang="en-US" sz="1200" dirty="0"/>
          </a:p>
        </p:txBody>
      </p:sp>
      <p:sp>
        <p:nvSpPr>
          <p:cNvPr id="28" name="Text 26"/>
          <p:cNvSpPr/>
          <p:nvPr/>
        </p:nvSpPr>
        <p:spPr>
          <a:xfrm>
            <a:off x="6446520" y="3465576"/>
            <a:ext cx="4389120" cy="256032"/>
          </a:xfrm>
          <a:prstGeom prst="rect">
            <a:avLst/>
          </a:prstGeom>
          <a:noFill/>
          <a:ln/>
        </p:spPr>
        <p:txBody>
          <a:bodyPr wrap="square" lIns="0" tIns="0" rIns="0" bIns="0" rtlCol="0" anchor="ctr"/>
          <a:lstStyle/>
          <a:p>
            <a:pPr rtl="1" algn="r" indent="0" marL="0">
              <a:buNone/>
            </a:pPr>
            <a:r>
              <a:rPr lang="en-US" sz="1300" b="1" dirty="0">
                <a:solidFill>
                  <a:srgbClr val="0F2A47"/>
                </a:solidFill>
                <a:latin typeface="Cairo" pitchFamily="34" charset="0"/>
                <a:ea typeface="Cairo" pitchFamily="34" charset="-122"/>
                <a:cs typeface="Cairo" pitchFamily="34" charset="-120"/>
              </a:rPr>
              <a:t>مدير الجودة</a:t>
            </a:r>
            <a:endParaRPr lang="en-US" sz="1300" dirty="0"/>
          </a:p>
        </p:txBody>
      </p:sp>
      <p:sp>
        <p:nvSpPr>
          <p:cNvPr id="29" name="Text 27"/>
          <p:cNvSpPr/>
          <p:nvPr/>
        </p:nvSpPr>
        <p:spPr>
          <a:xfrm>
            <a:off x="6446520" y="3712464"/>
            <a:ext cx="4389120" cy="256032"/>
          </a:xfrm>
          <a:prstGeom prst="rect">
            <a:avLst/>
          </a:prstGeom>
          <a:noFill/>
          <a:ln/>
        </p:spPr>
        <p:txBody>
          <a:bodyPr wrap="square" lIns="0" tIns="0" rIns="0" bIns="0" rtlCol="0" anchor="ctr"/>
          <a:lstStyle/>
          <a:p>
            <a:pPr rtl="1" algn="r" indent="0" marL="0">
              <a:buNone/>
            </a:pPr>
            <a:r>
              <a:rPr lang="en-US" sz="1050" dirty="0">
                <a:solidFill>
                  <a:srgbClr val="475569"/>
                </a:solidFill>
                <a:latin typeface="Cairo" pitchFamily="34" charset="0"/>
                <a:ea typeface="Cairo" pitchFamily="34" charset="-122"/>
                <a:cs typeface="Cairo" pitchFamily="34" charset="-120"/>
              </a:rPr>
              <a:t>فحص ومراجعة الجودة في كل المراحل</a:t>
            </a:r>
            <a:endParaRPr lang="en-US" sz="1050" dirty="0"/>
          </a:p>
        </p:txBody>
      </p:sp>
      <p:sp>
        <p:nvSpPr>
          <p:cNvPr id="30" name="Shape 28"/>
          <p:cNvSpPr/>
          <p:nvPr/>
        </p:nvSpPr>
        <p:spPr>
          <a:xfrm>
            <a:off x="411480" y="3419856"/>
            <a:ext cx="5486400" cy="548640"/>
          </a:xfrm>
          <a:prstGeom prst="rect">
            <a:avLst/>
          </a:prstGeom>
          <a:solidFill>
            <a:srgbClr val="FFFFFF"/>
          </a:solidFill>
          <a:ln w="6350">
            <a:solidFill>
              <a:srgbClr val="E2E8F0"/>
            </a:solidFill>
            <a:prstDash val="solid"/>
          </a:ln>
        </p:spPr>
      </p:sp>
      <p:sp>
        <p:nvSpPr>
          <p:cNvPr id="31" name="Shape 29"/>
          <p:cNvSpPr/>
          <p:nvPr/>
        </p:nvSpPr>
        <p:spPr>
          <a:xfrm>
            <a:off x="4983480" y="3419856"/>
            <a:ext cx="914400" cy="548640"/>
          </a:xfrm>
          <a:prstGeom prst="rect">
            <a:avLst/>
          </a:prstGeom>
          <a:solidFill>
            <a:srgbClr val="0F2A47"/>
          </a:solidFill>
          <a:ln/>
        </p:spPr>
      </p:sp>
      <p:sp>
        <p:nvSpPr>
          <p:cNvPr id="32" name="Text 30"/>
          <p:cNvSpPr/>
          <p:nvPr/>
        </p:nvSpPr>
        <p:spPr>
          <a:xfrm>
            <a:off x="4983480" y="3419856"/>
            <a:ext cx="914400" cy="548640"/>
          </a:xfrm>
          <a:prstGeom prst="rect">
            <a:avLst/>
          </a:prstGeom>
          <a:noFill/>
          <a:ln/>
        </p:spPr>
        <p:txBody>
          <a:bodyPr wrap="square" lIns="0" tIns="0" rIns="0" bIns="0" rtlCol="0" anchor="ctr"/>
          <a:lstStyle/>
          <a:p>
            <a:pPr rtl="1" algn="ctr" indent="0" marL="0">
              <a:buNone/>
            </a:pPr>
            <a:r>
              <a:rPr lang="en-US" sz="1200" b="1" dirty="0">
                <a:solidFill>
                  <a:srgbClr val="FFFFFF"/>
                </a:solidFill>
                <a:latin typeface="Cairo" pitchFamily="34" charset="0"/>
                <a:ea typeface="Cairo" pitchFamily="34" charset="-122"/>
                <a:cs typeface="Cairo" pitchFamily="34" charset="-120"/>
              </a:rPr>
              <a:t>متوسط</a:t>
            </a:r>
            <a:endParaRPr lang="en-US" sz="1200" dirty="0"/>
          </a:p>
        </p:txBody>
      </p:sp>
      <p:sp>
        <p:nvSpPr>
          <p:cNvPr id="33" name="Text 31"/>
          <p:cNvSpPr/>
          <p:nvPr/>
        </p:nvSpPr>
        <p:spPr>
          <a:xfrm>
            <a:off x="594360" y="3465576"/>
            <a:ext cx="4389120" cy="256032"/>
          </a:xfrm>
          <a:prstGeom prst="rect">
            <a:avLst/>
          </a:prstGeom>
          <a:noFill/>
          <a:ln/>
        </p:spPr>
        <p:txBody>
          <a:bodyPr wrap="square" lIns="0" tIns="0" rIns="0" bIns="0" rtlCol="0" anchor="ctr"/>
          <a:lstStyle/>
          <a:p>
            <a:pPr rtl="1" algn="r" indent="0" marL="0">
              <a:buNone/>
            </a:pPr>
            <a:r>
              <a:rPr lang="en-US" sz="1300" b="1" dirty="0">
                <a:solidFill>
                  <a:srgbClr val="0F2A47"/>
                </a:solidFill>
                <a:latin typeface="Cairo" pitchFamily="34" charset="0"/>
                <a:ea typeface="Cairo" pitchFamily="34" charset="-122"/>
                <a:cs typeface="Cairo" pitchFamily="34" charset="-120"/>
              </a:rPr>
              <a:t>مدير المشتريات</a:t>
            </a:r>
            <a:endParaRPr lang="en-US" sz="1300" dirty="0"/>
          </a:p>
        </p:txBody>
      </p:sp>
      <p:sp>
        <p:nvSpPr>
          <p:cNvPr id="34" name="Text 32"/>
          <p:cNvSpPr/>
          <p:nvPr/>
        </p:nvSpPr>
        <p:spPr>
          <a:xfrm>
            <a:off x="594360" y="3712464"/>
            <a:ext cx="4389120" cy="256032"/>
          </a:xfrm>
          <a:prstGeom prst="rect">
            <a:avLst/>
          </a:prstGeom>
          <a:noFill/>
          <a:ln/>
        </p:spPr>
        <p:txBody>
          <a:bodyPr wrap="square" lIns="0" tIns="0" rIns="0" bIns="0" rtlCol="0" anchor="ctr"/>
          <a:lstStyle/>
          <a:p>
            <a:pPr rtl="1" algn="r" indent="0" marL="0">
              <a:buNone/>
            </a:pPr>
            <a:r>
              <a:rPr lang="en-US" sz="1050" dirty="0">
                <a:solidFill>
                  <a:srgbClr val="475569"/>
                </a:solidFill>
                <a:latin typeface="Cairo" pitchFamily="34" charset="0"/>
                <a:ea typeface="Cairo" pitchFamily="34" charset="-122"/>
                <a:cs typeface="Cairo" pitchFamily="34" charset="-120"/>
              </a:rPr>
              <a:t>إدارة طلبات الشراء وتوفير المواد</a:t>
            </a:r>
            <a:endParaRPr lang="en-US" sz="1050" dirty="0"/>
          </a:p>
        </p:txBody>
      </p:sp>
      <p:sp>
        <p:nvSpPr>
          <p:cNvPr id="35" name="Shape 33"/>
          <p:cNvSpPr/>
          <p:nvPr/>
        </p:nvSpPr>
        <p:spPr>
          <a:xfrm>
            <a:off x="6263640" y="4078224"/>
            <a:ext cx="5486400" cy="548640"/>
          </a:xfrm>
          <a:prstGeom prst="rect">
            <a:avLst/>
          </a:prstGeom>
          <a:solidFill>
            <a:srgbClr val="FFFFFF"/>
          </a:solidFill>
          <a:ln w="6350">
            <a:solidFill>
              <a:srgbClr val="E2E8F0"/>
            </a:solidFill>
            <a:prstDash val="solid"/>
          </a:ln>
        </p:spPr>
      </p:sp>
      <p:sp>
        <p:nvSpPr>
          <p:cNvPr id="36" name="Shape 34"/>
          <p:cNvSpPr/>
          <p:nvPr/>
        </p:nvSpPr>
        <p:spPr>
          <a:xfrm>
            <a:off x="10835640" y="4078224"/>
            <a:ext cx="914400" cy="548640"/>
          </a:xfrm>
          <a:prstGeom prst="rect">
            <a:avLst/>
          </a:prstGeom>
          <a:solidFill>
            <a:srgbClr val="0F2A47"/>
          </a:solidFill>
          <a:ln/>
        </p:spPr>
      </p:sp>
      <p:sp>
        <p:nvSpPr>
          <p:cNvPr id="37" name="Text 35"/>
          <p:cNvSpPr/>
          <p:nvPr/>
        </p:nvSpPr>
        <p:spPr>
          <a:xfrm>
            <a:off x="10835640" y="4078224"/>
            <a:ext cx="914400" cy="548640"/>
          </a:xfrm>
          <a:prstGeom prst="rect">
            <a:avLst/>
          </a:prstGeom>
          <a:noFill/>
          <a:ln/>
        </p:spPr>
        <p:txBody>
          <a:bodyPr wrap="square" lIns="0" tIns="0" rIns="0" bIns="0" rtlCol="0" anchor="ctr"/>
          <a:lstStyle/>
          <a:p>
            <a:pPr rtl="1" algn="ctr" indent="0" marL="0">
              <a:buNone/>
            </a:pPr>
            <a:r>
              <a:rPr lang="en-US" sz="1200" b="1" dirty="0">
                <a:solidFill>
                  <a:srgbClr val="FFFFFF"/>
                </a:solidFill>
                <a:latin typeface="Cairo" pitchFamily="34" charset="0"/>
                <a:ea typeface="Cairo" pitchFamily="34" charset="-122"/>
                <a:cs typeface="Cairo" pitchFamily="34" charset="-120"/>
              </a:rPr>
              <a:t>متوسط</a:t>
            </a:r>
            <a:endParaRPr lang="en-US" sz="1200" dirty="0"/>
          </a:p>
        </p:txBody>
      </p:sp>
      <p:sp>
        <p:nvSpPr>
          <p:cNvPr id="38" name="Text 36"/>
          <p:cNvSpPr/>
          <p:nvPr/>
        </p:nvSpPr>
        <p:spPr>
          <a:xfrm>
            <a:off x="6446520" y="4123944"/>
            <a:ext cx="4389120" cy="256032"/>
          </a:xfrm>
          <a:prstGeom prst="rect">
            <a:avLst/>
          </a:prstGeom>
          <a:noFill/>
          <a:ln/>
        </p:spPr>
        <p:txBody>
          <a:bodyPr wrap="square" lIns="0" tIns="0" rIns="0" bIns="0" rtlCol="0" anchor="ctr"/>
          <a:lstStyle/>
          <a:p>
            <a:pPr rtl="1" algn="r" indent="0" marL="0">
              <a:buNone/>
            </a:pPr>
            <a:r>
              <a:rPr lang="en-US" sz="1300" b="1" dirty="0">
                <a:solidFill>
                  <a:srgbClr val="0F2A47"/>
                </a:solidFill>
                <a:latin typeface="Cairo" pitchFamily="34" charset="0"/>
                <a:ea typeface="Cairo" pitchFamily="34" charset="-122"/>
                <a:cs typeface="Cairo" pitchFamily="34" charset="-120"/>
              </a:rPr>
              <a:t>مدير التركيب</a:t>
            </a:r>
            <a:endParaRPr lang="en-US" sz="1300" dirty="0"/>
          </a:p>
        </p:txBody>
      </p:sp>
      <p:sp>
        <p:nvSpPr>
          <p:cNvPr id="39" name="Text 37"/>
          <p:cNvSpPr/>
          <p:nvPr/>
        </p:nvSpPr>
        <p:spPr>
          <a:xfrm>
            <a:off x="6446520" y="4370832"/>
            <a:ext cx="4389120" cy="256032"/>
          </a:xfrm>
          <a:prstGeom prst="rect">
            <a:avLst/>
          </a:prstGeom>
          <a:noFill/>
          <a:ln/>
        </p:spPr>
        <p:txBody>
          <a:bodyPr wrap="square" lIns="0" tIns="0" rIns="0" bIns="0" rtlCol="0" anchor="ctr"/>
          <a:lstStyle/>
          <a:p>
            <a:pPr rtl="1" algn="r" indent="0" marL="0">
              <a:buNone/>
            </a:pPr>
            <a:r>
              <a:rPr lang="en-US" sz="1050" dirty="0">
                <a:solidFill>
                  <a:srgbClr val="475569"/>
                </a:solidFill>
                <a:latin typeface="Cairo" pitchFamily="34" charset="0"/>
                <a:ea typeface="Cairo" pitchFamily="34" charset="-122"/>
                <a:cs typeface="Cairo" pitchFamily="34" charset="-120"/>
              </a:rPr>
              <a:t>متابعة أعمال التركيب في الموقع</a:t>
            </a:r>
            <a:endParaRPr lang="en-US" sz="1050" dirty="0"/>
          </a:p>
        </p:txBody>
      </p:sp>
      <p:sp>
        <p:nvSpPr>
          <p:cNvPr id="40" name="Shape 38"/>
          <p:cNvSpPr/>
          <p:nvPr/>
        </p:nvSpPr>
        <p:spPr>
          <a:xfrm>
            <a:off x="411480" y="4078224"/>
            <a:ext cx="5486400" cy="548640"/>
          </a:xfrm>
          <a:prstGeom prst="rect">
            <a:avLst/>
          </a:prstGeom>
          <a:solidFill>
            <a:srgbClr val="FFFFFF"/>
          </a:solidFill>
          <a:ln w="6350">
            <a:solidFill>
              <a:srgbClr val="E2E8F0"/>
            </a:solidFill>
            <a:prstDash val="solid"/>
          </a:ln>
        </p:spPr>
      </p:sp>
      <p:sp>
        <p:nvSpPr>
          <p:cNvPr id="41" name="Shape 39"/>
          <p:cNvSpPr/>
          <p:nvPr/>
        </p:nvSpPr>
        <p:spPr>
          <a:xfrm>
            <a:off x="4983480" y="4078224"/>
            <a:ext cx="914400" cy="548640"/>
          </a:xfrm>
          <a:prstGeom prst="rect">
            <a:avLst/>
          </a:prstGeom>
          <a:solidFill>
            <a:srgbClr val="94A3B8"/>
          </a:solidFill>
          <a:ln/>
        </p:spPr>
      </p:sp>
      <p:sp>
        <p:nvSpPr>
          <p:cNvPr id="42" name="Text 40"/>
          <p:cNvSpPr/>
          <p:nvPr/>
        </p:nvSpPr>
        <p:spPr>
          <a:xfrm>
            <a:off x="4983480" y="4078224"/>
            <a:ext cx="914400" cy="548640"/>
          </a:xfrm>
          <a:prstGeom prst="rect">
            <a:avLst/>
          </a:prstGeom>
          <a:noFill/>
          <a:ln/>
        </p:spPr>
        <p:txBody>
          <a:bodyPr wrap="square" lIns="0" tIns="0" rIns="0" bIns="0" rtlCol="0" anchor="ctr"/>
          <a:lstStyle/>
          <a:p>
            <a:pPr rtl="1" algn="ctr" indent="0" marL="0">
              <a:buNone/>
            </a:pPr>
            <a:r>
              <a:rPr lang="en-US" sz="1200" b="1" dirty="0">
                <a:solidFill>
                  <a:srgbClr val="FFFFFF"/>
                </a:solidFill>
                <a:latin typeface="Cairo" pitchFamily="34" charset="0"/>
                <a:ea typeface="Cairo" pitchFamily="34" charset="-122"/>
                <a:cs typeface="Cairo" pitchFamily="34" charset="-120"/>
              </a:rPr>
              <a:t>محدود</a:t>
            </a:r>
            <a:endParaRPr lang="en-US" sz="1200" dirty="0"/>
          </a:p>
        </p:txBody>
      </p:sp>
      <p:sp>
        <p:nvSpPr>
          <p:cNvPr id="43" name="Text 41"/>
          <p:cNvSpPr/>
          <p:nvPr/>
        </p:nvSpPr>
        <p:spPr>
          <a:xfrm>
            <a:off x="594360" y="4123944"/>
            <a:ext cx="4389120" cy="256032"/>
          </a:xfrm>
          <a:prstGeom prst="rect">
            <a:avLst/>
          </a:prstGeom>
          <a:noFill/>
          <a:ln/>
        </p:spPr>
        <p:txBody>
          <a:bodyPr wrap="square" lIns="0" tIns="0" rIns="0" bIns="0" rtlCol="0" anchor="ctr"/>
          <a:lstStyle/>
          <a:p>
            <a:pPr rtl="1" algn="r" indent="0" marL="0">
              <a:buNone/>
            </a:pPr>
            <a:r>
              <a:rPr lang="en-US" sz="1300" b="1" dirty="0">
                <a:solidFill>
                  <a:srgbClr val="0F2A47"/>
                </a:solidFill>
                <a:latin typeface="Cairo" pitchFamily="34" charset="0"/>
                <a:ea typeface="Cairo" pitchFamily="34" charset="-122"/>
                <a:cs typeface="Cairo" pitchFamily="34" charset="-120"/>
              </a:rPr>
              <a:t>فريق المبيعات</a:t>
            </a:r>
            <a:endParaRPr lang="en-US" sz="1300" dirty="0"/>
          </a:p>
        </p:txBody>
      </p:sp>
      <p:sp>
        <p:nvSpPr>
          <p:cNvPr id="44" name="Text 42"/>
          <p:cNvSpPr/>
          <p:nvPr/>
        </p:nvSpPr>
        <p:spPr>
          <a:xfrm>
            <a:off x="594360" y="4370832"/>
            <a:ext cx="4389120" cy="256032"/>
          </a:xfrm>
          <a:prstGeom prst="rect">
            <a:avLst/>
          </a:prstGeom>
          <a:noFill/>
          <a:ln/>
        </p:spPr>
        <p:txBody>
          <a:bodyPr wrap="square" lIns="0" tIns="0" rIns="0" bIns="0" rtlCol="0" anchor="ctr"/>
          <a:lstStyle/>
          <a:p>
            <a:pPr rtl="1" algn="r" indent="0" marL="0">
              <a:buNone/>
            </a:pPr>
            <a:r>
              <a:rPr lang="en-US" sz="1050" dirty="0">
                <a:solidFill>
                  <a:srgbClr val="475569"/>
                </a:solidFill>
                <a:latin typeface="Cairo" pitchFamily="34" charset="0"/>
                <a:ea typeface="Cairo" pitchFamily="34" charset="-122"/>
                <a:cs typeface="Cairo" pitchFamily="34" charset="-120"/>
              </a:rPr>
              <a:t>إنشاء الطلبات ومتابعة حالتها</a:t>
            </a:r>
            <a:endParaRPr lang="en-US" sz="1050" dirty="0"/>
          </a:p>
        </p:txBody>
      </p:sp>
      <p:sp>
        <p:nvSpPr>
          <p:cNvPr id="45" name="Shape 43"/>
          <p:cNvSpPr/>
          <p:nvPr/>
        </p:nvSpPr>
        <p:spPr>
          <a:xfrm>
            <a:off x="411480" y="5852160"/>
            <a:ext cx="11338560" cy="502920"/>
          </a:xfrm>
          <a:prstGeom prst="rect">
            <a:avLst/>
          </a:prstGeom>
          <a:solidFill>
            <a:srgbClr val="081827"/>
          </a:solidFill>
          <a:ln/>
        </p:spPr>
      </p:sp>
      <p:sp>
        <p:nvSpPr>
          <p:cNvPr id="46" name="Shape 44"/>
          <p:cNvSpPr/>
          <p:nvPr/>
        </p:nvSpPr>
        <p:spPr>
          <a:xfrm>
            <a:off x="11676888" y="5852160"/>
            <a:ext cx="73152" cy="502920"/>
          </a:xfrm>
          <a:prstGeom prst="rect">
            <a:avLst/>
          </a:prstGeom>
          <a:solidFill>
            <a:srgbClr val="E8A33D"/>
          </a:solidFill>
          <a:ln/>
        </p:spPr>
      </p:sp>
      <p:sp>
        <p:nvSpPr>
          <p:cNvPr id="47" name="Text 45"/>
          <p:cNvSpPr/>
          <p:nvPr/>
        </p:nvSpPr>
        <p:spPr>
          <a:xfrm>
            <a:off x="594360" y="5852160"/>
            <a:ext cx="10972800" cy="502920"/>
          </a:xfrm>
          <a:prstGeom prst="rect">
            <a:avLst/>
          </a:prstGeom>
          <a:noFill/>
          <a:ln/>
        </p:spPr>
        <p:txBody>
          <a:bodyPr wrap="square" lIns="0" tIns="0" rIns="0" bIns="0" rtlCol="0" anchor="ctr"/>
          <a:lstStyle/>
          <a:p>
            <a:pPr rtl="1" algn="r" indent="0" marL="0">
              <a:buNone/>
            </a:pPr>
            <a:r>
              <a:rPr lang="en-US" sz="1300" i="1" dirty="0">
                <a:solidFill>
                  <a:srgbClr val="F4C77B"/>
                </a:solidFill>
                <a:latin typeface="Cairo" pitchFamily="34" charset="0"/>
                <a:ea typeface="Cairo" pitchFamily="34" charset="-122"/>
                <a:cs typeface="Cairo" pitchFamily="34" charset="-120"/>
              </a:rPr>
              <a:t>كل موظف يدخل بحسابه ويرى فقط الطلبات والمهام المرتبطة بدوره — لا فوضى ولا تداخل صلاحيات</a:t>
            </a:r>
            <a:endParaRPr lang="en-US" sz="1300" dirty="0"/>
          </a:p>
        </p:txBody>
      </p:sp>
      <p:sp>
        <p:nvSpPr>
          <p:cNvPr id="48" name="Text 46"/>
          <p:cNvSpPr/>
          <p:nvPr/>
        </p:nvSpPr>
        <p:spPr>
          <a:xfrm>
            <a:off x="457200" y="6492240"/>
            <a:ext cx="5486400" cy="274320"/>
          </a:xfrm>
          <a:prstGeom prst="rect">
            <a:avLst/>
          </a:prstGeom>
          <a:noFill/>
          <a:ln/>
        </p:spPr>
        <p:txBody>
          <a:bodyPr wrap="square" lIns="0" tIns="0" rIns="0" bIns="0" rtlCol="0" anchor="ctr"/>
          <a:lstStyle/>
          <a:p>
            <a:pPr rtl="1" algn="r" indent="0" marL="0">
              <a:buNone/>
            </a:pPr>
            <a:r>
              <a:rPr lang="en-US" sz="900" dirty="0">
                <a:solidFill>
                  <a:srgbClr val="94A3B8"/>
                </a:solidFill>
                <a:latin typeface="Cairo" pitchFamily="34" charset="0"/>
                <a:ea typeface="Cairo" pitchFamily="34" charset="-122"/>
                <a:cs typeface="Cairo" pitchFamily="34" charset="-120"/>
              </a:rPr>
              <a:t>ModernLife — نظام إدارة التصنيع المتكامل</a:t>
            </a:r>
            <a:endParaRPr lang="en-US" sz="900" dirty="0"/>
          </a:p>
        </p:txBody>
      </p:sp>
      <p:sp>
        <p:nvSpPr>
          <p:cNvPr id="49" name="Text 47"/>
          <p:cNvSpPr/>
          <p:nvPr/>
        </p:nvSpPr>
        <p:spPr>
          <a:xfrm>
            <a:off x="11155680" y="6492240"/>
            <a:ext cx="822960" cy="274320"/>
          </a:xfrm>
          <a:prstGeom prst="rect">
            <a:avLst/>
          </a:prstGeom>
          <a:noFill/>
          <a:ln/>
        </p:spPr>
        <p:txBody>
          <a:bodyPr wrap="square" lIns="0" tIns="0" rIns="0" bIns="0" rtlCol="0" anchor="ctr"/>
          <a:lstStyle/>
          <a:p>
            <a:pPr algn="l" indent="0" marL="0">
              <a:buNone/>
            </a:pPr>
            <a:r>
              <a:rPr lang="en-US" sz="900" dirty="0">
                <a:solidFill>
                  <a:srgbClr val="94A3B8"/>
                </a:solidFill>
                <a:latin typeface="Cairo" pitchFamily="34" charset="0"/>
                <a:ea typeface="Cairo" pitchFamily="34" charset="-122"/>
                <a:cs typeface="Cairo" pitchFamily="34" charset="-120"/>
              </a:rPr>
              <a:t>7 / 12</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457200" y="457200"/>
            <a:ext cx="11247120" cy="365760"/>
          </a:xfrm>
          <a:prstGeom prst="rect">
            <a:avLst/>
          </a:prstGeom>
          <a:noFill/>
          <a:ln/>
        </p:spPr>
        <p:txBody>
          <a:bodyPr wrap="square" lIns="0" tIns="0" rIns="0" bIns="0" rtlCol="0" anchor="ctr"/>
          <a:lstStyle/>
          <a:p>
            <a:pPr rtl="1" algn="r" indent="0" marL="0">
              <a:buNone/>
            </a:pPr>
            <a:r>
              <a:rPr lang="en-US" sz="1300" b="1" dirty="0">
                <a:solidFill>
                  <a:srgbClr val="E8A33D"/>
                </a:solidFill>
                <a:latin typeface="Cairo" pitchFamily="34" charset="0"/>
                <a:ea typeface="Cairo" pitchFamily="34" charset="-122"/>
                <a:cs typeface="Cairo" pitchFamily="34" charset="-120"/>
              </a:rPr>
              <a:t>05 — العائد على الاستثمار</a:t>
            </a:r>
            <a:endParaRPr lang="en-US" sz="1300" dirty="0"/>
          </a:p>
        </p:txBody>
      </p:sp>
      <p:sp>
        <p:nvSpPr>
          <p:cNvPr id="3" name="Text 1"/>
          <p:cNvSpPr/>
          <p:nvPr/>
        </p:nvSpPr>
        <p:spPr>
          <a:xfrm>
            <a:off x="457200" y="822960"/>
            <a:ext cx="11247120" cy="640080"/>
          </a:xfrm>
          <a:prstGeom prst="rect">
            <a:avLst/>
          </a:prstGeom>
          <a:noFill/>
          <a:ln/>
        </p:spPr>
        <p:txBody>
          <a:bodyPr wrap="square" lIns="0" tIns="0" rIns="0" bIns="0" rtlCol="0" anchor="ctr"/>
          <a:lstStyle/>
          <a:p>
            <a:pPr rtl="1" algn="r" indent="0" marL="0">
              <a:buNone/>
            </a:pPr>
            <a:r>
              <a:rPr lang="en-US" sz="3400" b="1" dirty="0">
                <a:solidFill>
                  <a:srgbClr val="0F2A47"/>
                </a:solidFill>
                <a:latin typeface="Cairo" pitchFamily="34" charset="0"/>
                <a:ea typeface="Cairo" pitchFamily="34" charset="-122"/>
                <a:cs typeface="Cairo" pitchFamily="34" charset="-120"/>
              </a:rPr>
              <a:t>ماذا يعني هذا لمصنعك؟</a:t>
            </a:r>
            <a:endParaRPr lang="en-US" sz="3400" dirty="0"/>
          </a:p>
        </p:txBody>
      </p:sp>
      <p:sp>
        <p:nvSpPr>
          <p:cNvPr id="4" name="Text 2"/>
          <p:cNvSpPr/>
          <p:nvPr/>
        </p:nvSpPr>
        <p:spPr>
          <a:xfrm>
            <a:off x="457200" y="1508760"/>
            <a:ext cx="11247120" cy="365760"/>
          </a:xfrm>
          <a:prstGeom prst="rect">
            <a:avLst/>
          </a:prstGeom>
          <a:noFill/>
          <a:ln/>
        </p:spPr>
        <p:txBody>
          <a:bodyPr wrap="square" lIns="0" tIns="0" rIns="0" bIns="0" rtlCol="0" anchor="ctr"/>
          <a:lstStyle/>
          <a:p>
            <a:pPr rtl="1" algn="r" indent="0" marL="0">
              <a:buNone/>
            </a:pPr>
            <a:r>
              <a:rPr lang="en-US" sz="1400" i="1" dirty="0">
                <a:solidFill>
                  <a:srgbClr val="475569"/>
                </a:solidFill>
                <a:latin typeface="Cairo" pitchFamily="34" charset="0"/>
                <a:ea typeface="Cairo" pitchFamily="34" charset="-122"/>
                <a:cs typeface="Cairo" pitchFamily="34" charset="-120"/>
              </a:rPr>
              <a:t>نتائج عملية يحققها أصحاب المصانع بعد تطبيق النظام</a:t>
            </a:r>
            <a:endParaRPr lang="en-US" sz="1400" dirty="0"/>
          </a:p>
        </p:txBody>
      </p:sp>
      <p:sp>
        <p:nvSpPr>
          <p:cNvPr id="5" name="Shape 3"/>
          <p:cNvSpPr/>
          <p:nvPr/>
        </p:nvSpPr>
        <p:spPr>
          <a:xfrm>
            <a:off x="9052560" y="2057400"/>
            <a:ext cx="2743200" cy="1920240"/>
          </a:xfrm>
          <a:prstGeom prst="rect">
            <a:avLst/>
          </a:prstGeom>
          <a:solidFill>
            <a:srgbClr val="FFFFFF"/>
          </a:solidFill>
          <a:ln/>
          <a:effectLst>
            <a:outerShdw sx="100000" sy="100000" kx="0" ky="0" algn="bl" rotWithShape="0" blurRad="127000" dist="38100" dir="5400000">
              <a:srgbClr val="000000">
                <a:alpha val="8000"/>
              </a:srgbClr>
            </a:outerShdw>
          </a:effectLst>
        </p:spPr>
      </p:sp>
      <p:sp>
        <p:nvSpPr>
          <p:cNvPr id="6" name="Shape 4"/>
          <p:cNvSpPr/>
          <p:nvPr/>
        </p:nvSpPr>
        <p:spPr>
          <a:xfrm>
            <a:off x="9052560" y="2057400"/>
            <a:ext cx="2743200" cy="109728"/>
          </a:xfrm>
          <a:prstGeom prst="rect">
            <a:avLst/>
          </a:prstGeom>
          <a:solidFill>
            <a:srgbClr val="0F2A47"/>
          </a:solidFill>
          <a:ln/>
        </p:spPr>
      </p:sp>
      <p:sp>
        <p:nvSpPr>
          <p:cNvPr id="7" name="Text 5"/>
          <p:cNvSpPr/>
          <p:nvPr/>
        </p:nvSpPr>
        <p:spPr>
          <a:xfrm>
            <a:off x="9052560" y="2286000"/>
            <a:ext cx="2743200" cy="457200"/>
          </a:xfrm>
          <a:prstGeom prst="rect">
            <a:avLst/>
          </a:prstGeom>
          <a:noFill/>
          <a:ln/>
        </p:spPr>
        <p:txBody>
          <a:bodyPr wrap="square" lIns="0" tIns="0" rIns="0" bIns="0" rtlCol="0" anchor="ctr"/>
          <a:lstStyle/>
          <a:p>
            <a:pPr algn="ctr" indent="0" marL="0">
              <a:buNone/>
            </a:pPr>
            <a:r>
              <a:rPr lang="en-US" sz="2400" dirty="0">
                <a:solidFill>
                  <a:srgbClr val="E8A33D"/>
                </a:solidFill>
                <a:latin typeface="Arial" pitchFamily="34" charset="0"/>
                <a:ea typeface="Arial" pitchFamily="34" charset="-122"/>
                <a:cs typeface="Arial" pitchFamily="34" charset="-120"/>
              </a:rPr>
              <a:t>⏱</a:t>
            </a:r>
            <a:endParaRPr lang="en-US" sz="2400" dirty="0"/>
          </a:p>
        </p:txBody>
      </p:sp>
      <p:sp>
        <p:nvSpPr>
          <p:cNvPr id="8" name="Text 6"/>
          <p:cNvSpPr/>
          <p:nvPr/>
        </p:nvSpPr>
        <p:spPr>
          <a:xfrm>
            <a:off x="9052560" y="2697480"/>
            <a:ext cx="2743200" cy="731520"/>
          </a:xfrm>
          <a:prstGeom prst="rect">
            <a:avLst/>
          </a:prstGeom>
          <a:noFill/>
          <a:ln/>
        </p:spPr>
        <p:txBody>
          <a:bodyPr wrap="square" lIns="0" tIns="0" rIns="0" bIns="0" rtlCol="0" anchor="ctr"/>
          <a:lstStyle/>
          <a:p>
            <a:pPr algn="ctr" indent="0" marL="0">
              <a:buNone/>
            </a:pPr>
            <a:r>
              <a:rPr lang="en-US" sz="5000" b="1" dirty="0">
                <a:solidFill>
                  <a:srgbClr val="0F2A47"/>
                </a:solidFill>
                <a:latin typeface="Cairo" pitchFamily="34" charset="0"/>
                <a:ea typeface="Cairo" pitchFamily="34" charset="-122"/>
                <a:cs typeface="Cairo" pitchFamily="34" charset="-120"/>
              </a:rPr>
              <a:t>60%</a:t>
            </a:r>
            <a:endParaRPr lang="en-US" sz="5000" dirty="0"/>
          </a:p>
        </p:txBody>
      </p:sp>
      <p:sp>
        <p:nvSpPr>
          <p:cNvPr id="9" name="Text 7"/>
          <p:cNvSpPr/>
          <p:nvPr/>
        </p:nvSpPr>
        <p:spPr>
          <a:xfrm>
            <a:off x="9189720" y="3474720"/>
            <a:ext cx="2468880" cy="457200"/>
          </a:xfrm>
          <a:prstGeom prst="rect">
            <a:avLst/>
          </a:prstGeom>
          <a:noFill/>
          <a:ln/>
        </p:spPr>
        <p:txBody>
          <a:bodyPr wrap="square" lIns="0" tIns="0" rIns="0" bIns="0" rtlCol="0" anchor="ctr"/>
          <a:lstStyle/>
          <a:p>
            <a:pPr rtl="1" algn="ctr" indent="0" marL="0">
              <a:buNone/>
            </a:pPr>
            <a:r>
              <a:rPr lang="en-US" sz="1300" dirty="0">
                <a:solidFill>
                  <a:srgbClr val="475569"/>
                </a:solidFill>
                <a:latin typeface="Cairo" pitchFamily="34" charset="0"/>
                <a:ea typeface="Cairo" pitchFamily="34" charset="-122"/>
                <a:cs typeface="Cairo" pitchFamily="34" charset="-120"/>
              </a:rPr>
              <a:t>تقليل وقت دورة الإنتاج</a:t>
            </a:r>
            <a:endParaRPr lang="en-US" sz="1300" dirty="0"/>
          </a:p>
        </p:txBody>
      </p:sp>
      <p:sp>
        <p:nvSpPr>
          <p:cNvPr id="10" name="Shape 8"/>
          <p:cNvSpPr/>
          <p:nvPr/>
        </p:nvSpPr>
        <p:spPr>
          <a:xfrm>
            <a:off x="6172200" y="2057400"/>
            <a:ext cx="2743200" cy="1920240"/>
          </a:xfrm>
          <a:prstGeom prst="rect">
            <a:avLst/>
          </a:prstGeom>
          <a:solidFill>
            <a:srgbClr val="FFFFFF"/>
          </a:solidFill>
          <a:ln/>
          <a:effectLst>
            <a:outerShdw sx="100000" sy="100000" kx="0" ky="0" algn="bl" rotWithShape="0" blurRad="127000" dist="38100" dir="5400000">
              <a:srgbClr val="000000">
                <a:alpha val="8000"/>
              </a:srgbClr>
            </a:outerShdw>
          </a:effectLst>
        </p:spPr>
      </p:sp>
      <p:sp>
        <p:nvSpPr>
          <p:cNvPr id="11" name="Shape 9"/>
          <p:cNvSpPr/>
          <p:nvPr/>
        </p:nvSpPr>
        <p:spPr>
          <a:xfrm>
            <a:off x="6172200" y="2057400"/>
            <a:ext cx="2743200" cy="109728"/>
          </a:xfrm>
          <a:prstGeom prst="rect">
            <a:avLst/>
          </a:prstGeom>
          <a:solidFill>
            <a:srgbClr val="0F2A47"/>
          </a:solidFill>
          <a:ln/>
        </p:spPr>
      </p:sp>
      <p:sp>
        <p:nvSpPr>
          <p:cNvPr id="12" name="Text 10"/>
          <p:cNvSpPr/>
          <p:nvPr/>
        </p:nvSpPr>
        <p:spPr>
          <a:xfrm>
            <a:off x="6172200" y="2286000"/>
            <a:ext cx="2743200" cy="457200"/>
          </a:xfrm>
          <a:prstGeom prst="rect">
            <a:avLst/>
          </a:prstGeom>
          <a:noFill/>
          <a:ln/>
        </p:spPr>
        <p:txBody>
          <a:bodyPr wrap="square" lIns="0" tIns="0" rIns="0" bIns="0" rtlCol="0" anchor="ctr"/>
          <a:lstStyle/>
          <a:p>
            <a:pPr algn="ctr" indent="0" marL="0">
              <a:buNone/>
            </a:pPr>
            <a:r>
              <a:rPr lang="en-US" sz="2400" dirty="0">
                <a:solidFill>
                  <a:srgbClr val="E8A33D"/>
                </a:solidFill>
                <a:latin typeface="Arial" pitchFamily="34" charset="0"/>
                <a:ea typeface="Arial" pitchFamily="34" charset="-122"/>
                <a:cs typeface="Arial" pitchFamily="34" charset="-120"/>
              </a:rPr>
              <a:t>✓</a:t>
            </a:r>
            <a:endParaRPr lang="en-US" sz="2400" dirty="0"/>
          </a:p>
        </p:txBody>
      </p:sp>
      <p:sp>
        <p:nvSpPr>
          <p:cNvPr id="13" name="Text 11"/>
          <p:cNvSpPr/>
          <p:nvPr/>
        </p:nvSpPr>
        <p:spPr>
          <a:xfrm>
            <a:off x="6172200" y="2697480"/>
            <a:ext cx="2743200" cy="731520"/>
          </a:xfrm>
          <a:prstGeom prst="rect">
            <a:avLst/>
          </a:prstGeom>
          <a:noFill/>
          <a:ln/>
        </p:spPr>
        <p:txBody>
          <a:bodyPr wrap="square" lIns="0" tIns="0" rIns="0" bIns="0" rtlCol="0" anchor="ctr"/>
          <a:lstStyle/>
          <a:p>
            <a:pPr algn="ctr" indent="0" marL="0">
              <a:buNone/>
            </a:pPr>
            <a:r>
              <a:rPr lang="en-US" sz="5000" b="1" dirty="0">
                <a:solidFill>
                  <a:srgbClr val="0F2A47"/>
                </a:solidFill>
                <a:latin typeface="Cairo" pitchFamily="34" charset="0"/>
                <a:ea typeface="Cairo" pitchFamily="34" charset="-122"/>
                <a:cs typeface="Cairo" pitchFamily="34" charset="-120"/>
              </a:rPr>
              <a:t>75%</a:t>
            </a:r>
            <a:endParaRPr lang="en-US" sz="5000" dirty="0"/>
          </a:p>
        </p:txBody>
      </p:sp>
      <p:sp>
        <p:nvSpPr>
          <p:cNvPr id="14" name="Text 12"/>
          <p:cNvSpPr/>
          <p:nvPr/>
        </p:nvSpPr>
        <p:spPr>
          <a:xfrm>
            <a:off x="6309360" y="3474720"/>
            <a:ext cx="2468880" cy="457200"/>
          </a:xfrm>
          <a:prstGeom prst="rect">
            <a:avLst/>
          </a:prstGeom>
          <a:noFill/>
          <a:ln/>
        </p:spPr>
        <p:txBody>
          <a:bodyPr wrap="square" lIns="0" tIns="0" rIns="0" bIns="0" rtlCol="0" anchor="ctr"/>
          <a:lstStyle/>
          <a:p>
            <a:pPr rtl="1" algn="ctr" indent="0" marL="0">
              <a:buNone/>
            </a:pPr>
            <a:r>
              <a:rPr lang="en-US" sz="1300" dirty="0">
                <a:solidFill>
                  <a:srgbClr val="475569"/>
                </a:solidFill>
                <a:latin typeface="Cairo" pitchFamily="34" charset="0"/>
                <a:ea typeface="Cairo" pitchFamily="34" charset="-122"/>
                <a:cs typeface="Cairo" pitchFamily="34" charset="-120"/>
              </a:rPr>
              <a:t>خفض في الأخطاء التشغيلية</a:t>
            </a:r>
            <a:endParaRPr lang="en-US" sz="1300" dirty="0"/>
          </a:p>
        </p:txBody>
      </p:sp>
      <p:sp>
        <p:nvSpPr>
          <p:cNvPr id="15" name="Shape 13"/>
          <p:cNvSpPr/>
          <p:nvPr/>
        </p:nvSpPr>
        <p:spPr>
          <a:xfrm>
            <a:off x="3291840" y="2057400"/>
            <a:ext cx="2743200" cy="1920240"/>
          </a:xfrm>
          <a:prstGeom prst="rect">
            <a:avLst/>
          </a:prstGeom>
          <a:solidFill>
            <a:srgbClr val="FFFFFF"/>
          </a:solidFill>
          <a:ln/>
          <a:effectLst>
            <a:outerShdw sx="100000" sy="100000" kx="0" ky="0" algn="bl" rotWithShape="0" blurRad="127000" dist="38100" dir="5400000">
              <a:srgbClr val="000000">
                <a:alpha val="8000"/>
              </a:srgbClr>
            </a:outerShdw>
          </a:effectLst>
        </p:spPr>
      </p:sp>
      <p:sp>
        <p:nvSpPr>
          <p:cNvPr id="16" name="Shape 14"/>
          <p:cNvSpPr/>
          <p:nvPr/>
        </p:nvSpPr>
        <p:spPr>
          <a:xfrm>
            <a:off x="3291840" y="2057400"/>
            <a:ext cx="2743200" cy="109728"/>
          </a:xfrm>
          <a:prstGeom prst="rect">
            <a:avLst/>
          </a:prstGeom>
          <a:solidFill>
            <a:srgbClr val="0F2A47"/>
          </a:solidFill>
          <a:ln/>
        </p:spPr>
      </p:sp>
      <p:sp>
        <p:nvSpPr>
          <p:cNvPr id="17" name="Text 15"/>
          <p:cNvSpPr/>
          <p:nvPr/>
        </p:nvSpPr>
        <p:spPr>
          <a:xfrm>
            <a:off x="3291840" y="2286000"/>
            <a:ext cx="2743200" cy="457200"/>
          </a:xfrm>
          <a:prstGeom prst="rect">
            <a:avLst/>
          </a:prstGeom>
          <a:noFill/>
          <a:ln/>
        </p:spPr>
        <p:txBody>
          <a:bodyPr wrap="square" lIns="0" tIns="0" rIns="0" bIns="0" rtlCol="0" anchor="ctr"/>
          <a:lstStyle/>
          <a:p>
            <a:pPr algn="ctr" indent="0" marL="0">
              <a:buNone/>
            </a:pPr>
            <a:r>
              <a:rPr lang="en-US" sz="2400" dirty="0">
                <a:solidFill>
                  <a:srgbClr val="E8A33D"/>
                </a:solidFill>
                <a:latin typeface="Arial" pitchFamily="34" charset="0"/>
                <a:ea typeface="Arial" pitchFamily="34" charset="-122"/>
                <a:cs typeface="Arial" pitchFamily="34" charset="-120"/>
              </a:rPr>
              <a:t>👁</a:t>
            </a:r>
            <a:endParaRPr lang="en-US" sz="2400" dirty="0"/>
          </a:p>
        </p:txBody>
      </p:sp>
      <p:sp>
        <p:nvSpPr>
          <p:cNvPr id="18" name="Text 16"/>
          <p:cNvSpPr/>
          <p:nvPr/>
        </p:nvSpPr>
        <p:spPr>
          <a:xfrm>
            <a:off x="3291840" y="2697480"/>
            <a:ext cx="2743200" cy="731520"/>
          </a:xfrm>
          <a:prstGeom prst="rect">
            <a:avLst/>
          </a:prstGeom>
          <a:noFill/>
          <a:ln/>
        </p:spPr>
        <p:txBody>
          <a:bodyPr wrap="square" lIns="0" tIns="0" rIns="0" bIns="0" rtlCol="0" anchor="ctr"/>
          <a:lstStyle/>
          <a:p>
            <a:pPr algn="ctr" indent="0" marL="0">
              <a:buNone/>
            </a:pPr>
            <a:r>
              <a:rPr lang="en-US" sz="5000" b="1" dirty="0">
                <a:solidFill>
                  <a:srgbClr val="0F2A47"/>
                </a:solidFill>
                <a:latin typeface="Cairo" pitchFamily="34" charset="0"/>
                <a:ea typeface="Cairo" pitchFamily="34" charset="-122"/>
                <a:cs typeface="Cairo" pitchFamily="34" charset="-120"/>
              </a:rPr>
              <a:t>3×</a:t>
            </a:r>
            <a:endParaRPr lang="en-US" sz="5000" dirty="0"/>
          </a:p>
        </p:txBody>
      </p:sp>
      <p:sp>
        <p:nvSpPr>
          <p:cNvPr id="19" name="Text 17"/>
          <p:cNvSpPr/>
          <p:nvPr/>
        </p:nvSpPr>
        <p:spPr>
          <a:xfrm>
            <a:off x="3429000" y="3474720"/>
            <a:ext cx="2468880" cy="457200"/>
          </a:xfrm>
          <a:prstGeom prst="rect">
            <a:avLst/>
          </a:prstGeom>
          <a:noFill/>
          <a:ln/>
        </p:spPr>
        <p:txBody>
          <a:bodyPr wrap="square" lIns="0" tIns="0" rIns="0" bIns="0" rtlCol="0" anchor="ctr"/>
          <a:lstStyle/>
          <a:p>
            <a:pPr rtl="1" algn="ctr" indent="0" marL="0">
              <a:buNone/>
            </a:pPr>
            <a:r>
              <a:rPr lang="en-US" sz="1300" dirty="0">
                <a:solidFill>
                  <a:srgbClr val="475569"/>
                </a:solidFill>
                <a:latin typeface="Cairo" pitchFamily="34" charset="0"/>
                <a:ea typeface="Cairo" pitchFamily="34" charset="-122"/>
                <a:cs typeface="Cairo" pitchFamily="34" charset="-120"/>
              </a:rPr>
              <a:t>زيادة في الشفافية والمتابعة</a:t>
            </a:r>
            <a:endParaRPr lang="en-US" sz="1300" dirty="0"/>
          </a:p>
        </p:txBody>
      </p:sp>
      <p:sp>
        <p:nvSpPr>
          <p:cNvPr id="20" name="Shape 18"/>
          <p:cNvSpPr/>
          <p:nvPr/>
        </p:nvSpPr>
        <p:spPr>
          <a:xfrm>
            <a:off x="411480" y="2057400"/>
            <a:ext cx="2743200" cy="1920240"/>
          </a:xfrm>
          <a:prstGeom prst="rect">
            <a:avLst/>
          </a:prstGeom>
          <a:solidFill>
            <a:srgbClr val="FFFFFF"/>
          </a:solidFill>
          <a:ln/>
          <a:effectLst>
            <a:outerShdw sx="100000" sy="100000" kx="0" ky="0" algn="bl" rotWithShape="0" blurRad="127000" dist="38100" dir="5400000">
              <a:srgbClr val="000000">
                <a:alpha val="8000"/>
              </a:srgbClr>
            </a:outerShdw>
          </a:effectLst>
        </p:spPr>
      </p:sp>
      <p:sp>
        <p:nvSpPr>
          <p:cNvPr id="21" name="Shape 19"/>
          <p:cNvSpPr/>
          <p:nvPr/>
        </p:nvSpPr>
        <p:spPr>
          <a:xfrm>
            <a:off x="411480" y="2057400"/>
            <a:ext cx="2743200" cy="109728"/>
          </a:xfrm>
          <a:prstGeom prst="rect">
            <a:avLst/>
          </a:prstGeom>
          <a:solidFill>
            <a:srgbClr val="0F2A47"/>
          </a:solidFill>
          <a:ln/>
        </p:spPr>
      </p:sp>
      <p:sp>
        <p:nvSpPr>
          <p:cNvPr id="22" name="Text 20"/>
          <p:cNvSpPr/>
          <p:nvPr/>
        </p:nvSpPr>
        <p:spPr>
          <a:xfrm>
            <a:off x="411480" y="2286000"/>
            <a:ext cx="2743200" cy="457200"/>
          </a:xfrm>
          <a:prstGeom prst="rect">
            <a:avLst/>
          </a:prstGeom>
          <a:noFill/>
          <a:ln/>
        </p:spPr>
        <p:txBody>
          <a:bodyPr wrap="square" lIns="0" tIns="0" rIns="0" bIns="0" rtlCol="0" anchor="ctr"/>
          <a:lstStyle/>
          <a:p>
            <a:pPr algn="ctr" indent="0" marL="0">
              <a:buNone/>
            </a:pPr>
            <a:r>
              <a:rPr lang="en-US" sz="2400" dirty="0">
                <a:solidFill>
                  <a:srgbClr val="E8A33D"/>
                </a:solidFill>
                <a:latin typeface="Arial" pitchFamily="34" charset="0"/>
                <a:ea typeface="Arial" pitchFamily="34" charset="-122"/>
                <a:cs typeface="Arial" pitchFamily="34" charset="-120"/>
              </a:rPr>
              <a:t>📋</a:t>
            </a:r>
            <a:endParaRPr lang="en-US" sz="2400" dirty="0"/>
          </a:p>
        </p:txBody>
      </p:sp>
      <p:sp>
        <p:nvSpPr>
          <p:cNvPr id="23" name="Text 21"/>
          <p:cNvSpPr/>
          <p:nvPr/>
        </p:nvSpPr>
        <p:spPr>
          <a:xfrm>
            <a:off x="411480" y="2697480"/>
            <a:ext cx="2743200" cy="731520"/>
          </a:xfrm>
          <a:prstGeom prst="rect">
            <a:avLst/>
          </a:prstGeom>
          <a:noFill/>
          <a:ln/>
        </p:spPr>
        <p:txBody>
          <a:bodyPr wrap="square" lIns="0" tIns="0" rIns="0" bIns="0" rtlCol="0" anchor="ctr"/>
          <a:lstStyle/>
          <a:p>
            <a:pPr algn="ctr" indent="0" marL="0">
              <a:buNone/>
            </a:pPr>
            <a:r>
              <a:rPr lang="en-US" sz="5000" b="1" dirty="0">
                <a:solidFill>
                  <a:srgbClr val="0F2A47"/>
                </a:solidFill>
                <a:latin typeface="Cairo" pitchFamily="34" charset="0"/>
                <a:ea typeface="Cairo" pitchFamily="34" charset="-122"/>
                <a:cs typeface="Cairo" pitchFamily="34" charset="-120"/>
              </a:rPr>
              <a:t>100%</a:t>
            </a:r>
            <a:endParaRPr lang="en-US" sz="5000" dirty="0"/>
          </a:p>
        </p:txBody>
      </p:sp>
      <p:sp>
        <p:nvSpPr>
          <p:cNvPr id="24" name="Text 22"/>
          <p:cNvSpPr/>
          <p:nvPr/>
        </p:nvSpPr>
        <p:spPr>
          <a:xfrm>
            <a:off x="548640" y="3474720"/>
            <a:ext cx="2468880" cy="457200"/>
          </a:xfrm>
          <a:prstGeom prst="rect">
            <a:avLst/>
          </a:prstGeom>
          <a:noFill/>
          <a:ln/>
        </p:spPr>
        <p:txBody>
          <a:bodyPr wrap="square" lIns="0" tIns="0" rIns="0" bIns="0" rtlCol="0" anchor="ctr"/>
          <a:lstStyle/>
          <a:p>
            <a:pPr rtl="1" algn="ctr" indent="0" marL="0">
              <a:buNone/>
            </a:pPr>
            <a:r>
              <a:rPr lang="en-US" sz="1300" dirty="0">
                <a:solidFill>
                  <a:srgbClr val="475569"/>
                </a:solidFill>
                <a:latin typeface="Cairo" pitchFamily="34" charset="0"/>
                <a:ea typeface="Cairo" pitchFamily="34" charset="-122"/>
                <a:cs typeface="Cairo" pitchFamily="34" charset="-120"/>
              </a:rPr>
              <a:t>توثيق رقمي لكل خطوة</a:t>
            </a:r>
            <a:endParaRPr lang="en-US" sz="1300" dirty="0"/>
          </a:p>
        </p:txBody>
      </p:sp>
      <p:sp>
        <p:nvSpPr>
          <p:cNvPr id="25" name="Text 23"/>
          <p:cNvSpPr/>
          <p:nvPr/>
        </p:nvSpPr>
        <p:spPr>
          <a:xfrm>
            <a:off x="457200" y="4206240"/>
            <a:ext cx="11247120" cy="365760"/>
          </a:xfrm>
          <a:prstGeom prst="rect">
            <a:avLst/>
          </a:prstGeom>
          <a:noFill/>
          <a:ln/>
        </p:spPr>
        <p:txBody>
          <a:bodyPr wrap="square" lIns="0" tIns="0" rIns="0" bIns="0" rtlCol="0" anchor="ctr"/>
          <a:lstStyle/>
          <a:p>
            <a:pPr rtl="1" algn="r" indent="0" marL="0">
              <a:buNone/>
            </a:pPr>
            <a:r>
              <a:rPr lang="en-US" sz="1800" b="1" dirty="0">
                <a:solidFill>
                  <a:srgbClr val="0F2A47"/>
                </a:solidFill>
                <a:latin typeface="Cairo" pitchFamily="34" charset="0"/>
                <a:ea typeface="Cairo" pitchFamily="34" charset="-122"/>
                <a:cs typeface="Cairo" pitchFamily="34" charset="-120"/>
              </a:rPr>
              <a:t>فوائد ملموسة لصاحب المصنع</a:t>
            </a:r>
            <a:endParaRPr lang="en-US" sz="1800" dirty="0"/>
          </a:p>
        </p:txBody>
      </p:sp>
      <p:sp>
        <p:nvSpPr>
          <p:cNvPr id="26" name="Shape 24"/>
          <p:cNvSpPr/>
          <p:nvPr/>
        </p:nvSpPr>
        <p:spPr>
          <a:xfrm>
            <a:off x="8001000" y="4709160"/>
            <a:ext cx="3657600" cy="1371600"/>
          </a:xfrm>
          <a:prstGeom prst="rect">
            <a:avLst/>
          </a:prstGeom>
          <a:solidFill>
            <a:srgbClr val="0F2A47"/>
          </a:solidFill>
          <a:ln/>
        </p:spPr>
      </p:sp>
      <p:sp>
        <p:nvSpPr>
          <p:cNvPr id="27" name="Shape 25"/>
          <p:cNvSpPr/>
          <p:nvPr/>
        </p:nvSpPr>
        <p:spPr>
          <a:xfrm>
            <a:off x="11585448" y="4709160"/>
            <a:ext cx="73152" cy="1371600"/>
          </a:xfrm>
          <a:prstGeom prst="rect">
            <a:avLst/>
          </a:prstGeom>
          <a:solidFill>
            <a:srgbClr val="E8A33D"/>
          </a:solidFill>
          <a:ln/>
        </p:spPr>
      </p:sp>
      <p:sp>
        <p:nvSpPr>
          <p:cNvPr id="28" name="Text 26"/>
          <p:cNvSpPr/>
          <p:nvPr/>
        </p:nvSpPr>
        <p:spPr>
          <a:xfrm>
            <a:off x="8183880" y="4892040"/>
            <a:ext cx="3291840" cy="411480"/>
          </a:xfrm>
          <a:prstGeom prst="rect">
            <a:avLst/>
          </a:prstGeom>
          <a:noFill/>
          <a:ln/>
        </p:spPr>
        <p:txBody>
          <a:bodyPr wrap="square" lIns="0" tIns="0" rIns="0" bIns="0" rtlCol="0" anchor="ctr"/>
          <a:lstStyle/>
          <a:p>
            <a:pPr rtl="1" algn="r" indent="0" marL="0">
              <a:buNone/>
            </a:pPr>
            <a:r>
              <a:rPr lang="en-US" sz="1700" b="1" dirty="0">
                <a:solidFill>
                  <a:srgbClr val="E8A33D"/>
                </a:solidFill>
                <a:latin typeface="Cairo" pitchFamily="34" charset="0"/>
                <a:ea typeface="Cairo" pitchFamily="34" charset="-122"/>
                <a:cs typeface="Cairo" pitchFamily="34" charset="-120"/>
              </a:rPr>
              <a:t>توفير في التكلفة</a:t>
            </a:r>
            <a:endParaRPr lang="en-US" sz="1700" dirty="0"/>
          </a:p>
        </p:txBody>
      </p:sp>
      <p:sp>
        <p:nvSpPr>
          <p:cNvPr id="29" name="Text 27"/>
          <p:cNvSpPr/>
          <p:nvPr/>
        </p:nvSpPr>
        <p:spPr>
          <a:xfrm>
            <a:off x="8183880" y="5349240"/>
            <a:ext cx="3291840" cy="640080"/>
          </a:xfrm>
          <a:prstGeom prst="rect">
            <a:avLst/>
          </a:prstGeom>
          <a:noFill/>
          <a:ln/>
        </p:spPr>
        <p:txBody>
          <a:bodyPr wrap="square" lIns="0" tIns="0" rIns="0" bIns="0" rtlCol="0" anchor="ctr"/>
          <a:lstStyle/>
          <a:p>
            <a:pPr rtl="1" algn="r" indent="0" marL="0">
              <a:buNone/>
            </a:pPr>
            <a:r>
              <a:rPr lang="en-US" sz="1300" dirty="0">
                <a:solidFill>
                  <a:srgbClr val="E2E8F0"/>
                </a:solidFill>
                <a:latin typeface="Cairo" pitchFamily="34" charset="0"/>
                <a:ea typeface="Cairo" pitchFamily="34" charset="-122"/>
                <a:cs typeface="Cairo" pitchFamily="34" charset="-120"/>
              </a:rPr>
              <a:t>تقليل الفاقد والأخطاء والمراجعات المكررة</a:t>
            </a:r>
            <a:endParaRPr lang="en-US" sz="1300" dirty="0"/>
          </a:p>
        </p:txBody>
      </p:sp>
      <p:sp>
        <p:nvSpPr>
          <p:cNvPr id="30" name="Shape 28"/>
          <p:cNvSpPr/>
          <p:nvPr/>
        </p:nvSpPr>
        <p:spPr>
          <a:xfrm>
            <a:off x="4206240" y="4709160"/>
            <a:ext cx="3657600" cy="1371600"/>
          </a:xfrm>
          <a:prstGeom prst="rect">
            <a:avLst/>
          </a:prstGeom>
          <a:solidFill>
            <a:srgbClr val="0F2A47"/>
          </a:solidFill>
          <a:ln/>
        </p:spPr>
      </p:sp>
      <p:sp>
        <p:nvSpPr>
          <p:cNvPr id="31" name="Shape 29"/>
          <p:cNvSpPr/>
          <p:nvPr/>
        </p:nvSpPr>
        <p:spPr>
          <a:xfrm>
            <a:off x="7790688" y="4709160"/>
            <a:ext cx="73152" cy="1371600"/>
          </a:xfrm>
          <a:prstGeom prst="rect">
            <a:avLst/>
          </a:prstGeom>
          <a:solidFill>
            <a:srgbClr val="E8A33D"/>
          </a:solidFill>
          <a:ln/>
        </p:spPr>
      </p:sp>
      <p:sp>
        <p:nvSpPr>
          <p:cNvPr id="32" name="Text 30"/>
          <p:cNvSpPr/>
          <p:nvPr/>
        </p:nvSpPr>
        <p:spPr>
          <a:xfrm>
            <a:off x="4389120" y="4892040"/>
            <a:ext cx="3291840" cy="411480"/>
          </a:xfrm>
          <a:prstGeom prst="rect">
            <a:avLst/>
          </a:prstGeom>
          <a:noFill/>
          <a:ln/>
        </p:spPr>
        <p:txBody>
          <a:bodyPr wrap="square" lIns="0" tIns="0" rIns="0" bIns="0" rtlCol="0" anchor="ctr"/>
          <a:lstStyle/>
          <a:p>
            <a:pPr rtl="1" algn="r" indent="0" marL="0">
              <a:buNone/>
            </a:pPr>
            <a:r>
              <a:rPr lang="en-US" sz="1700" b="1" dirty="0">
                <a:solidFill>
                  <a:srgbClr val="E8A33D"/>
                </a:solidFill>
                <a:latin typeface="Cairo" pitchFamily="34" charset="0"/>
                <a:ea typeface="Cairo" pitchFamily="34" charset="-122"/>
                <a:cs typeface="Cairo" pitchFamily="34" charset="-120"/>
              </a:rPr>
              <a:t>سرعة في التنفيذ</a:t>
            </a:r>
            <a:endParaRPr lang="en-US" sz="1700" dirty="0"/>
          </a:p>
        </p:txBody>
      </p:sp>
      <p:sp>
        <p:nvSpPr>
          <p:cNvPr id="33" name="Text 31"/>
          <p:cNvSpPr/>
          <p:nvPr/>
        </p:nvSpPr>
        <p:spPr>
          <a:xfrm>
            <a:off x="4389120" y="5349240"/>
            <a:ext cx="3291840" cy="640080"/>
          </a:xfrm>
          <a:prstGeom prst="rect">
            <a:avLst/>
          </a:prstGeom>
          <a:noFill/>
          <a:ln/>
        </p:spPr>
        <p:txBody>
          <a:bodyPr wrap="square" lIns="0" tIns="0" rIns="0" bIns="0" rtlCol="0" anchor="ctr"/>
          <a:lstStyle/>
          <a:p>
            <a:pPr rtl="1" algn="r" indent="0" marL="0">
              <a:buNone/>
            </a:pPr>
            <a:r>
              <a:rPr lang="en-US" sz="1300" dirty="0">
                <a:solidFill>
                  <a:srgbClr val="E2E8F0"/>
                </a:solidFill>
                <a:latin typeface="Cairo" pitchFamily="34" charset="0"/>
                <a:ea typeface="Cairo" pitchFamily="34" charset="-122"/>
                <a:cs typeface="Cairo" pitchFamily="34" charset="-120"/>
              </a:rPr>
              <a:t>اختصار خطوات الموافقة والاتصالات اليدوية</a:t>
            </a:r>
            <a:endParaRPr lang="en-US" sz="1300" dirty="0"/>
          </a:p>
        </p:txBody>
      </p:sp>
      <p:sp>
        <p:nvSpPr>
          <p:cNvPr id="34" name="Shape 32"/>
          <p:cNvSpPr/>
          <p:nvPr/>
        </p:nvSpPr>
        <p:spPr>
          <a:xfrm>
            <a:off x="411480" y="4709160"/>
            <a:ext cx="3657600" cy="1371600"/>
          </a:xfrm>
          <a:prstGeom prst="rect">
            <a:avLst/>
          </a:prstGeom>
          <a:solidFill>
            <a:srgbClr val="0F2A47"/>
          </a:solidFill>
          <a:ln/>
        </p:spPr>
      </p:sp>
      <p:sp>
        <p:nvSpPr>
          <p:cNvPr id="35" name="Shape 33"/>
          <p:cNvSpPr/>
          <p:nvPr/>
        </p:nvSpPr>
        <p:spPr>
          <a:xfrm>
            <a:off x="3995928" y="4709160"/>
            <a:ext cx="73152" cy="1371600"/>
          </a:xfrm>
          <a:prstGeom prst="rect">
            <a:avLst/>
          </a:prstGeom>
          <a:solidFill>
            <a:srgbClr val="E8A33D"/>
          </a:solidFill>
          <a:ln/>
        </p:spPr>
      </p:sp>
      <p:sp>
        <p:nvSpPr>
          <p:cNvPr id="36" name="Text 34"/>
          <p:cNvSpPr/>
          <p:nvPr/>
        </p:nvSpPr>
        <p:spPr>
          <a:xfrm>
            <a:off x="594360" y="4892040"/>
            <a:ext cx="3291840" cy="411480"/>
          </a:xfrm>
          <a:prstGeom prst="rect">
            <a:avLst/>
          </a:prstGeom>
          <a:noFill/>
          <a:ln/>
        </p:spPr>
        <p:txBody>
          <a:bodyPr wrap="square" lIns="0" tIns="0" rIns="0" bIns="0" rtlCol="0" anchor="ctr"/>
          <a:lstStyle/>
          <a:p>
            <a:pPr rtl="1" algn="r" indent="0" marL="0">
              <a:buNone/>
            </a:pPr>
            <a:r>
              <a:rPr lang="en-US" sz="1700" b="1" dirty="0">
                <a:solidFill>
                  <a:srgbClr val="E8A33D"/>
                </a:solidFill>
                <a:latin typeface="Cairo" pitchFamily="34" charset="0"/>
                <a:ea typeface="Cairo" pitchFamily="34" charset="-122"/>
                <a:cs typeface="Cairo" pitchFamily="34" charset="-120"/>
              </a:rPr>
              <a:t>رضا أعلى للعملاء</a:t>
            </a:r>
            <a:endParaRPr lang="en-US" sz="1700" dirty="0"/>
          </a:p>
        </p:txBody>
      </p:sp>
      <p:sp>
        <p:nvSpPr>
          <p:cNvPr id="37" name="Text 35"/>
          <p:cNvSpPr/>
          <p:nvPr/>
        </p:nvSpPr>
        <p:spPr>
          <a:xfrm>
            <a:off x="594360" y="5349240"/>
            <a:ext cx="3291840" cy="640080"/>
          </a:xfrm>
          <a:prstGeom prst="rect">
            <a:avLst/>
          </a:prstGeom>
          <a:noFill/>
          <a:ln/>
        </p:spPr>
        <p:txBody>
          <a:bodyPr wrap="square" lIns="0" tIns="0" rIns="0" bIns="0" rtlCol="0" anchor="ctr"/>
          <a:lstStyle/>
          <a:p>
            <a:pPr rtl="1" algn="r" indent="0" marL="0">
              <a:buNone/>
            </a:pPr>
            <a:r>
              <a:rPr lang="en-US" sz="1300" dirty="0">
                <a:solidFill>
                  <a:srgbClr val="E2E8F0"/>
                </a:solidFill>
                <a:latin typeface="Cairo" pitchFamily="34" charset="0"/>
                <a:ea typeface="Cairo" pitchFamily="34" charset="-122"/>
                <a:cs typeface="Cairo" pitchFamily="34" charset="-120"/>
              </a:rPr>
              <a:t>تسليم في المواعيد وجودة موثقة</a:t>
            </a:r>
            <a:endParaRPr lang="en-US" sz="1300" dirty="0"/>
          </a:p>
        </p:txBody>
      </p:sp>
      <p:sp>
        <p:nvSpPr>
          <p:cNvPr id="38" name="Text 36"/>
          <p:cNvSpPr/>
          <p:nvPr/>
        </p:nvSpPr>
        <p:spPr>
          <a:xfrm>
            <a:off x="457200" y="6492240"/>
            <a:ext cx="5486400" cy="274320"/>
          </a:xfrm>
          <a:prstGeom prst="rect">
            <a:avLst/>
          </a:prstGeom>
          <a:noFill/>
          <a:ln/>
        </p:spPr>
        <p:txBody>
          <a:bodyPr wrap="square" lIns="0" tIns="0" rIns="0" bIns="0" rtlCol="0" anchor="ctr"/>
          <a:lstStyle/>
          <a:p>
            <a:pPr rtl="1" algn="r" indent="0" marL="0">
              <a:buNone/>
            </a:pPr>
            <a:r>
              <a:rPr lang="en-US" sz="900" dirty="0">
                <a:solidFill>
                  <a:srgbClr val="94A3B8"/>
                </a:solidFill>
                <a:latin typeface="Cairo" pitchFamily="34" charset="0"/>
                <a:ea typeface="Cairo" pitchFamily="34" charset="-122"/>
                <a:cs typeface="Cairo" pitchFamily="34" charset="-120"/>
              </a:rPr>
              <a:t>ModernLife — نظام إدارة التصنيع المتكامل</a:t>
            </a:r>
            <a:endParaRPr lang="en-US" sz="900" dirty="0"/>
          </a:p>
        </p:txBody>
      </p:sp>
      <p:sp>
        <p:nvSpPr>
          <p:cNvPr id="39" name="Text 37"/>
          <p:cNvSpPr/>
          <p:nvPr/>
        </p:nvSpPr>
        <p:spPr>
          <a:xfrm>
            <a:off x="11155680" y="6492240"/>
            <a:ext cx="822960" cy="274320"/>
          </a:xfrm>
          <a:prstGeom prst="rect">
            <a:avLst/>
          </a:prstGeom>
          <a:noFill/>
          <a:ln/>
        </p:spPr>
        <p:txBody>
          <a:bodyPr wrap="square" lIns="0" tIns="0" rIns="0" bIns="0" rtlCol="0" anchor="ctr"/>
          <a:lstStyle/>
          <a:p>
            <a:pPr algn="l" indent="0" marL="0">
              <a:buNone/>
            </a:pPr>
            <a:r>
              <a:rPr lang="en-US" sz="900" dirty="0">
                <a:solidFill>
                  <a:srgbClr val="94A3B8"/>
                </a:solidFill>
                <a:latin typeface="Cairo" pitchFamily="34" charset="0"/>
                <a:ea typeface="Cairo" pitchFamily="34" charset="-122"/>
                <a:cs typeface="Cairo" pitchFamily="34" charset="-120"/>
              </a:rPr>
              <a:t>8 / 12</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47120" cy="365760"/>
          </a:xfrm>
          <a:prstGeom prst="rect">
            <a:avLst/>
          </a:prstGeom>
          <a:noFill/>
          <a:ln/>
        </p:spPr>
        <p:txBody>
          <a:bodyPr wrap="square" lIns="0" tIns="0" rIns="0" bIns="0" rtlCol="0" anchor="ctr"/>
          <a:lstStyle/>
          <a:p>
            <a:pPr rtl="1" algn="r" indent="0" marL="0">
              <a:buNone/>
            </a:pPr>
            <a:r>
              <a:rPr lang="en-US" sz="1300" b="1" dirty="0">
                <a:solidFill>
                  <a:srgbClr val="E8A33D"/>
                </a:solidFill>
                <a:latin typeface="Cairo" pitchFamily="34" charset="0"/>
                <a:ea typeface="Cairo" pitchFamily="34" charset="-122"/>
                <a:cs typeface="Cairo" pitchFamily="34" charset="-120"/>
              </a:rPr>
              <a:t>05 — مقارنة الأداء</a:t>
            </a:r>
            <a:endParaRPr lang="en-US" sz="1300" dirty="0"/>
          </a:p>
        </p:txBody>
      </p:sp>
      <p:sp>
        <p:nvSpPr>
          <p:cNvPr id="3" name="Text 1"/>
          <p:cNvSpPr/>
          <p:nvPr/>
        </p:nvSpPr>
        <p:spPr>
          <a:xfrm>
            <a:off x="457200" y="822960"/>
            <a:ext cx="11247120" cy="640080"/>
          </a:xfrm>
          <a:prstGeom prst="rect">
            <a:avLst/>
          </a:prstGeom>
          <a:noFill/>
          <a:ln/>
        </p:spPr>
        <p:txBody>
          <a:bodyPr wrap="square" lIns="0" tIns="0" rIns="0" bIns="0" rtlCol="0" anchor="ctr"/>
          <a:lstStyle/>
          <a:p>
            <a:pPr rtl="1" algn="r" indent="0" marL="0">
              <a:buNone/>
            </a:pPr>
            <a:r>
              <a:rPr lang="en-US" sz="3400" b="1" dirty="0">
                <a:solidFill>
                  <a:srgbClr val="0F2A47"/>
                </a:solidFill>
                <a:latin typeface="Cairo" pitchFamily="34" charset="0"/>
                <a:ea typeface="Cairo" pitchFamily="34" charset="-122"/>
                <a:cs typeface="Cairo" pitchFamily="34" charset="-120"/>
              </a:rPr>
              <a:t>قبل وبعد ModernLife</a:t>
            </a:r>
            <a:endParaRPr lang="en-US" sz="3400" dirty="0"/>
          </a:p>
        </p:txBody>
      </p:sp>
      <p:sp>
        <p:nvSpPr>
          <p:cNvPr id="4" name="Shape 2"/>
          <p:cNvSpPr/>
          <p:nvPr/>
        </p:nvSpPr>
        <p:spPr>
          <a:xfrm>
            <a:off x="10698480" y="1554480"/>
            <a:ext cx="1005840" cy="45720"/>
          </a:xfrm>
          <a:prstGeom prst="rect">
            <a:avLst/>
          </a:prstGeom>
          <a:solidFill>
            <a:srgbClr val="E8A33D"/>
          </a:solidFill>
          <a:ln/>
        </p:spPr>
      </p:sp>
      <p:sp>
        <p:nvSpPr>
          <p:cNvPr id="5" name="Text 3"/>
          <p:cNvSpPr/>
          <p:nvPr/>
        </p:nvSpPr>
        <p:spPr>
          <a:xfrm>
            <a:off x="457200" y="1691640"/>
            <a:ext cx="11247120" cy="365760"/>
          </a:xfrm>
          <a:prstGeom prst="rect">
            <a:avLst/>
          </a:prstGeom>
          <a:noFill/>
          <a:ln/>
        </p:spPr>
        <p:txBody>
          <a:bodyPr wrap="square" lIns="0" tIns="0" rIns="0" bIns="0" rtlCol="0" anchor="ctr"/>
          <a:lstStyle/>
          <a:p>
            <a:pPr rtl="1" algn="r" indent="0" marL="0">
              <a:buNone/>
            </a:pPr>
            <a:r>
              <a:rPr lang="en-US" sz="1400" i="1" dirty="0">
                <a:solidFill>
                  <a:srgbClr val="475569"/>
                </a:solidFill>
                <a:latin typeface="Cairo" pitchFamily="34" charset="0"/>
                <a:ea typeface="Cairo" pitchFamily="34" charset="-122"/>
                <a:cs typeface="Cairo" pitchFamily="34" charset="-120"/>
              </a:rPr>
              <a:t>مقارنة بين الإدارة اليدوية وإدارة الإنتاج عبر النظام (مؤشرات تقديرية)</a:t>
            </a:r>
            <a:endParaRPr lang="en-US" sz="1400" dirty="0"/>
          </a:p>
        </p:txBody>
      </p:sp>
      <p:graphicFrame>
        <p:nvGraphicFramePr>
          <p:cNvPr id="6" name="Chart 0" descr=""/>
          <p:cNvGraphicFramePr/>
          <p:nvPr/>
        </p:nvGraphicFramePr>
        <p:xfrm>
          <a:off x="457200" y="2194560"/>
          <a:ext cx="7315200" cy="411480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8092440" y="2240280"/>
            <a:ext cx="3657600" cy="868680"/>
          </a:xfrm>
          <a:prstGeom prst="rect">
            <a:avLst/>
          </a:prstGeom>
          <a:solidFill>
            <a:srgbClr val="F5F7FA"/>
          </a:solidFill>
          <a:ln/>
        </p:spPr>
      </p:sp>
      <p:sp>
        <p:nvSpPr>
          <p:cNvPr id="8" name="Shape 5"/>
          <p:cNvSpPr/>
          <p:nvPr/>
        </p:nvSpPr>
        <p:spPr>
          <a:xfrm>
            <a:off x="11676888" y="2240280"/>
            <a:ext cx="73152" cy="868680"/>
          </a:xfrm>
          <a:prstGeom prst="rect">
            <a:avLst/>
          </a:prstGeom>
          <a:solidFill>
            <a:srgbClr val="E8A33D"/>
          </a:solidFill>
          <a:ln/>
        </p:spPr>
      </p:sp>
      <p:sp>
        <p:nvSpPr>
          <p:cNvPr id="9" name="Text 6"/>
          <p:cNvSpPr/>
          <p:nvPr/>
        </p:nvSpPr>
        <p:spPr>
          <a:xfrm>
            <a:off x="8229600" y="2331720"/>
            <a:ext cx="3383280" cy="457200"/>
          </a:xfrm>
          <a:prstGeom prst="rect">
            <a:avLst/>
          </a:prstGeom>
          <a:noFill/>
          <a:ln/>
        </p:spPr>
        <p:txBody>
          <a:bodyPr wrap="square" lIns="0" tIns="0" rIns="0" bIns="0" rtlCol="0" anchor="ctr"/>
          <a:lstStyle/>
          <a:p>
            <a:pPr rtl="1" algn="r" indent="0" marL="0">
              <a:buNone/>
            </a:pPr>
            <a:r>
              <a:rPr lang="en-US" sz="2600" b="1" dirty="0">
                <a:solidFill>
                  <a:srgbClr val="0F2A47"/>
                </a:solidFill>
                <a:latin typeface="Cairo" pitchFamily="34" charset="0"/>
                <a:ea typeface="Cairo" pitchFamily="34" charset="-122"/>
                <a:cs typeface="Cairo" pitchFamily="34" charset="-120"/>
              </a:rPr>
              <a:t>12 يوم</a:t>
            </a:r>
            <a:endParaRPr lang="en-US" sz="2600" dirty="0"/>
          </a:p>
        </p:txBody>
      </p:sp>
      <p:sp>
        <p:nvSpPr>
          <p:cNvPr id="10" name="Text 7"/>
          <p:cNvSpPr/>
          <p:nvPr/>
        </p:nvSpPr>
        <p:spPr>
          <a:xfrm>
            <a:off x="8229600" y="2743200"/>
            <a:ext cx="3383280" cy="320040"/>
          </a:xfrm>
          <a:prstGeom prst="rect">
            <a:avLst/>
          </a:prstGeom>
          <a:noFill/>
          <a:ln/>
        </p:spPr>
        <p:txBody>
          <a:bodyPr wrap="square" lIns="0" tIns="0" rIns="0" bIns="0" rtlCol="0" anchor="ctr"/>
          <a:lstStyle/>
          <a:p>
            <a:pPr rtl="1" algn="r" indent="0" marL="0">
              <a:buNone/>
            </a:pPr>
            <a:r>
              <a:rPr lang="en-US" sz="1100" dirty="0">
                <a:solidFill>
                  <a:srgbClr val="475569"/>
                </a:solidFill>
                <a:latin typeface="Cairo" pitchFamily="34" charset="0"/>
                <a:ea typeface="Cairo" pitchFamily="34" charset="-122"/>
                <a:cs typeface="Cairo" pitchFamily="34" charset="-120"/>
              </a:rPr>
              <a:t>توفير في زمن الطلب الواحد</a:t>
            </a:r>
            <a:endParaRPr lang="en-US" sz="1100" dirty="0"/>
          </a:p>
        </p:txBody>
      </p:sp>
      <p:sp>
        <p:nvSpPr>
          <p:cNvPr id="11" name="Shape 8"/>
          <p:cNvSpPr/>
          <p:nvPr/>
        </p:nvSpPr>
        <p:spPr>
          <a:xfrm>
            <a:off x="8092440" y="3218688"/>
            <a:ext cx="3657600" cy="868680"/>
          </a:xfrm>
          <a:prstGeom prst="rect">
            <a:avLst/>
          </a:prstGeom>
          <a:solidFill>
            <a:srgbClr val="F5F7FA"/>
          </a:solidFill>
          <a:ln/>
        </p:spPr>
      </p:sp>
      <p:sp>
        <p:nvSpPr>
          <p:cNvPr id="12" name="Shape 9"/>
          <p:cNvSpPr/>
          <p:nvPr/>
        </p:nvSpPr>
        <p:spPr>
          <a:xfrm>
            <a:off x="11676888" y="3218688"/>
            <a:ext cx="73152" cy="868680"/>
          </a:xfrm>
          <a:prstGeom prst="rect">
            <a:avLst/>
          </a:prstGeom>
          <a:solidFill>
            <a:srgbClr val="E8A33D"/>
          </a:solidFill>
          <a:ln/>
        </p:spPr>
      </p:sp>
      <p:sp>
        <p:nvSpPr>
          <p:cNvPr id="13" name="Text 10"/>
          <p:cNvSpPr/>
          <p:nvPr/>
        </p:nvSpPr>
        <p:spPr>
          <a:xfrm>
            <a:off x="8229600" y="3310128"/>
            <a:ext cx="3383280" cy="457200"/>
          </a:xfrm>
          <a:prstGeom prst="rect">
            <a:avLst/>
          </a:prstGeom>
          <a:noFill/>
          <a:ln/>
        </p:spPr>
        <p:txBody>
          <a:bodyPr wrap="square" lIns="0" tIns="0" rIns="0" bIns="0" rtlCol="0" anchor="ctr"/>
          <a:lstStyle/>
          <a:p>
            <a:pPr rtl="1" algn="r" indent="0" marL="0">
              <a:buNone/>
            </a:pPr>
            <a:r>
              <a:rPr lang="en-US" sz="2600" b="1" dirty="0">
                <a:solidFill>
                  <a:srgbClr val="0F2A47"/>
                </a:solidFill>
                <a:latin typeface="Cairo" pitchFamily="34" charset="0"/>
                <a:ea typeface="Cairo" pitchFamily="34" charset="-122"/>
                <a:cs typeface="Cairo" pitchFamily="34" charset="-120"/>
              </a:rPr>
              <a:t>−78%</a:t>
            </a:r>
            <a:endParaRPr lang="en-US" sz="2600" dirty="0"/>
          </a:p>
        </p:txBody>
      </p:sp>
      <p:sp>
        <p:nvSpPr>
          <p:cNvPr id="14" name="Text 11"/>
          <p:cNvSpPr/>
          <p:nvPr/>
        </p:nvSpPr>
        <p:spPr>
          <a:xfrm>
            <a:off x="8229600" y="3721608"/>
            <a:ext cx="3383280" cy="320040"/>
          </a:xfrm>
          <a:prstGeom prst="rect">
            <a:avLst/>
          </a:prstGeom>
          <a:noFill/>
          <a:ln/>
        </p:spPr>
        <p:txBody>
          <a:bodyPr wrap="square" lIns="0" tIns="0" rIns="0" bIns="0" rtlCol="0" anchor="ctr"/>
          <a:lstStyle/>
          <a:p>
            <a:pPr rtl="1" algn="r" indent="0" marL="0">
              <a:buNone/>
            </a:pPr>
            <a:r>
              <a:rPr lang="en-US" sz="1100" dirty="0">
                <a:solidFill>
                  <a:srgbClr val="475569"/>
                </a:solidFill>
                <a:latin typeface="Cairo" pitchFamily="34" charset="0"/>
                <a:ea typeface="Cairo" pitchFamily="34" charset="-122"/>
                <a:cs typeface="Cairo" pitchFamily="34" charset="-120"/>
              </a:rPr>
              <a:t>انخفاض في نسبة الأخطاء</a:t>
            </a:r>
            <a:endParaRPr lang="en-US" sz="1100" dirty="0"/>
          </a:p>
        </p:txBody>
      </p:sp>
      <p:sp>
        <p:nvSpPr>
          <p:cNvPr id="15" name="Shape 12"/>
          <p:cNvSpPr/>
          <p:nvPr/>
        </p:nvSpPr>
        <p:spPr>
          <a:xfrm>
            <a:off x="8092440" y="4197096"/>
            <a:ext cx="3657600" cy="868680"/>
          </a:xfrm>
          <a:prstGeom prst="rect">
            <a:avLst/>
          </a:prstGeom>
          <a:solidFill>
            <a:srgbClr val="F5F7FA"/>
          </a:solidFill>
          <a:ln/>
        </p:spPr>
      </p:sp>
      <p:sp>
        <p:nvSpPr>
          <p:cNvPr id="16" name="Shape 13"/>
          <p:cNvSpPr/>
          <p:nvPr/>
        </p:nvSpPr>
        <p:spPr>
          <a:xfrm>
            <a:off x="11676888" y="4197096"/>
            <a:ext cx="73152" cy="868680"/>
          </a:xfrm>
          <a:prstGeom prst="rect">
            <a:avLst/>
          </a:prstGeom>
          <a:solidFill>
            <a:srgbClr val="E8A33D"/>
          </a:solidFill>
          <a:ln/>
        </p:spPr>
      </p:sp>
      <p:sp>
        <p:nvSpPr>
          <p:cNvPr id="17" name="Text 14"/>
          <p:cNvSpPr/>
          <p:nvPr/>
        </p:nvSpPr>
        <p:spPr>
          <a:xfrm>
            <a:off x="8229600" y="4288536"/>
            <a:ext cx="3383280" cy="457200"/>
          </a:xfrm>
          <a:prstGeom prst="rect">
            <a:avLst/>
          </a:prstGeom>
          <a:noFill/>
          <a:ln/>
        </p:spPr>
        <p:txBody>
          <a:bodyPr wrap="square" lIns="0" tIns="0" rIns="0" bIns="0" rtlCol="0" anchor="ctr"/>
          <a:lstStyle/>
          <a:p>
            <a:pPr rtl="1" algn="r" indent="0" marL="0">
              <a:buNone/>
            </a:pPr>
            <a:r>
              <a:rPr lang="en-US" sz="2600" b="1" dirty="0">
                <a:solidFill>
                  <a:srgbClr val="0F2A47"/>
                </a:solidFill>
                <a:latin typeface="Cairo" pitchFamily="34" charset="0"/>
                <a:ea typeface="Cairo" pitchFamily="34" charset="-122"/>
                <a:cs typeface="Cairo" pitchFamily="34" charset="-120"/>
              </a:rPr>
              <a:t>−73%</a:t>
            </a:r>
            <a:endParaRPr lang="en-US" sz="2600" dirty="0"/>
          </a:p>
        </p:txBody>
      </p:sp>
      <p:sp>
        <p:nvSpPr>
          <p:cNvPr id="18" name="Text 15"/>
          <p:cNvSpPr/>
          <p:nvPr/>
        </p:nvSpPr>
        <p:spPr>
          <a:xfrm>
            <a:off x="8229600" y="4700016"/>
            <a:ext cx="3383280" cy="320040"/>
          </a:xfrm>
          <a:prstGeom prst="rect">
            <a:avLst/>
          </a:prstGeom>
          <a:noFill/>
          <a:ln/>
        </p:spPr>
        <p:txBody>
          <a:bodyPr wrap="square" lIns="0" tIns="0" rIns="0" bIns="0" rtlCol="0" anchor="ctr"/>
          <a:lstStyle/>
          <a:p>
            <a:pPr rtl="1" algn="r" indent="0" marL="0">
              <a:buNone/>
            </a:pPr>
            <a:r>
              <a:rPr lang="en-US" sz="1100" dirty="0">
                <a:solidFill>
                  <a:srgbClr val="475569"/>
                </a:solidFill>
                <a:latin typeface="Cairo" pitchFamily="34" charset="0"/>
                <a:ea typeface="Cairo" pitchFamily="34" charset="-122"/>
                <a:cs typeface="Cairo" pitchFamily="34" charset="-120"/>
              </a:rPr>
              <a:t>تقليل وقت التواصل اليومي</a:t>
            </a:r>
            <a:endParaRPr lang="en-US" sz="1100" dirty="0"/>
          </a:p>
        </p:txBody>
      </p:sp>
      <p:sp>
        <p:nvSpPr>
          <p:cNvPr id="19" name="Shape 16"/>
          <p:cNvSpPr/>
          <p:nvPr/>
        </p:nvSpPr>
        <p:spPr>
          <a:xfrm>
            <a:off x="8092440" y="5175504"/>
            <a:ext cx="3657600" cy="868680"/>
          </a:xfrm>
          <a:prstGeom prst="rect">
            <a:avLst/>
          </a:prstGeom>
          <a:solidFill>
            <a:srgbClr val="F5F7FA"/>
          </a:solidFill>
          <a:ln/>
        </p:spPr>
      </p:sp>
      <p:sp>
        <p:nvSpPr>
          <p:cNvPr id="20" name="Shape 17"/>
          <p:cNvSpPr/>
          <p:nvPr/>
        </p:nvSpPr>
        <p:spPr>
          <a:xfrm>
            <a:off x="11676888" y="5175504"/>
            <a:ext cx="73152" cy="868680"/>
          </a:xfrm>
          <a:prstGeom prst="rect">
            <a:avLst/>
          </a:prstGeom>
          <a:solidFill>
            <a:srgbClr val="E8A33D"/>
          </a:solidFill>
          <a:ln/>
        </p:spPr>
      </p:sp>
      <p:sp>
        <p:nvSpPr>
          <p:cNvPr id="21" name="Text 18"/>
          <p:cNvSpPr/>
          <p:nvPr/>
        </p:nvSpPr>
        <p:spPr>
          <a:xfrm>
            <a:off x="8229600" y="5266944"/>
            <a:ext cx="3383280" cy="457200"/>
          </a:xfrm>
          <a:prstGeom prst="rect">
            <a:avLst/>
          </a:prstGeom>
          <a:noFill/>
          <a:ln/>
        </p:spPr>
        <p:txBody>
          <a:bodyPr wrap="square" lIns="0" tIns="0" rIns="0" bIns="0" rtlCol="0" anchor="ctr"/>
          <a:lstStyle/>
          <a:p>
            <a:pPr rtl="1" algn="r" indent="0" marL="0">
              <a:buNone/>
            </a:pPr>
            <a:r>
              <a:rPr lang="en-US" sz="2600" b="1" dirty="0">
                <a:solidFill>
                  <a:srgbClr val="0F2A47"/>
                </a:solidFill>
                <a:latin typeface="Cairo" pitchFamily="34" charset="0"/>
                <a:ea typeface="Cairo" pitchFamily="34" charset="-122"/>
                <a:cs typeface="Cairo" pitchFamily="34" charset="-120"/>
              </a:rPr>
              <a:t>−77%</a:t>
            </a:r>
            <a:endParaRPr lang="en-US" sz="2600" dirty="0"/>
          </a:p>
        </p:txBody>
      </p:sp>
      <p:sp>
        <p:nvSpPr>
          <p:cNvPr id="22" name="Text 19"/>
          <p:cNvSpPr/>
          <p:nvPr/>
        </p:nvSpPr>
        <p:spPr>
          <a:xfrm>
            <a:off x="8229600" y="5678424"/>
            <a:ext cx="3383280" cy="320040"/>
          </a:xfrm>
          <a:prstGeom prst="rect">
            <a:avLst/>
          </a:prstGeom>
          <a:noFill/>
          <a:ln/>
        </p:spPr>
        <p:txBody>
          <a:bodyPr wrap="square" lIns="0" tIns="0" rIns="0" bIns="0" rtlCol="0" anchor="ctr"/>
          <a:lstStyle/>
          <a:p>
            <a:pPr rtl="1" algn="r" indent="0" marL="0">
              <a:buNone/>
            </a:pPr>
            <a:r>
              <a:rPr lang="en-US" sz="1100" dirty="0">
                <a:solidFill>
                  <a:srgbClr val="475569"/>
                </a:solidFill>
                <a:latin typeface="Cairo" pitchFamily="34" charset="0"/>
                <a:ea typeface="Cairo" pitchFamily="34" charset="-122"/>
                <a:cs typeface="Cairo" pitchFamily="34" charset="-120"/>
              </a:rPr>
              <a:t>انخفاض في تأخير المشاريع</a:t>
            </a:r>
            <a:endParaRPr lang="en-US" sz="1100" dirty="0"/>
          </a:p>
        </p:txBody>
      </p:sp>
      <p:sp>
        <p:nvSpPr>
          <p:cNvPr id="23" name="Text 20"/>
          <p:cNvSpPr/>
          <p:nvPr/>
        </p:nvSpPr>
        <p:spPr>
          <a:xfrm>
            <a:off x="457200" y="6492240"/>
            <a:ext cx="5486400" cy="274320"/>
          </a:xfrm>
          <a:prstGeom prst="rect">
            <a:avLst/>
          </a:prstGeom>
          <a:noFill/>
          <a:ln/>
        </p:spPr>
        <p:txBody>
          <a:bodyPr wrap="square" lIns="0" tIns="0" rIns="0" bIns="0" rtlCol="0" anchor="ctr"/>
          <a:lstStyle/>
          <a:p>
            <a:pPr rtl="1" algn="r" indent="0" marL="0">
              <a:buNone/>
            </a:pPr>
            <a:r>
              <a:rPr lang="en-US" sz="900" dirty="0">
                <a:solidFill>
                  <a:srgbClr val="94A3B8"/>
                </a:solidFill>
                <a:latin typeface="Cairo" pitchFamily="34" charset="0"/>
                <a:ea typeface="Cairo" pitchFamily="34" charset="-122"/>
                <a:cs typeface="Cairo" pitchFamily="34" charset="-120"/>
              </a:rPr>
              <a:t>ModernLife — نظام إدارة التصنيع المتكامل</a:t>
            </a:r>
            <a:endParaRPr lang="en-US" sz="900" dirty="0"/>
          </a:p>
        </p:txBody>
      </p:sp>
      <p:sp>
        <p:nvSpPr>
          <p:cNvPr id="24" name="Text 21"/>
          <p:cNvSpPr/>
          <p:nvPr/>
        </p:nvSpPr>
        <p:spPr>
          <a:xfrm>
            <a:off x="11155680" y="6492240"/>
            <a:ext cx="822960" cy="274320"/>
          </a:xfrm>
          <a:prstGeom prst="rect">
            <a:avLst/>
          </a:prstGeom>
          <a:noFill/>
          <a:ln/>
        </p:spPr>
        <p:txBody>
          <a:bodyPr wrap="square" lIns="0" tIns="0" rIns="0" bIns="0" rtlCol="0" anchor="ctr"/>
          <a:lstStyle/>
          <a:p>
            <a:pPr algn="l" indent="0" marL="0">
              <a:buNone/>
            </a:pPr>
            <a:r>
              <a:rPr lang="en-US" sz="900" dirty="0">
                <a:solidFill>
                  <a:srgbClr val="94A3B8"/>
                </a:solidFill>
                <a:latin typeface="Cairo" pitchFamily="34" charset="0"/>
                <a:ea typeface="Cairo" pitchFamily="34" charset="-122"/>
                <a:cs typeface="Cairo" pitchFamily="34" charset="-120"/>
              </a:rPr>
              <a:t>9 / 12</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81827"/>
        </a:solidFill>
      </p:bgPr>
    </p:bg>
    <p:spTree>
      <p:nvGrpSpPr>
        <p:cNvPr id="1" name=""/>
        <p:cNvGrpSpPr/>
        <p:nvPr/>
      </p:nvGrpSpPr>
      <p:grpSpPr>
        <a:xfrm>
          <a:off x="0" y="0"/>
          <a:ext cx="0" cy="0"/>
          <a:chOff x="0" y="0"/>
          <a:chExt cx="0" cy="0"/>
        </a:xfrm>
      </p:grpSpPr>
      <p:sp>
        <p:nvSpPr>
          <p:cNvPr id="2" name="Text 0"/>
          <p:cNvSpPr/>
          <p:nvPr/>
        </p:nvSpPr>
        <p:spPr>
          <a:xfrm>
            <a:off x="457200" y="457200"/>
            <a:ext cx="11247120" cy="365760"/>
          </a:xfrm>
          <a:prstGeom prst="rect">
            <a:avLst/>
          </a:prstGeom>
          <a:noFill/>
          <a:ln/>
        </p:spPr>
        <p:txBody>
          <a:bodyPr wrap="square" lIns="0" tIns="0" rIns="0" bIns="0" rtlCol="0" anchor="ctr"/>
          <a:lstStyle/>
          <a:p>
            <a:pPr rtl="1" algn="r" indent="0" marL="0">
              <a:buNone/>
            </a:pPr>
            <a:r>
              <a:rPr lang="en-US" sz="1300" b="1" dirty="0">
                <a:solidFill>
                  <a:srgbClr val="E8A33D"/>
                </a:solidFill>
                <a:latin typeface="Cairo" pitchFamily="34" charset="0"/>
                <a:ea typeface="Cairo" pitchFamily="34" charset="-122"/>
                <a:cs typeface="Cairo" pitchFamily="34" charset="-120"/>
              </a:rPr>
              <a:t>06 — التكامل والأمان</a:t>
            </a:r>
            <a:endParaRPr lang="en-US" sz="1300" dirty="0"/>
          </a:p>
        </p:txBody>
      </p:sp>
      <p:sp>
        <p:nvSpPr>
          <p:cNvPr id="3" name="Text 1"/>
          <p:cNvSpPr/>
          <p:nvPr/>
        </p:nvSpPr>
        <p:spPr>
          <a:xfrm>
            <a:off x="457200" y="822960"/>
            <a:ext cx="11247120" cy="640080"/>
          </a:xfrm>
          <a:prstGeom prst="rect">
            <a:avLst/>
          </a:prstGeom>
          <a:noFill/>
          <a:ln/>
        </p:spPr>
        <p:txBody>
          <a:bodyPr wrap="square" lIns="0" tIns="0" rIns="0" bIns="0" rtlCol="0" anchor="ctr"/>
          <a:lstStyle/>
          <a:p>
            <a:pPr rtl="1" algn="r" indent="0" marL="0">
              <a:buNone/>
            </a:pPr>
            <a:r>
              <a:rPr lang="en-US" sz="3400" b="1" dirty="0">
                <a:solidFill>
                  <a:srgbClr val="FFFFFF"/>
                </a:solidFill>
                <a:latin typeface="Cairo" pitchFamily="34" charset="0"/>
                <a:ea typeface="Cairo" pitchFamily="34" charset="-122"/>
                <a:cs typeface="Cairo" pitchFamily="34" charset="-120"/>
              </a:rPr>
              <a:t>تكامل ذكي وحماية عالية</a:t>
            </a:r>
            <a:endParaRPr lang="en-US" sz="3400" dirty="0"/>
          </a:p>
        </p:txBody>
      </p:sp>
      <p:sp>
        <p:nvSpPr>
          <p:cNvPr id="4" name="Shape 2"/>
          <p:cNvSpPr/>
          <p:nvPr/>
        </p:nvSpPr>
        <p:spPr>
          <a:xfrm>
            <a:off x="10698480" y="1554480"/>
            <a:ext cx="1005840" cy="45720"/>
          </a:xfrm>
          <a:prstGeom prst="rect">
            <a:avLst/>
          </a:prstGeom>
          <a:solidFill>
            <a:srgbClr val="E8A33D"/>
          </a:solidFill>
          <a:ln/>
        </p:spPr>
      </p:sp>
      <p:sp>
        <p:nvSpPr>
          <p:cNvPr id="5" name="Shape 3"/>
          <p:cNvSpPr/>
          <p:nvPr/>
        </p:nvSpPr>
        <p:spPr>
          <a:xfrm>
            <a:off x="6263640" y="1920240"/>
            <a:ext cx="5486400" cy="4206240"/>
          </a:xfrm>
          <a:prstGeom prst="rect">
            <a:avLst/>
          </a:prstGeom>
          <a:solidFill>
            <a:srgbClr val="0F2A47"/>
          </a:solidFill>
          <a:ln/>
        </p:spPr>
      </p:sp>
      <p:sp>
        <p:nvSpPr>
          <p:cNvPr id="6" name="Shape 4"/>
          <p:cNvSpPr/>
          <p:nvPr/>
        </p:nvSpPr>
        <p:spPr>
          <a:xfrm>
            <a:off x="6263640" y="1920240"/>
            <a:ext cx="5486400" cy="91440"/>
          </a:xfrm>
          <a:prstGeom prst="rect">
            <a:avLst/>
          </a:prstGeom>
          <a:solidFill>
            <a:srgbClr val="E8A33D"/>
          </a:solidFill>
          <a:ln/>
        </p:spPr>
      </p:sp>
      <p:sp>
        <p:nvSpPr>
          <p:cNvPr id="7" name="Text 5"/>
          <p:cNvSpPr/>
          <p:nvPr/>
        </p:nvSpPr>
        <p:spPr>
          <a:xfrm>
            <a:off x="6492240" y="2103120"/>
            <a:ext cx="5120640" cy="457200"/>
          </a:xfrm>
          <a:prstGeom prst="rect">
            <a:avLst/>
          </a:prstGeom>
          <a:noFill/>
          <a:ln/>
        </p:spPr>
        <p:txBody>
          <a:bodyPr wrap="square" lIns="0" tIns="0" rIns="0" bIns="0" rtlCol="0" anchor="ctr"/>
          <a:lstStyle/>
          <a:p>
            <a:pPr rtl="1" algn="r" indent="0" marL="0">
              <a:buNone/>
            </a:pPr>
            <a:r>
              <a:rPr lang="en-US" sz="2200" b="1" dirty="0">
                <a:solidFill>
                  <a:srgbClr val="E8A33D"/>
                </a:solidFill>
                <a:latin typeface="Cairo" pitchFamily="34" charset="0"/>
                <a:ea typeface="Cairo" pitchFamily="34" charset="-122"/>
                <a:cs typeface="Cairo" pitchFamily="34" charset="-120"/>
              </a:rPr>
              <a:t>التكامل</a:t>
            </a:r>
            <a:endParaRPr lang="en-US" sz="2200" dirty="0"/>
          </a:p>
        </p:txBody>
      </p:sp>
      <p:sp>
        <p:nvSpPr>
          <p:cNvPr id="8" name="Text 6"/>
          <p:cNvSpPr/>
          <p:nvPr/>
        </p:nvSpPr>
        <p:spPr>
          <a:xfrm>
            <a:off x="6492240" y="2606040"/>
            <a:ext cx="5120640" cy="365760"/>
          </a:xfrm>
          <a:prstGeom prst="rect">
            <a:avLst/>
          </a:prstGeom>
          <a:noFill/>
          <a:ln/>
        </p:spPr>
        <p:txBody>
          <a:bodyPr wrap="square" lIns="0" tIns="0" rIns="0" bIns="0" rtlCol="0" anchor="ctr"/>
          <a:lstStyle/>
          <a:p>
            <a:pPr rtl="1" algn="r" indent="0" marL="0">
              <a:buNone/>
            </a:pPr>
            <a:r>
              <a:rPr lang="en-US" sz="1600" b="1" dirty="0">
                <a:solidFill>
                  <a:srgbClr val="FFFFFF"/>
                </a:solidFill>
                <a:latin typeface="Cairo" pitchFamily="34" charset="0"/>
                <a:ea typeface="Cairo" pitchFamily="34" charset="-122"/>
                <a:cs typeface="Cairo" pitchFamily="34" charset="-120"/>
              </a:rPr>
              <a:t>Zoho CRM Integration</a:t>
            </a:r>
            <a:endParaRPr lang="en-US" sz="1600" dirty="0"/>
          </a:p>
        </p:txBody>
      </p:sp>
      <p:sp>
        <p:nvSpPr>
          <p:cNvPr id="9" name="Shape 7"/>
          <p:cNvSpPr/>
          <p:nvPr/>
        </p:nvSpPr>
        <p:spPr>
          <a:xfrm>
            <a:off x="11430000" y="3182112"/>
            <a:ext cx="164592" cy="164592"/>
          </a:xfrm>
          <a:prstGeom prst="ellipse">
            <a:avLst/>
          </a:prstGeom>
          <a:solidFill>
            <a:srgbClr val="E8A33D"/>
          </a:solidFill>
          <a:ln/>
        </p:spPr>
      </p:sp>
      <p:sp>
        <p:nvSpPr>
          <p:cNvPr id="10" name="Text 8"/>
          <p:cNvSpPr/>
          <p:nvPr/>
        </p:nvSpPr>
        <p:spPr>
          <a:xfrm>
            <a:off x="6492240" y="3108960"/>
            <a:ext cx="4846320" cy="365760"/>
          </a:xfrm>
          <a:prstGeom prst="rect">
            <a:avLst/>
          </a:prstGeom>
          <a:noFill/>
          <a:ln/>
        </p:spPr>
        <p:txBody>
          <a:bodyPr wrap="square" lIns="0" tIns="0" rIns="0" bIns="0" rtlCol="0" anchor="ctr"/>
          <a:lstStyle/>
          <a:p>
            <a:pPr rtl="1" algn="r" indent="0" marL="0">
              <a:buNone/>
            </a:pPr>
            <a:r>
              <a:rPr lang="en-US" sz="1300" dirty="0">
                <a:solidFill>
                  <a:srgbClr val="E2E8F0"/>
                </a:solidFill>
                <a:latin typeface="Cairo" pitchFamily="34" charset="0"/>
                <a:ea typeface="Cairo" pitchFamily="34" charset="-122"/>
                <a:cs typeface="Cairo" pitchFamily="34" charset="-120"/>
              </a:rPr>
              <a:t>ربط مباشر مع نظام Zoho CRM عبر OAuth</a:t>
            </a:r>
            <a:endParaRPr lang="en-US" sz="1300" dirty="0"/>
          </a:p>
        </p:txBody>
      </p:sp>
      <p:sp>
        <p:nvSpPr>
          <p:cNvPr id="11" name="Shape 9"/>
          <p:cNvSpPr/>
          <p:nvPr/>
        </p:nvSpPr>
        <p:spPr>
          <a:xfrm>
            <a:off x="11430000" y="3639312"/>
            <a:ext cx="164592" cy="164592"/>
          </a:xfrm>
          <a:prstGeom prst="ellipse">
            <a:avLst/>
          </a:prstGeom>
          <a:solidFill>
            <a:srgbClr val="E8A33D"/>
          </a:solidFill>
          <a:ln/>
        </p:spPr>
      </p:sp>
      <p:sp>
        <p:nvSpPr>
          <p:cNvPr id="12" name="Text 10"/>
          <p:cNvSpPr/>
          <p:nvPr/>
        </p:nvSpPr>
        <p:spPr>
          <a:xfrm>
            <a:off x="6492240" y="3566160"/>
            <a:ext cx="4846320" cy="365760"/>
          </a:xfrm>
          <a:prstGeom prst="rect">
            <a:avLst/>
          </a:prstGeom>
          <a:noFill/>
          <a:ln/>
        </p:spPr>
        <p:txBody>
          <a:bodyPr wrap="square" lIns="0" tIns="0" rIns="0" bIns="0" rtlCol="0" anchor="ctr"/>
          <a:lstStyle/>
          <a:p>
            <a:pPr rtl="1" algn="r" indent="0" marL="0">
              <a:buNone/>
            </a:pPr>
            <a:r>
              <a:rPr lang="en-US" sz="1300" dirty="0">
                <a:solidFill>
                  <a:srgbClr val="E2E8F0"/>
                </a:solidFill>
                <a:latin typeface="Cairo" pitchFamily="34" charset="0"/>
                <a:ea typeface="Cairo" pitchFamily="34" charset="-122"/>
                <a:cs typeface="Cairo" pitchFamily="34" charset="-120"/>
              </a:rPr>
              <a:t>مزامنة بيانات العملاء تلقائياً</a:t>
            </a:r>
            <a:endParaRPr lang="en-US" sz="1300" dirty="0"/>
          </a:p>
        </p:txBody>
      </p:sp>
      <p:sp>
        <p:nvSpPr>
          <p:cNvPr id="13" name="Shape 11"/>
          <p:cNvSpPr/>
          <p:nvPr/>
        </p:nvSpPr>
        <p:spPr>
          <a:xfrm>
            <a:off x="11430000" y="4096512"/>
            <a:ext cx="164592" cy="164592"/>
          </a:xfrm>
          <a:prstGeom prst="ellipse">
            <a:avLst/>
          </a:prstGeom>
          <a:solidFill>
            <a:srgbClr val="E8A33D"/>
          </a:solidFill>
          <a:ln/>
        </p:spPr>
      </p:sp>
      <p:sp>
        <p:nvSpPr>
          <p:cNvPr id="14" name="Text 12"/>
          <p:cNvSpPr/>
          <p:nvPr/>
        </p:nvSpPr>
        <p:spPr>
          <a:xfrm>
            <a:off x="6492240" y="4023360"/>
            <a:ext cx="4846320" cy="365760"/>
          </a:xfrm>
          <a:prstGeom prst="rect">
            <a:avLst/>
          </a:prstGeom>
          <a:noFill/>
          <a:ln/>
        </p:spPr>
        <p:txBody>
          <a:bodyPr wrap="square" lIns="0" tIns="0" rIns="0" bIns="0" rtlCol="0" anchor="ctr"/>
          <a:lstStyle/>
          <a:p>
            <a:pPr rtl="1" algn="r" indent="0" marL="0">
              <a:buNone/>
            </a:pPr>
            <a:r>
              <a:rPr lang="en-US" sz="1300" dirty="0">
                <a:solidFill>
                  <a:srgbClr val="E2E8F0"/>
                </a:solidFill>
                <a:latin typeface="Cairo" pitchFamily="34" charset="0"/>
                <a:ea typeface="Cairo" pitchFamily="34" charset="-122"/>
                <a:cs typeface="Cairo" pitchFamily="34" charset="-120"/>
              </a:rPr>
              <a:t>إرسال عروض الأسعار وفواتير الطباعة</a:t>
            </a:r>
            <a:endParaRPr lang="en-US" sz="1300" dirty="0"/>
          </a:p>
        </p:txBody>
      </p:sp>
      <p:sp>
        <p:nvSpPr>
          <p:cNvPr id="15" name="Shape 13"/>
          <p:cNvSpPr/>
          <p:nvPr/>
        </p:nvSpPr>
        <p:spPr>
          <a:xfrm>
            <a:off x="11430000" y="4553712"/>
            <a:ext cx="164592" cy="164592"/>
          </a:xfrm>
          <a:prstGeom prst="ellipse">
            <a:avLst/>
          </a:prstGeom>
          <a:solidFill>
            <a:srgbClr val="E8A33D"/>
          </a:solidFill>
          <a:ln/>
        </p:spPr>
      </p:sp>
      <p:sp>
        <p:nvSpPr>
          <p:cNvPr id="16" name="Text 14"/>
          <p:cNvSpPr/>
          <p:nvPr/>
        </p:nvSpPr>
        <p:spPr>
          <a:xfrm>
            <a:off x="6492240" y="4480560"/>
            <a:ext cx="4846320" cy="365760"/>
          </a:xfrm>
          <a:prstGeom prst="rect">
            <a:avLst/>
          </a:prstGeom>
          <a:noFill/>
          <a:ln/>
        </p:spPr>
        <p:txBody>
          <a:bodyPr wrap="square" lIns="0" tIns="0" rIns="0" bIns="0" rtlCol="0" anchor="ctr"/>
          <a:lstStyle/>
          <a:p>
            <a:pPr rtl="1" algn="r" indent="0" marL="0">
              <a:buNone/>
            </a:pPr>
            <a:r>
              <a:rPr lang="en-US" sz="1300" dirty="0">
                <a:solidFill>
                  <a:srgbClr val="E2E8F0"/>
                </a:solidFill>
                <a:latin typeface="Cairo" pitchFamily="34" charset="0"/>
                <a:ea typeface="Cairo" pitchFamily="34" charset="-122"/>
                <a:cs typeface="Cairo" pitchFamily="34" charset="-120"/>
              </a:rPr>
              <a:t>تحديث حالة الطلبات بين النظامين</a:t>
            </a:r>
            <a:endParaRPr lang="en-US" sz="1300" dirty="0"/>
          </a:p>
        </p:txBody>
      </p:sp>
      <p:sp>
        <p:nvSpPr>
          <p:cNvPr id="17" name="Shape 15"/>
          <p:cNvSpPr/>
          <p:nvPr/>
        </p:nvSpPr>
        <p:spPr>
          <a:xfrm>
            <a:off x="11430000" y="5010912"/>
            <a:ext cx="164592" cy="164592"/>
          </a:xfrm>
          <a:prstGeom prst="ellipse">
            <a:avLst/>
          </a:prstGeom>
          <a:solidFill>
            <a:srgbClr val="E8A33D"/>
          </a:solidFill>
          <a:ln/>
        </p:spPr>
      </p:sp>
      <p:sp>
        <p:nvSpPr>
          <p:cNvPr id="18" name="Text 16"/>
          <p:cNvSpPr/>
          <p:nvPr/>
        </p:nvSpPr>
        <p:spPr>
          <a:xfrm>
            <a:off x="6492240" y="4937760"/>
            <a:ext cx="4846320" cy="365760"/>
          </a:xfrm>
          <a:prstGeom prst="rect">
            <a:avLst/>
          </a:prstGeom>
          <a:noFill/>
          <a:ln/>
        </p:spPr>
        <p:txBody>
          <a:bodyPr wrap="square" lIns="0" tIns="0" rIns="0" bIns="0" rtlCol="0" anchor="ctr"/>
          <a:lstStyle/>
          <a:p>
            <a:pPr rtl="1" algn="r" indent="0" marL="0">
              <a:buNone/>
            </a:pPr>
            <a:r>
              <a:rPr lang="en-US" sz="1300" dirty="0">
                <a:solidFill>
                  <a:srgbClr val="E2E8F0"/>
                </a:solidFill>
                <a:latin typeface="Cairo" pitchFamily="34" charset="0"/>
                <a:ea typeface="Cairo" pitchFamily="34" charset="-122"/>
                <a:cs typeface="Cairo" pitchFamily="34" charset="-120"/>
              </a:rPr>
              <a:t>نظام طوابير (Queues) لمعالجة المهام الثقيلة</a:t>
            </a:r>
            <a:endParaRPr lang="en-US" sz="1300" dirty="0"/>
          </a:p>
        </p:txBody>
      </p:sp>
      <p:sp>
        <p:nvSpPr>
          <p:cNvPr id="19" name="Shape 17"/>
          <p:cNvSpPr/>
          <p:nvPr/>
        </p:nvSpPr>
        <p:spPr>
          <a:xfrm>
            <a:off x="11430000" y="5468112"/>
            <a:ext cx="164592" cy="164592"/>
          </a:xfrm>
          <a:prstGeom prst="ellipse">
            <a:avLst/>
          </a:prstGeom>
          <a:solidFill>
            <a:srgbClr val="E8A33D"/>
          </a:solidFill>
          <a:ln/>
        </p:spPr>
      </p:sp>
      <p:sp>
        <p:nvSpPr>
          <p:cNvPr id="20" name="Text 18"/>
          <p:cNvSpPr/>
          <p:nvPr/>
        </p:nvSpPr>
        <p:spPr>
          <a:xfrm>
            <a:off x="6492240" y="5394960"/>
            <a:ext cx="4846320" cy="365760"/>
          </a:xfrm>
          <a:prstGeom prst="rect">
            <a:avLst/>
          </a:prstGeom>
          <a:noFill/>
          <a:ln/>
        </p:spPr>
        <p:txBody>
          <a:bodyPr wrap="square" lIns="0" tIns="0" rIns="0" bIns="0" rtlCol="0" anchor="ctr"/>
          <a:lstStyle/>
          <a:p>
            <a:pPr rtl="1" algn="r" indent="0" marL="0">
              <a:buNone/>
            </a:pPr>
            <a:r>
              <a:rPr lang="en-US" sz="1300" dirty="0">
                <a:solidFill>
                  <a:srgbClr val="E2E8F0"/>
                </a:solidFill>
                <a:latin typeface="Cairo" pitchFamily="34" charset="0"/>
                <a:ea typeface="Cairo" pitchFamily="34" charset="-122"/>
                <a:cs typeface="Cairo" pitchFamily="34" charset="-120"/>
              </a:rPr>
              <a:t>تخزين مؤقت بـ Redis لأداء عالٍ</a:t>
            </a:r>
            <a:endParaRPr lang="en-US" sz="1300" dirty="0"/>
          </a:p>
        </p:txBody>
      </p:sp>
      <p:sp>
        <p:nvSpPr>
          <p:cNvPr id="21" name="Shape 19"/>
          <p:cNvSpPr/>
          <p:nvPr/>
        </p:nvSpPr>
        <p:spPr>
          <a:xfrm>
            <a:off x="411480" y="1920240"/>
            <a:ext cx="5486400" cy="4206240"/>
          </a:xfrm>
          <a:prstGeom prst="rect">
            <a:avLst/>
          </a:prstGeom>
          <a:solidFill>
            <a:srgbClr val="0F2A47"/>
          </a:solidFill>
          <a:ln/>
        </p:spPr>
      </p:sp>
      <p:sp>
        <p:nvSpPr>
          <p:cNvPr id="22" name="Shape 20"/>
          <p:cNvSpPr/>
          <p:nvPr/>
        </p:nvSpPr>
        <p:spPr>
          <a:xfrm>
            <a:off x="411480" y="1920240"/>
            <a:ext cx="5486400" cy="91440"/>
          </a:xfrm>
          <a:prstGeom prst="rect">
            <a:avLst/>
          </a:prstGeom>
          <a:solidFill>
            <a:srgbClr val="E8A33D"/>
          </a:solidFill>
          <a:ln/>
        </p:spPr>
      </p:sp>
      <p:sp>
        <p:nvSpPr>
          <p:cNvPr id="23" name="Text 21"/>
          <p:cNvSpPr/>
          <p:nvPr/>
        </p:nvSpPr>
        <p:spPr>
          <a:xfrm>
            <a:off x="640080" y="2103120"/>
            <a:ext cx="5120640" cy="457200"/>
          </a:xfrm>
          <a:prstGeom prst="rect">
            <a:avLst/>
          </a:prstGeom>
          <a:noFill/>
          <a:ln/>
        </p:spPr>
        <p:txBody>
          <a:bodyPr wrap="square" lIns="0" tIns="0" rIns="0" bIns="0" rtlCol="0" anchor="ctr"/>
          <a:lstStyle/>
          <a:p>
            <a:pPr rtl="1" algn="r" indent="0" marL="0">
              <a:buNone/>
            </a:pPr>
            <a:r>
              <a:rPr lang="en-US" sz="2200" b="1" dirty="0">
                <a:solidFill>
                  <a:srgbClr val="E8A33D"/>
                </a:solidFill>
                <a:latin typeface="Cairo" pitchFamily="34" charset="0"/>
                <a:ea typeface="Cairo" pitchFamily="34" charset="-122"/>
                <a:cs typeface="Cairo" pitchFamily="34" charset="-120"/>
              </a:rPr>
              <a:t>الأمان</a:t>
            </a:r>
            <a:endParaRPr lang="en-US" sz="2200" dirty="0"/>
          </a:p>
        </p:txBody>
      </p:sp>
      <p:sp>
        <p:nvSpPr>
          <p:cNvPr id="24" name="Text 22"/>
          <p:cNvSpPr/>
          <p:nvPr/>
        </p:nvSpPr>
        <p:spPr>
          <a:xfrm>
            <a:off x="640080" y="2606040"/>
            <a:ext cx="5120640" cy="365760"/>
          </a:xfrm>
          <a:prstGeom prst="rect">
            <a:avLst/>
          </a:prstGeom>
          <a:noFill/>
          <a:ln/>
        </p:spPr>
        <p:txBody>
          <a:bodyPr wrap="square" lIns="0" tIns="0" rIns="0" bIns="0" rtlCol="0" anchor="ctr"/>
          <a:lstStyle/>
          <a:p>
            <a:pPr rtl="1" algn="r" indent="0" marL="0">
              <a:buNone/>
            </a:pPr>
            <a:r>
              <a:rPr lang="en-US" sz="1600" b="1" dirty="0">
                <a:solidFill>
                  <a:srgbClr val="FFFFFF"/>
                </a:solidFill>
                <a:latin typeface="Cairo" pitchFamily="34" charset="0"/>
                <a:ea typeface="Cairo" pitchFamily="34" charset="-122"/>
                <a:cs typeface="Cairo" pitchFamily="34" charset="-120"/>
              </a:rPr>
              <a:t>حماية متعددة الطبقات</a:t>
            </a:r>
            <a:endParaRPr lang="en-US" sz="1600" dirty="0"/>
          </a:p>
        </p:txBody>
      </p:sp>
      <p:sp>
        <p:nvSpPr>
          <p:cNvPr id="25" name="Shape 23"/>
          <p:cNvSpPr/>
          <p:nvPr/>
        </p:nvSpPr>
        <p:spPr>
          <a:xfrm>
            <a:off x="5577840" y="3182112"/>
            <a:ext cx="164592" cy="164592"/>
          </a:xfrm>
          <a:prstGeom prst="ellipse">
            <a:avLst/>
          </a:prstGeom>
          <a:solidFill>
            <a:srgbClr val="E8A33D"/>
          </a:solidFill>
          <a:ln/>
        </p:spPr>
      </p:sp>
      <p:sp>
        <p:nvSpPr>
          <p:cNvPr id="26" name="Text 24"/>
          <p:cNvSpPr/>
          <p:nvPr/>
        </p:nvSpPr>
        <p:spPr>
          <a:xfrm>
            <a:off x="640080" y="3108960"/>
            <a:ext cx="4846320" cy="365760"/>
          </a:xfrm>
          <a:prstGeom prst="rect">
            <a:avLst/>
          </a:prstGeom>
          <a:noFill/>
          <a:ln/>
        </p:spPr>
        <p:txBody>
          <a:bodyPr wrap="square" lIns="0" tIns="0" rIns="0" bIns="0" rtlCol="0" anchor="ctr"/>
          <a:lstStyle/>
          <a:p>
            <a:pPr rtl="1" algn="r" indent="0" marL="0">
              <a:buNone/>
            </a:pPr>
            <a:r>
              <a:rPr lang="en-US" sz="1300" dirty="0">
                <a:solidFill>
                  <a:srgbClr val="E2E8F0"/>
                </a:solidFill>
                <a:latin typeface="Cairo" pitchFamily="34" charset="0"/>
                <a:ea typeface="Cairo" pitchFamily="34" charset="-122"/>
                <a:cs typeface="Cairo" pitchFamily="34" charset="-120"/>
              </a:rPr>
              <a:t>مصادقة إلزامية على كل ملف ومسار</a:t>
            </a:r>
            <a:endParaRPr lang="en-US" sz="1300" dirty="0"/>
          </a:p>
        </p:txBody>
      </p:sp>
      <p:sp>
        <p:nvSpPr>
          <p:cNvPr id="27" name="Shape 25"/>
          <p:cNvSpPr/>
          <p:nvPr/>
        </p:nvSpPr>
        <p:spPr>
          <a:xfrm>
            <a:off x="5577840" y="3639312"/>
            <a:ext cx="164592" cy="164592"/>
          </a:xfrm>
          <a:prstGeom prst="ellipse">
            <a:avLst/>
          </a:prstGeom>
          <a:solidFill>
            <a:srgbClr val="E8A33D"/>
          </a:solidFill>
          <a:ln/>
        </p:spPr>
      </p:sp>
      <p:sp>
        <p:nvSpPr>
          <p:cNvPr id="28" name="Text 26"/>
          <p:cNvSpPr/>
          <p:nvPr/>
        </p:nvSpPr>
        <p:spPr>
          <a:xfrm>
            <a:off x="640080" y="3566160"/>
            <a:ext cx="4846320" cy="365760"/>
          </a:xfrm>
          <a:prstGeom prst="rect">
            <a:avLst/>
          </a:prstGeom>
          <a:noFill/>
          <a:ln/>
        </p:spPr>
        <p:txBody>
          <a:bodyPr wrap="square" lIns="0" tIns="0" rIns="0" bIns="0" rtlCol="0" anchor="ctr"/>
          <a:lstStyle/>
          <a:p>
            <a:pPr rtl="1" algn="r" indent="0" marL="0">
              <a:buNone/>
            </a:pPr>
            <a:r>
              <a:rPr lang="en-US" sz="1300" dirty="0">
                <a:solidFill>
                  <a:srgbClr val="E2E8F0"/>
                </a:solidFill>
                <a:latin typeface="Cairo" pitchFamily="34" charset="0"/>
                <a:ea typeface="Cairo" pitchFamily="34" charset="-122"/>
                <a:cs typeface="Cairo" pitchFamily="34" charset="-120"/>
              </a:rPr>
              <a:t>سياسات وصول (Policies) دقيقة لكل دور</a:t>
            </a:r>
            <a:endParaRPr lang="en-US" sz="1300" dirty="0"/>
          </a:p>
        </p:txBody>
      </p:sp>
      <p:sp>
        <p:nvSpPr>
          <p:cNvPr id="29" name="Shape 27"/>
          <p:cNvSpPr/>
          <p:nvPr/>
        </p:nvSpPr>
        <p:spPr>
          <a:xfrm>
            <a:off x="5577840" y="4096512"/>
            <a:ext cx="164592" cy="164592"/>
          </a:xfrm>
          <a:prstGeom prst="ellipse">
            <a:avLst/>
          </a:prstGeom>
          <a:solidFill>
            <a:srgbClr val="E8A33D"/>
          </a:solidFill>
          <a:ln/>
        </p:spPr>
      </p:sp>
      <p:sp>
        <p:nvSpPr>
          <p:cNvPr id="30" name="Text 28"/>
          <p:cNvSpPr/>
          <p:nvPr/>
        </p:nvSpPr>
        <p:spPr>
          <a:xfrm>
            <a:off x="640080" y="4023360"/>
            <a:ext cx="4846320" cy="365760"/>
          </a:xfrm>
          <a:prstGeom prst="rect">
            <a:avLst/>
          </a:prstGeom>
          <a:noFill/>
          <a:ln/>
        </p:spPr>
        <p:txBody>
          <a:bodyPr wrap="square" lIns="0" tIns="0" rIns="0" bIns="0" rtlCol="0" anchor="ctr"/>
          <a:lstStyle/>
          <a:p>
            <a:pPr rtl="1" algn="r" indent="0" marL="0">
              <a:buNone/>
            </a:pPr>
            <a:r>
              <a:rPr lang="en-US" sz="1300" dirty="0">
                <a:solidFill>
                  <a:srgbClr val="E2E8F0"/>
                </a:solidFill>
                <a:latin typeface="Cairo" pitchFamily="34" charset="0"/>
                <a:ea typeface="Cairo" pitchFamily="34" charset="-122"/>
                <a:cs typeface="Cairo" pitchFamily="34" charset="-120"/>
              </a:rPr>
              <a:t>روابط ملفات مؤقتة وموقعة رقمياً</a:t>
            </a:r>
            <a:endParaRPr lang="en-US" sz="1300" dirty="0"/>
          </a:p>
        </p:txBody>
      </p:sp>
      <p:sp>
        <p:nvSpPr>
          <p:cNvPr id="31" name="Shape 29"/>
          <p:cNvSpPr/>
          <p:nvPr/>
        </p:nvSpPr>
        <p:spPr>
          <a:xfrm>
            <a:off x="5577840" y="4553712"/>
            <a:ext cx="164592" cy="164592"/>
          </a:xfrm>
          <a:prstGeom prst="ellipse">
            <a:avLst/>
          </a:prstGeom>
          <a:solidFill>
            <a:srgbClr val="E8A33D"/>
          </a:solidFill>
          <a:ln/>
        </p:spPr>
      </p:sp>
      <p:sp>
        <p:nvSpPr>
          <p:cNvPr id="32" name="Text 30"/>
          <p:cNvSpPr/>
          <p:nvPr/>
        </p:nvSpPr>
        <p:spPr>
          <a:xfrm>
            <a:off x="640080" y="4480560"/>
            <a:ext cx="4846320" cy="365760"/>
          </a:xfrm>
          <a:prstGeom prst="rect">
            <a:avLst/>
          </a:prstGeom>
          <a:noFill/>
          <a:ln/>
        </p:spPr>
        <p:txBody>
          <a:bodyPr wrap="square" lIns="0" tIns="0" rIns="0" bIns="0" rtlCol="0" anchor="ctr"/>
          <a:lstStyle/>
          <a:p>
            <a:pPr rtl="1" algn="r" indent="0" marL="0">
              <a:buNone/>
            </a:pPr>
            <a:r>
              <a:rPr lang="en-US" sz="1300" dirty="0">
                <a:solidFill>
                  <a:srgbClr val="E2E8F0"/>
                </a:solidFill>
                <a:latin typeface="Cairo" pitchFamily="34" charset="0"/>
                <a:ea typeface="Cairo" pitchFamily="34" charset="-122"/>
                <a:cs typeface="Cairo" pitchFamily="34" charset="-120"/>
              </a:rPr>
              <a:t>حماية بيانات الاعتماد في ملفات .env</a:t>
            </a:r>
            <a:endParaRPr lang="en-US" sz="1300" dirty="0"/>
          </a:p>
        </p:txBody>
      </p:sp>
      <p:sp>
        <p:nvSpPr>
          <p:cNvPr id="33" name="Shape 31"/>
          <p:cNvSpPr/>
          <p:nvPr/>
        </p:nvSpPr>
        <p:spPr>
          <a:xfrm>
            <a:off x="5577840" y="5010912"/>
            <a:ext cx="164592" cy="164592"/>
          </a:xfrm>
          <a:prstGeom prst="ellipse">
            <a:avLst/>
          </a:prstGeom>
          <a:solidFill>
            <a:srgbClr val="E8A33D"/>
          </a:solidFill>
          <a:ln/>
        </p:spPr>
      </p:sp>
      <p:sp>
        <p:nvSpPr>
          <p:cNvPr id="34" name="Text 32"/>
          <p:cNvSpPr/>
          <p:nvPr/>
        </p:nvSpPr>
        <p:spPr>
          <a:xfrm>
            <a:off x="640080" y="4937760"/>
            <a:ext cx="4846320" cy="365760"/>
          </a:xfrm>
          <a:prstGeom prst="rect">
            <a:avLst/>
          </a:prstGeom>
          <a:noFill/>
          <a:ln/>
        </p:spPr>
        <p:txBody>
          <a:bodyPr wrap="square" lIns="0" tIns="0" rIns="0" bIns="0" rtlCol="0" anchor="ctr"/>
          <a:lstStyle/>
          <a:p>
            <a:pPr rtl="1" algn="r" indent="0" marL="0">
              <a:buNone/>
            </a:pPr>
            <a:r>
              <a:rPr lang="en-US" sz="1300" dirty="0">
                <a:solidFill>
                  <a:srgbClr val="E2E8F0"/>
                </a:solidFill>
                <a:latin typeface="Cairo" pitchFamily="34" charset="0"/>
                <a:ea typeface="Cairo" pitchFamily="34" charset="-122"/>
                <a:cs typeface="Cairo" pitchFamily="34" charset="-120"/>
              </a:rPr>
              <a:t>اختبارات أمنية مدمجة (PHPUnit + PHPStan)</a:t>
            </a:r>
            <a:endParaRPr lang="en-US" sz="1300" dirty="0"/>
          </a:p>
        </p:txBody>
      </p:sp>
      <p:sp>
        <p:nvSpPr>
          <p:cNvPr id="35" name="Shape 33"/>
          <p:cNvSpPr/>
          <p:nvPr/>
        </p:nvSpPr>
        <p:spPr>
          <a:xfrm>
            <a:off x="5577840" y="5468112"/>
            <a:ext cx="164592" cy="164592"/>
          </a:xfrm>
          <a:prstGeom prst="ellipse">
            <a:avLst/>
          </a:prstGeom>
          <a:solidFill>
            <a:srgbClr val="E8A33D"/>
          </a:solidFill>
          <a:ln/>
        </p:spPr>
      </p:sp>
      <p:sp>
        <p:nvSpPr>
          <p:cNvPr id="36" name="Text 34"/>
          <p:cNvSpPr/>
          <p:nvPr/>
        </p:nvSpPr>
        <p:spPr>
          <a:xfrm>
            <a:off x="640080" y="5394960"/>
            <a:ext cx="4846320" cy="365760"/>
          </a:xfrm>
          <a:prstGeom prst="rect">
            <a:avLst/>
          </a:prstGeom>
          <a:noFill/>
          <a:ln/>
        </p:spPr>
        <p:txBody>
          <a:bodyPr wrap="square" lIns="0" tIns="0" rIns="0" bIns="0" rtlCol="0" anchor="ctr"/>
          <a:lstStyle/>
          <a:p>
            <a:pPr rtl="1" algn="r" indent="0" marL="0">
              <a:buNone/>
            </a:pPr>
            <a:r>
              <a:rPr lang="en-US" sz="1300" dirty="0">
                <a:solidFill>
                  <a:srgbClr val="E2E8F0"/>
                </a:solidFill>
                <a:latin typeface="Cairo" pitchFamily="34" charset="0"/>
                <a:ea typeface="Cairo" pitchFamily="34" charset="-122"/>
                <a:cs typeface="Cairo" pitchFamily="34" charset="-120"/>
              </a:rPr>
              <a:t>نسخ احتياطية وسجلات تدقيق شاملة</a:t>
            </a:r>
            <a:endParaRPr lang="en-US" sz="1300" dirty="0"/>
          </a:p>
        </p:txBody>
      </p:sp>
      <p:sp>
        <p:nvSpPr>
          <p:cNvPr id="37" name="Text 35"/>
          <p:cNvSpPr/>
          <p:nvPr/>
        </p:nvSpPr>
        <p:spPr>
          <a:xfrm>
            <a:off x="11155680" y="6492240"/>
            <a:ext cx="822960" cy="274320"/>
          </a:xfrm>
          <a:prstGeom prst="rect">
            <a:avLst/>
          </a:prstGeom>
          <a:noFill/>
          <a:ln/>
        </p:spPr>
        <p:txBody>
          <a:bodyPr wrap="square" lIns="0" tIns="0" rIns="0" bIns="0" rtlCol="0" anchor="ctr"/>
          <a:lstStyle/>
          <a:p>
            <a:pPr algn="l" indent="0" marL="0">
              <a:buNone/>
            </a:pPr>
            <a:r>
              <a:rPr lang="en-US" sz="900" dirty="0">
                <a:solidFill>
                  <a:srgbClr val="94A3B8"/>
                </a:solidFill>
                <a:latin typeface="Cairo" pitchFamily="34" charset="0"/>
                <a:ea typeface="Cairo" pitchFamily="34" charset="-122"/>
                <a:cs typeface="Cairo" pitchFamily="34" charset="-120"/>
              </a:rPr>
              <a:t>10 / 12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1247120" cy="365760"/>
          </a:xfrm>
          <a:prstGeom prst="rect">
            <a:avLst/>
          </a:prstGeom>
          <a:noFill/>
          <a:ln/>
        </p:spPr>
        <p:txBody>
          <a:bodyPr wrap="square" lIns="0" tIns="0" rIns="0" bIns="0" rtlCol="0" anchor="ctr"/>
          <a:lstStyle/>
          <a:p>
            <a:pPr rtl="1" algn="r" indent="0" marL="0">
              <a:buNone/>
            </a:pPr>
            <a:r>
              <a:rPr lang="en-US" sz="1300" b="1" dirty="0">
                <a:solidFill>
                  <a:srgbClr val="E8A33D"/>
                </a:solidFill>
                <a:latin typeface="Cairo" pitchFamily="34" charset="0"/>
                <a:ea typeface="Cairo" pitchFamily="34" charset="-122"/>
                <a:cs typeface="Cairo" pitchFamily="34" charset="-120"/>
              </a:rPr>
              <a:t>07 — حالات الاستخدام</a:t>
            </a:r>
            <a:endParaRPr lang="en-US" sz="1300" dirty="0"/>
          </a:p>
        </p:txBody>
      </p:sp>
      <p:sp>
        <p:nvSpPr>
          <p:cNvPr id="3" name="Text 1"/>
          <p:cNvSpPr/>
          <p:nvPr/>
        </p:nvSpPr>
        <p:spPr>
          <a:xfrm>
            <a:off x="457200" y="822960"/>
            <a:ext cx="11247120" cy="640080"/>
          </a:xfrm>
          <a:prstGeom prst="rect">
            <a:avLst/>
          </a:prstGeom>
          <a:noFill/>
          <a:ln/>
        </p:spPr>
        <p:txBody>
          <a:bodyPr wrap="square" lIns="0" tIns="0" rIns="0" bIns="0" rtlCol="0" anchor="ctr"/>
          <a:lstStyle/>
          <a:p>
            <a:pPr rtl="1" algn="r" indent="0" marL="0">
              <a:buNone/>
            </a:pPr>
            <a:r>
              <a:rPr lang="en-US" sz="3200" b="1" dirty="0">
                <a:solidFill>
                  <a:srgbClr val="0F2A47"/>
                </a:solidFill>
                <a:latin typeface="Cairo" pitchFamily="34" charset="0"/>
                <a:ea typeface="Cairo" pitchFamily="34" charset="-122"/>
                <a:cs typeface="Cairo" pitchFamily="34" charset="-120"/>
              </a:rPr>
              <a:t>سيناريوهات عملية من واقع المصانع</a:t>
            </a:r>
            <a:endParaRPr lang="en-US" sz="3200" dirty="0"/>
          </a:p>
        </p:txBody>
      </p:sp>
      <p:sp>
        <p:nvSpPr>
          <p:cNvPr id="4" name="Shape 2"/>
          <p:cNvSpPr/>
          <p:nvPr/>
        </p:nvSpPr>
        <p:spPr>
          <a:xfrm>
            <a:off x="10698480" y="1554480"/>
            <a:ext cx="1005840" cy="45720"/>
          </a:xfrm>
          <a:prstGeom prst="rect">
            <a:avLst/>
          </a:prstGeom>
          <a:solidFill>
            <a:srgbClr val="E8A33D"/>
          </a:solidFill>
          <a:ln/>
        </p:spPr>
      </p:sp>
      <p:sp>
        <p:nvSpPr>
          <p:cNvPr id="5" name="Shape 3"/>
          <p:cNvSpPr/>
          <p:nvPr/>
        </p:nvSpPr>
        <p:spPr>
          <a:xfrm>
            <a:off x="411480" y="1828800"/>
            <a:ext cx="11338560" cy="1417320"/>
          </a:xfrm>
          <a:prstGeom prst="rect">
            <a:avLst/>
          </a:prstGeom>
          <a:solidFill>
            <a:srgbClr val="F5F7FA"/>
          </a:solidFill>
          <a:ln/>
        </p:spPr>
      </p:sp>
      <p:sp>
        <p:nvSpPr>
          <p:cNvPr id="6" name="Shape 4"/>
          <p:cNvSpPr/>
          <p:nvPr/>
        </p:nvSpPr>
        <p:spPr>
          <a:xfrm>
            <a:off x="11676888" y="1828800"/>
            <a:ext cx="73152" cy="1417320"/>
          </a:xfrm>
          <a:prstGeom prst="rect">
            <a:avLst/>
          </a:prstGeom>
          <a:solidFill>
            <a:srgbClr val="E8A33D"/>
          </a:solidFill>
          <a:ln/>
        </p:spPr>
      </p:sp>
      <p:sp>
        <p:nvSpPr>
          <p:cNvPr id="7" name="Shape 5"/>
          <p:cNvSpPr/>
          <p:nvPr/>
        </p:nvSpPr>
        <p:spPr>
          <a:xfrm>
            <a:off x="8595360" y="1965960"/>
            <a:ext cx="3017520" cy="1143000"/>
          </a:xfrm>
          <a:prstGeom prst="rect">
            <a:avLst/>
          </a:prstGeom>
          <a:solidFill>
            <a:srgbClr val="0F2A47"/>
          </a:solidFill>
          <a:ln/>
        </p:spPr>
      </p:sp>
      <p:sp>
        <p:nvSpPr>
          <p:cNvPr id="8" name="Text 6"/>
          <p:cNvSpPr/>
          <p:nvPr/>
        </p:nvSpPr>
        <p:spPr>
          <a:xfrm>
            <a:off x="8686800" y="2103120"/>
            <a:ext cx="2834640" cy="502920"/>
          </a:xfrm>
          <a:prstGeom prst="rect">
            <a:avLst/>
          </a:prstGeom>
          <a:noFill/>
          <a:ln/>
        </p:spPr>
        <p:txBody>
          <a:bodyPr wrap="square" lIns="0" tIns="0" rIns="0" bIns="0" rtlCol="0" anchor="ctr"/>
          <a:lstStyle/>
          <a:p>
            <a:pPr rtl="1" algn="ctr" indent="0" marL="0">
              <a:buNone/>
            </a:pPr>
            <a:r>
              <a:rPr lang="en-US" sz="2200" b="1" dirty="0">
                <a:solidFill>
                  <a:srgbClr val="E8A33D"/>
                </a:solidFill>
                <a:latin typeface="Cairo" pitchFamily="34" charset="0"/>
                <a:ea typeface="Cairo" pitchFamily="34" charset="-122"/>
                <a:cs typeface="Cairo" pitchFamily="34" charset="-120"/>
              </a:rPr>
              <a:t>مصنع أثاث</a:t>
            </a:r>
            <a:endParaRPr lang="en-US" sz="2200" dirty="0"/>
          </a:p>
        </p:txBody>
      </p:sp>
      <p:sp>
        <p:nvSpPr>
          <p:cNvPr id="9" name="Text 7"/>
          <p:cNvSpPr/>
          <p:nvPr/>
        </p:nvSpPr>
        <p:spPr>
          <a:xfrm>
            <a:off x="8686800" y="2606040"/>
            <a:ext cx="2834640" cy="502920"/>
          </a:xfrm>
          <a:prstGeom prst="rect">
            <a:avLst/>
          </a:prstGeom>
          <a:noFill/>
          <a:ln/>
        </p:spPr>
        <p:txBody>
          <a:bodyPr wrap="square" lIns="0" tIns="0" rIns="0" bIns="0" rtlCol="0" anchor="ctr"/>
          <a:lstStyle/>
          <a:p>
            <a:pPr rtl="1" algn="ctr" indent="0" marL="0">
              <a:buNone/>
            </a:pPr>
            <a:r>
              <a:rPr lang="en-US" sz="1100" i="1" dirty="0">
                <a:solidFill>
                  <a:srgbClr val="E2E8F0"/>
                </a:solidFill>
                <a:latin typeface="Cairo" pitchFamily="34" charset="0"/>
                <a:ea typeface="Cairo" pitchFamily="34" charset="-122"/>
                <a:cs typeface="Cairo" pitchFamily="34" charset="-120"/>
              </a:rPr>
              <a:t>العميل يطلب غرفة نوم مفصلة عبر صالة العرض</a:t>
            </a:r>
            <a:endParaRPr lang="en-US" sz="1100" dirty="0"/>
          </a:p>
        </p:txBody>
      </p:sp>
      <p:sp>
        <p:nvSpPr>
          <p:cNvPr id="10" name="Text 8"/>
          <p:cNvSpPr/>
          <p:nvPr/>
        </p:nvSpPr>
        <p:spPr>
          <a:xfrm>
            <a:off x="640080" y="1965960"/>
            <a:ext cx="7772400" cy="274320"/>
          </a:xfrm>
          <a:prstGeom prst="rect">
            <a:avLst/>
          </a:prstGeom>
          <a:noFill/>
          <a:ln/>
        </p:spPr>
        <p:txBody>
          <a:bodyPr wrap="square" lIns="0" tIns="0" rIns="0" bIns="0" rtlCol="0" anchor="ctr"/>
          <a:lstStyle/>
          <a:p>
            <a:pPr rtl="1" algn="r" indent="0" marL="0">
              <a:buNone/>
            </a:pPr>
            <a:r>
              <a:rPr lang="en-US" sz="1100" b="1" dirty="0">
                <a:solidFill>
                  <a:srgbClr val="E8A33D"/>
                </a:solidFill>
                <a:latin typeface="Cairo" pitchFamily="34" charset="0"/>
                <a:ea typeface="Cairo" pitchFamily="34" charset="-122"/>
                <a:cs typeface="Cairo" pitchFamily="34" charset="-120"/>
              </a:rPr>
              <a:t>سير العمل في النظام</a:t>
            </a:r>
            <a:endParaRPr lang="en-US" sz="1100" dirty="0"/>
          </a:p>
        </p:txBody>
      </p:sp>
      <p:sp>
        <p:nvSpPr>
          <p:cNvPr id="11" name="Text 9"/>
          <p:cNvSpPr/>
          <p:nvPr/>
        </p:nvSpPr>
        <p:spPr>
          <a:xfrm>
            <a:off x="640080" y="2286000"/>
            <a:ext cx="7772400" cy="868680"/>
          </a:xfrm>
          <a:prstGeom prst="rect">
            <a:avLst/>
          </a:prstGeom>
          <a:noFill/>
          <a:ln/>
        </p:spPr>
        <p:txBody>
          <a:bodyPr wrap="square" lIns="0" tIns="0" rIns="0" bIns="0" rtlCol="0" anchor="ctr"/>
          <a:lstStyle/>
          <a:p>
            <a:pPr rtl="1" algn="r" indent="0" marL="0">
              <a:spcAft>
                <a:spcPts val="400"/>
              </a:spcAft>
              <a:buNone/>
            </a:pPr>
            <a:r>
              <a:rPr lang="en-US" sz="1300" dirty="0">
                <a:solidFill>
                  <a:srgbClr val="1E293B"/>
                </a:solidFill>
                <a:latin typeface="Cairo" pitchFamily="34" charset="0"/>
                <a:ea typeface="Cairo" pitchFamily="34" charset="-122"/>
                <a:cs typeface="Cairo" pitchFamily="34" charset="-120"/>
              </a:rPr>
              <a:t>مدير الصالة يراجع المقاسات → مدير المصنع يستلم → قسم النجارة + قسم الدهانات → فحص الجودة → فريق التركيب في موقع العميل</a:t>
            </a:r>
            <a:endParaRPr lang="en-US" sz="1300" dirty="0"/>
          </a:p>
        </p:txBody>
      </p:sp>
      <p:sp>
        <p:nvSpPr>
          <p:cNvPr id="12" name="Shape 10"/>
          <p:cNvSpPr/>
          <p:nvPr/>
        </p:nvSpPr>
        <p:spPr>
          <a:xfrm>
            <a:off x="411480" y="3429000"/>
            <a:ext cx="11338560" cy="1417320"/>
          </a:xfrm>
          <a:prstGeom prst="rect">
            <a:avLst/>
          </a:prstGeom>
          <a:solidFill>
            <a:srgbClr val="F5F7FA"/>
          </a:solidFill>
          <a:ln/>
        </p:spPr>
      </p:sp>
      <p:sp>
        <p:nvSpPr>
          <p:cNvPr id="13" name="Shape 11"/>
          <p:cNvSpPr/>
          <p:nvPr/>
        </p:nvSpPr>
        <p:spPr>
          <a:xfrm>
            <a:off x="11676888" y="3429000"/>
            <a:ext cx="73152" cy="1417320"/>
          </a:xfrm>
          <a:prstGeom prst="rect">
            <a:avLst/>
          </a:prstGeom>
          <a:solidFill>
            <a:srgbClr val="E8A33D"/>
          </a:solidFill>
          <a:ln/>
        </p:spPr>
      </p:sp>
      <p:sp>
        <p:nvSpPr>
          <p:cNvPr id="14" name="Shape 12"/>
          <p:cNvSpPr/>
          <p:nvPr/>
        </p:nvSpPr>
        <p:spPr>
          <a:xfrm>
            <a:off x="8595360" y="3566160"/>
            <a:ext cx="3017520" cy="1143000"/>
          </a:xfrm>
          <a:prstGeom prst="rect">
            <a:avLst/>
          </a:prstGeom>
          <a:solidFill>
            <a:srgbClr val="0F2A47"/>
          </a:solidFill>
          <a:ln/>
        </p:spPr>
      </p:sp>
      <p:sp>
        <p:nvSpPr>
          <p:cNvPr id="15" name="Text 13"/>
          <p:cNvSpPr/>
          <p:nvPr/>
        </p:nvSpPr>
        <p:spPr>
          <a:xfrm>
            <a:off x="8686800" y="3703320"/>
            <a:ext cx="2834640" cy="502920"/>
          </a:xfrm>
          <a:prstGeom prst="rect">
            <a:avLst/>
          </a:prstGeom>
          <a:noFill/>
          <a:ln/>
        </p:spPr>
        <p:txBody>
          <a:bodyPr wrap="square" lIns="0" tIns="0" rIns="0" bIns="0" rtlCol="0" anchor="ctr"/>
          <a:lstStyle/>
          <a:p>
            <a:pPr rtl="1" algn="ctr" indent="0" marL="0">
              <a:buNone/>
            </a:pPr>
            <a:r>
              <a:rPr lang="en-US" sz="2200" b="1" dirty="0">
                <a:solidFill>
                  <a:srgbClr val="E8A33D"/>
                </a:solidFill>
                <a:latin typeface="Cairo" pitchFamily="34" charset="0"/>
                <a:ea typeface="Cairo" pitchFamily="34" charset="-122"/>
                <a:cs typeface="Cairo" pitchFamily="34" charset="-120"/>
              </a:rPr>
              <a:t>مصنع مطابخ</a:t>
            </a:r>
            <a:endParaRPr lang="en-US" sz="2200" dirty="0"/>
          </a:p>
        </p:txBody>
      </p:sp>
      <p:sp>
        <p:nvSpPr>
          <p:cNvPr id="16" name="Text 14"/>
          <p:cNvSpPr/>
          <p:nvPr/>
        </p:nvSpPr>
        <p:spPr>
          <a:xfrm>
            <a:off x="8686800" y="4206240"/>
            <a:ext cx="2834640" cy="502920"/>
          </a:xfrm>
          <a:prstGeom prst="rect">
            <a:avLst/>
          </a:prstGeom>
          <a:noFill/>
          <a:ln/>
        </p:spPr>
        <p:txBody>
          <a:bodyPr wrap="square" lIns="0" tIns="0" rIns="0" bIns="0" rtlCol="0" anchor="ctr"/>
          <a:lstStyle/>
          <a:p>
            <a:pPr rtl="1" algn="ctr" indent="0" marL="0">
              <a:buNone/>
            </a:pPr>
            <a:r>
              <a:rPr lang="en-US" sz="1100" i="1" dirty="0">
                <a:solidFill>
                  <a:srgbClr val="E2E8F0"/>
                </a:solidFill>
                <a:latin typeface="Cairo" pitchFamily="34" charset="0"/>
                <a:ea typeface="Cairo" pitchFamily="34" charset="-122"/>
                <a:cs typeface="Cairo" pitchFamily="34" charset="-120"/>
              </a:rPr>
              <a:t>طلب مطبخ خاص مع رخام وأجهزة</a:t>
            </a:r>
            <a:endParaRPr lang="en-US" sz="1100" dirty="0"/>
          </a:p>
        </p:txBody>
      </p:sp>
      <p:sp>
        <p:nvSpPr>
          <p:cNvPr id="17" name="Text 15"/>
          <p:cNvSpPr/>
          <p:nvPr/>
        </p:nvSpPr>
        <p:spPr>
          <a:xfrm>
            <a:off x="640080" y="3566160"/>
            <a:ext cx="7772400" cy="274320"/>
          </a:xfrm>
          <a:prstGeom prst="rect">
            <a:avLst/>
          </a:prstGeom>
          <a:noFill/>
          <a:ln/>
        </p:spPr>
        <p:txBody>
          <a:bodyPr wrap="square" lIns="0" tIns="0" rIns="0" bIns="0" rtlCol="0" anchor="ctr"/>
          <a:lstStyle/>
          <a:p>
            <a:pPr rtl="1" algn="r" indent="0" marL="0">
              <a:buNone/>
            </a:pPr>
            <a:r>
              <a:rPr lang="en-US" sz="1100" b="1" dirty="0">
                <a:solidFill>
                  <a:srgbClr val="E8A33D"/>
                </a:solidFill>
                <a:latin typeface="Cairo" pitchFamily="34" charset="0"/>
                <a:ea typeface="Cairo" pitchFamily="34" charset="-122"/>
                <a:cs typeface="Cairo" pitchFamily="34" charset="-120"/>
              </a:rPr>
              <a:t>سير العمل في النظام</a:t>
            </a:r>
            <a:endParaRPr lang="en-US" sz="1100" dirty="0"/>
          </a:p>
        </p:txBody>
      </p:sp>
      <p:sp>
        <p:nvSpPr>
          <p:cNvPr id="18" name="Text 16"/>
          <p:cNvSpPr/>
          <p:nvPr/>
        </p:nvSpPr>
        <p:spPr>
          <a:xfrm>
            <a:off x="640080" y="3886200"/>
            <a:ext cx="7772400" cy="868680"/>
          </a:xfrm>
          <a:prstGeom prst="rect">
            <a:avLst/>
          </a:prstGeom>
          <a:noFill/>
          <a:ln/>
        </p:spPr>
        <p:txBody>
          <a:bodyPr wrap="square" lIns="0" tIns="0" rIns="0" bIns="0" rtlCol="0" anchor="ctr"/>
          <a:lstStyle/>
          <a:p>
            <a:pPr rtl="1" algn="r" indent="0" marL="0">
              <a:spcAft>
                <a:spcPts val="400"/>
              </a:spcAft>
              <a:buNone/>
            </a:pPr>
            <a:r>
              <a:rPr lang="en-US" sz="1300" dirty="0">
                <a:solidFill>
                  <a:srgbClr val="1E293B"/>
                </a:solidFill>
                <a:latin typeface="Cairo" pitchFamily="34" charset="0"/>
                <a:ea typeface="Cairo" pitchFamily="34" charset="-122"/>
                <a:cs typeface="Cairo" pitchFamily="34" charset="-120"/>
              </a:rPr>
              <a:t>المبيعات تنشئ الطلب → المشتريات تطلب الرخام والأجهزة → التصنيع المتوازي للوحدات → الجودة → التركيب والتسليم</a:t>
            </a:r>
            <a:endParaRPr lang="en-US" sz="1300" dirty="0"/>
          </a:p>
        </p:txBody>
      </p:sp>
      <p:sp>
        <p:nvSpPr>
          <p:cNvPr id="19" name="Shape 17"/>
          <p:cNvSpPr/>
          <p:nvPr/>
        </p:nvSpPr>
        <p:spPr>
          <a:xfrm>
            <a:off x="411480" y="5029200"/>
            <a:ext cx="11338560" cy="1417320"/>
          </a:xfrm>
          <a:prstGeom prst="rect">
            <a:avLst/>
          </a:prstGeom>
          <a:solidFill>
            <a:srgbClr val="F5F7FA"/>
          </a:solidFill>
          <a:ln/>
        </p:spPr>
      </p:sp>
      <p:sp>
        <p:nvSpPr>
          <p:cNvPr id="20" name="Shape 18"/>
          <p:cNvSpPr/>
          <p:nvPr/>
        </p:nvSpPr>
        <p:spPr>
          <a:xfrm>
            <a:off x="11676888" y="5029200"/>
            <a:ext cx="73152" cy="1417320"/>
          </a:xfrm>
          <a:prstGeom prst="rect">
            <a:avLst/>
          </a:prstGeom>
          <a:solidFill>
            <a:srgbClr val="E8A33D"/>
          </a:solidFill>
          <a:ln/>
        </p:spPr>
      </p:sp>
      <p:sp>
        <p:nvSpPr>
          <p:cNvPr id="21" name="Shape 19"/>
          <p:cNvSpPr/>
          <p:nvPr/>
        </p:nvSpPr>
        <p:spPr>
          <a:xfrm>
            <a:off x="8595360" y="5166360"/>
            <a:ext cx="3017520" cy="1143000"/>
          </a:xfrm>
          <a:prstGeom prst="rect">
            <a:avLst/>
          </a:prstGeom>
          <a:solidFill>
            <a:srgbClr val="0F2A47"/>
          </a:solidFill>
          <a:ln/>
        </p:spPr>
      </p:sp>
      <p:sp>
        <p:nvSpPr>
          <p:cNvPr id="22" name="Text 20"/>
          <p:cNvSpPr/>
          <p:nvPr/>
        </p:nvSpPr>
        <p:spPr>
          <a:xfrm>
            <a:off x="8686800" y="5303520"/>
            <a:ext cx="2834640" cy="502920"/>
          </a:xfrm>
          <a:prstGeom prst="rect">
            <a:avLst/>
          </a:prstGeom>
          <a:noFill/>
          <a:ln/>
        </p:spPr>
        <p:txBody>
          <a:bodyPr wrap="square" lIns="0" tIns="0" rIns="0" bIns="0" rtlCol="0" anchor="ctr"/>
          <a:lstStyle/>
          <a:p>
            <a:pPr rtl="1" algn="ctr" indent="0" marL="0">
              <a:buNone/>
            </a:pPr>
            <a:r>
              <a:rPr lang="en-US" sz="2200" b="1" dirty="0">
                <a:solidFill>
                  <a:srgbClr val="E8A33D"/>
                </a:solidFill>
                <a:latin typeface="Cairo" pitchFamily="34" charset="0"/>
                <a:ea typeface="Cairo" pitchFamily="34" charset="-122"/>
                <a:cs typeface="Cairo" pitchFamily="34" charset="-120"/>
              </a:rPr>
              <a:t>مصنع تجهيزات معدنية</a:t>
            </a:r>
            <a:endParaRPr lang="en-US" sz="2200" dirty="0"/>
          </a:p>
        </p:txBody>
      </p:sp>
      <p:sp>
        <p:nvSpPr>
          <p:cNvPr id="23" name="Text 21"/>
          <p:cNvSpPr/>
          <p:nvPr/>
        </p:nvSpPr>
        <p:spPr>
          <a:xfrm>
            <a:off x="8686800" y="5806440"/>
            <a:ext cx="2834640" cy="502920"/>
          </a:xfrm>
          <a:prstGeom prst="rect">
            <a:avLst/>
          </a:prstGeom>
          <a:noFill/>
          <a:ln/>
        </p:spPr>
        <p:txBody>
          <a:bodyPr wrap="square" lIns="0" tIns="0" rIns="0" bIns="0" rtlCol="0" anchor="ctr"/>
          <a:lstStyle/>
          <a:p>
            <a:pPr rtl="1" algn="ctr" indent="0" marL="0">
              <a:buNone/>
            </a:pPr>
            <a:r>
              <a:rPr lang="en-US" sz="1100" i="1" dirty="0">
                <a:solidFill>
                  <a:srgbClr val="E2E8F0"/>
                </a:solidFill>
                <a:latin typeface="Cairo" pitchFamily="34" charset="0"/>
                <a:ea typeface="Cairo" pitchFamily="34" charset="-122"/>
                <a:cs typeface="Cairo" pitchFamily="34" charset="-120"/>
              </a:rPr>
              <a:t>طلب أبواب ونوافذ مقاومة للحريق</a:t>
            </a:r>
            <a:endParaRPr lang="en-US" sz="1100" dirty="0"/>
          </a:p>
        </p:txBody>
      </p:sp>
      <p:sp>
        <p:nvSpPr>
          <p:cNvPr id="24" name="Text 22"/>
          <p:cNvSpPr/>
          <p:nvPr/>
        </p:nvSpPr>
        <p:spPr>
          <a:xfrm>
            <a:off x="640080" y="5166360"/>
            <a:ext cx="7772400" cy="274320"/>
          </a:xfrm>
          <a:prstGeom prst="rect">
            <a:avLst/>
          </a:prstGeom>
          <a:noFill/>
          <a:ln/>
        </p:spPr>
        <p:txBody>
          <a:bodyPr wrap="square" lIns="0" tIns="0" rIns="0" bIns="0" rtlCol="0" anchor="ctr"/>
          <a:lstStyle/>
          <a:p>
            <a:pPr rtl="1" algn="r" indent="0" marL="0">
              <a:buNone/>
            </a:pPr>
            <a:r>
              <a:rPr lang="en-US" sz="1100" b="1" dirty="0">
                <a:solidFill>
                  <a:srgbClr val="E8A33D"/>
                </a:solidFill>
                <a:latin typeface="Cairo" pitchFamily="34" charset="0"/>
                <a:ea typeface="Cairo" pitchFamily="34" charset="-122"/>
                <a:cs typeface="Cairo" pitchFamily="34" charset="-120"/>
              </a:rPr>
              <a:t>سير العمل في النظام</a:t>
            </a:r>
            <a:endParaRPr lang="en-US" sz="1100" dirty="0"/>
          </a:p>
        </p:txBody>
      </p:sp>
      <p:sp>
        <p:nvSpPr>
          <p:cNvPr id="25" name="Text 23"/>
          <p:cNvSpPr/>
          <p:nvPr/>
        </p:nvSpPr>
        <p:spPr>
          <a:xfrm>
            <a:off x="640080" y="5486400"/>
            <a:ext cx="7772400" cy="868680"/>
          </a:xfrm>
          <a:prstGeom prst="rect">
            <a:avLst/>
          </a:prstGeom>
          <a:noFill/>
          <a:ln/>
        </p:spPr>
        <p:txBody>
          <a:bodyPr wrap="square" lIns="0" tIns="0" rIns="0" bIns="0" rtlCol="0" anchor="ctr"/>
          <a:lstStyle/>
          <a:p>
            <a:pPr rtl="1" algn="r" indent="0" marL="0">
              <a:spcAft>
                <a:spcPts val="400"/>
              </a:spcAft>
              <a:buNone/>
            </a:pPr>
            <a:r>
              <a:rPr lang="en-US" sz="1300" dirty="0">
                <a:solidFill>
                  <a:srgbClr val="1E293B"/>
                </a:solidFill>
                <a:latin typeface="Cairo" pitchFamily="34" charset="0"/>
                <a:ea typeface="Cairo" pitchFamily="34" charset="-122"/>
                <a:cs typeface="Cairo" pitchFamily="34" charset="-120"/>
              </a:rPr>
              <a:t>استلام مباشر من المبيعات → قسم القص والحدادة → قسم الطلاء الإلكتروستاتيكي → فحص جودة مزدوج → تركيب موقعي</a:t>
            </a:r>
            <a:endParaRPr lang="en-US" sz="1300" dirty="0"/>
          </a:p>
        </p:txBody>
      </p:sp>
      <p:sp>
        <p:nvSpPr>
          <p:cNvPr id="26" name="Text 24"/>
          <p:cNvSpPr/>
          <p:nvPr/>
        </p:nvSpPr>
        <p:spPr>
          <a:xfrm>
            <a:off x="457200" y="6492240"/>
            <a:ext cx="5486400" cy="274320"/>
          </a:xfrm>
          <a:prstGeom prst="rect">
            <a:avLst/>
          </a:prstGeom>
          <a:noFill/>
          <a:ln/>
        </p:spPr>
        <p:txBody>
          <a:bodyPr wrap="square" lIns="0" tIns="0" rIns="0" bIns="0" rtlCol="0" anchor="ctr"/>
          <a:lstStyle/>
          <a:p>
            <a:pPr rtl="1" algn="r" indent="0" marL="0">
              <a:buNone/>
            </a:pPr>
            <a:r>
              <a:rPr lang="en-US" sz="900" dirty="0">
                <a:solidFill>
                  <a:srgbClr val="94A3B8"/>
                </a:solidFill>
                <a:latin typeface="Cairo" pitchFamily="34" charset="0"/>
                <a:ea typeface="Cairo" pitchFamily="34" charset="-122"/>
                <a:cs typeface="Cairo" pitchFamily="34" charset="-120"/>
              </a:rPr>
              <a:t>ModernLife — نظام إدارة التصنيع المتكامل</a:t>
            </a:r>
            <a:endParaRPr lang="en-US" sz="900" dirty="0"/>
          </a:p>
        </p:txBody>
      </p:sp>
      <p:sp>
        <p:nvSpPr>
          <p:cNvPr id="27" name="Text 25"/>
          <p:cNvSpPr/>
          <p:nvPr/>
        </p:nvSpPr>
        <p:spPr>
          <a:xfrm>
            <a:off x="11155680" y="6492240"/>
            <a:ext cx="822960" cy="274320"/>
          </a:xfrm>
          <a:prstGeom prst="rect">
            <a:avLst/>
          </a:prstGeom>
          <a:noFill/>
          <a:ln/>
        </p:spPr>
        <p:txBody>
          <a:bodyPr wrap="square" lIns="0" tIns="0" rIns="0" bIns="0" rtlCol="0" anchor="ctr"/>
          <a:lstStyle/>
          <a:p>
            <a:pPr algn="l" indent="0" marL="0">
              <a:buNone/>
            </a:pPr>
            <a:r>
              <a:rPr lang="en-US" sz="900" dirty="0">
                <a:solidFill>
                  <a:srgbClr val="94A3B8"/>
                </a:solidFill>
                <a:latin typeface="Cairo" pitchFamily="34" charset="0"/>
                <a:ea typeface="Cairo" pitchFamily="34" charset="-122"/>
                <a:cs typeface="Cairo" pitchFamily="34" charset="-120"/>
              </a:rPr>
              <a:t>11 / 12</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81827"/>
        </a:solidFill>
      </p:bgPr>
    </p:bg>
    <p:spTree>
      <p:nvGrpSpPr>
        <p:cNvPr id="1" name=""/>
        <p:cNvGrpSpPr/>
        <p:nvPr/>
      </p:nvGrpSpPr>
      <p:grpSpPr>
        <a:xfrm>
          <a:off x="0" y="0"/>
          <a:ext cx="0" cy="0"/>
          <a:chOff x="0" y="0"/>
          <a:chExt cx="0" cy="0"/>
        </a:xfrm>
      </p:grpSpPr>
      <p:sp>
        <p:nvSpPr>
          <p:cNvPr id="2" name="Shape 0"/>
          <p:cNvSpPr/>
          <p:nvPr/>
        </p:nvSpPr>
        <p:spPr>
          <a:xfrm>
            <a:off x="0" y="0"/>
            <a:ext cx="1645920" cy="1645920"/>
          </a:xfrm>
          <a:prstGeom prst="rect">
            <a:avLst/>
          </a:prstGeom>
          <a:solidFill>
            <a:srgbClr val="E8A33D"/>
          </a:solidFill>
          <a:ln/>
        </p:spPr>
      </p:sp>
      <p:sp>
        <p:nvSpPr>
          <p:cNvPr id="3" name="Shape 1"/>
          <p:cNvSpPr/>
          <p:nvPr/>
        </p:nvSpPr>
        <p:spPr>
          <a:xfrm>
            <a:off x="8503920" y="6126480"/>
            <a:ext cx="3657600" cy="73152"/>
          </a:xfrm>
          <a:prstGeom prst="rect">
            <a:avLst/>
          </a:prstGeom>
          <a:solidFill>
            <a:srgbClr val="E8A33D"/>
          </a:solidFill>
          <a:ln/>
        </p:spPr>
      </p:sp>
      <p:sp>
        <p:nvSpPr>
          <p:cNvPr id="4" name="Text 2"/>
          <p:cNvSpPr/>
          <p:nvPr/>
        </p:nvSpPr>
        <p:spPr>
          <a:xfrm>
            <a:off x="640080" y="2011680"/>
            <a:ext cx="10881360" cy="457200"/>
          </a:xfrm>
          <a:prstGeom prst="rect">
            <a:avLst/>
          </a:prstGeom>
          <a:noFill/>
          <a:ln/>
        </p:spPr>
        <p:txBody>
          <a:bodyPr wrap="square" lIns="0" tIns="0" rIns="0" bIns="0" rtlCol="0" anchor="ctr"/>
          <a:lstStyle/>
          <a:p>
            <a:pPr rtl="1" algn="r" indent="0" marL="0">
              <a:buNone/>
            </a:pPr>
            <a:r>
              <a:rPr lang="en-US" sz="1800" b="1" dirty="0">
                <a:solidFill>
                  <a:srgbClr val="E8A33D"/>
                </a:solidFill>
                <a:latin typeface="Cairo" pitchFamily="34" charset="0"/>
                <a:ea typeface="Cairo" pitchFamily="34" charset="-122"/>
                <a:cs typeface="Cairo" pitchFamily="34" charset="-120"/>
              </a:rPr>
              <a:t>جاهزون للبدء</a:t>
            </a:r>
            <a:endParaRPr lang="en-US" sz="1800" dirty="0"/>
          </a:p>
        </p:txBody>
      </p:sp>
      <p:sp>
        <p:nvSpPr>
          <p:cNvPr id="5" name="Text 3"/>
          <p:cNvSpPr/>
          <p:nvPr/>
        </p:nvSpPr>
        <p:spPr>
          <a:xfrm>
            <a:off x="640080" y="2560320"/>
            <a:ext cx="10881360" cy="914400"/>
          </a:xfrm>
          <a:prstGeom prst="rect">
            <a:avLst/>
          </a:prstGeom>
          <a:noFill/>
          <a:ln/>
        </p:spPr>
        <p:txBody>
          <a:bodyPr wrap="square" lIns="0" tIns="0" rIns="0" bIns="0" rtlCol="0" anchor="ctr"/>
          <a:lstStyle/>
          <a:p>
            <a:pPr rtl="1" algn="r" indent="0" marL="0">
              <a:buNone/>
            </a:pPr>
            <a:r>
              <a:rPr lang="en-US" sz="5400" b="1" dirty="0">
                <a:solidFill>
                  <a:srgbClr val="FFFFFF"/>
                </a:solidFill>
                <a:latin typeface="Cairo" pitchFamily="34" charset="0"/>
                <a:ea typeface="Cairo" pitchFamily="34" charset="-122"/>
                <a:cs typeface="Cairo" pitchFamily="34" charset="-120"/>
              </a:rPr>
              <a:t>لنبدأ في تحويل مصنعك</a:t>
            </a:r>
            <a:endParaRPr lang="en-US" sz="5400" dirty="0"/>
          </a:p>
        </p:txBody>
      </p:sp>
      <p:sp>
        <p:nvSpPr>
          <p:cNvPr id="6" name="Text 4"/>
          <p:cNvSpPr/>
          <p:nvPr/>
        </p:nvSpPr>
        <p:spPr>
          <a:xfrm>
            <a:off x="640080" y="3657600"/>
            <a:ext cx="10881360" cy="548640"/>
          </a:xfrm>
          <a:prstGeom prst="rect">
            <a:avLst/>
          </a:prstGeom>
          <a:noFill/>
          <a:ln/>
        </p:spPr>
        <p:txBody>
          <a:bodyPr wrap="square" lIns="0" tIns="0" rIns="0" bIns="0" rtlCol="0" anchor="ctr"/>
          <a:lstStyle/>
          <a:p>
            <a:pPr rtl="1" algn="r" indent="0" marL="0">
              <a:buNone/>
            </a:pPr>
            <a:r>
              <a:rPr lang="en-US" sz="2000" i="1" dirty="0">
                <a:solidFill>
                  <a:srgbClr val="E2E8F0"/>
                </a:solidFill>
                <a:latin typeface="Cairo" pitchFamily="34" charset="0"/>
                <a:ea typeface="Cairo" pitchFamily="34" charset="-122"/>
                <a:cs typeface="Cairo" pitchFamily="34" charset="-120"/>
              </a:rPr>
              <a:t>نظام واحد يربط كل أقسامك، ويمنحك السيطرة الكاملة على عملياتك</a:t>
            </a:r>
            <a:endParaRPr lang="en-US" sz="2000" dirty="0"/>
          </a:p>
        </p:txBody>
      </p:sp>
      <p:sp>
        <p:nvSpPr>
          <p:cNvPr id="7" name="Shape 5"/>
          <p:cNvSpPr/>
          <p:nvPr/>
        </p:nvSpPr>
        <p:spPr>
          <a:xfrm>
            <a:off x="10058400" y="4434840"/>
            <a:ext cx="1645920" cy="36576"/>
          </a:xfrm>
          <a:prstGeom prst="rect">
            <a:avLst/>
          </a:prstGeom>
          <a:solidFill>
            <a:srgbClr val="E8A33D"/>
          </a:solidFill>
          <a:ln/>
        </p:spPr>
      </p:sp>
      <p:sp>
        <p:nvSpPr>
          <p:cNvPr id="8" name="Shape 6"/>
          <p:cNvSpPr/>
          <p:nvPr/>
        </p:nvSpPr>
        <p:spPr>
          <a:xfrm>
            <a:off x="8183880" y="4846320"/>
            <a:ext cx="3657600" cy="1188720"/>
          </a:xfrm>
          <a:prstGeom prst="rect">
            <a:avLst/>
          </a:prstGeom>
          <a:solidFill>
            <a:srgbClr val="0F2A47"/>
          </a:solidFill>
          <a:ln w="12700">
            <a:solidFill>
              <a:srgbClr val="E8A33D"/>
            </a:solidFill>
            <a:prstDash val="solid"/>
          </a:ln>
        </p:spPr>
      </p:sp>
      <p:sp>
        <p:nvSpPr>
          <p:cNvPr id="9" name="Text 7"/>
          <p:cNvSpPr/>
          <p:nvPr/>
        </p:nvSpPr>
        <p:spPr>
          <a:xfrm>
            <a:off x="8366760" y="5029200"/>
            <a:ext cx="3291840" cy="411480"/>
          </a:xfrm>
          <a:prstGeom prst="rect">
            <a:avLst/>
          </a:prstGeom>
          <a:noFill/>
          <a:ln/>
        </p:spPr>
        <p:txBody>
          <a:bodyPr wrap="square" lIns="0" tIns="0" rIns="0" bIns="0" rtlCol="0" anchor="ctr"/>
          <a:lstStyle/>
          <a:p>
            <a:pPr rtl="1" algn="r" indent="0" marL="0">
              <a:buNone/>
            </a:pPr>
            <a:r>
              <a:rPr lang="en-US" sz="1700" b="1" dirty="0">
                <a:solidFill>
                  <a:srgbClr val="E8A33D"/>
                </a:solidFill>
                <a:latin typeface="Cairo" pitchFamily="34" charset="0"/>
                <a:ea typeface="Cairo" pitchFamily="34" charset="-122"/>
                <a:cs typeface="Cairo" pitchFamily="34" charset="-120"/>
              </a:rPr>
              <a:t>عرض توضيحي مباشر</a:t>
            </a:r>
            <a:endParaRPr lang="en-US" sz="1700" dirty="0"/>
          </a:p>
        </p:txBody>
      </p:sp>
      <p:sp>
        <p:nvSpPr>
          <p:cNvPr id="10" name="Text 8"/>
          <p:cNvSpPr/>
          <p:nvPr/>
        </p:nvSpPr>
        <p:spPr>
          <a:xfrm>
            <a:off x="8366760" y="5486400"/>
            <a:ext cx="3291840" cy="457200"/>
          </a:xfrm>
          <a:prstGeom prst="rect">
            <a:avLst/>
          </a:prstGeom>
          <a:noFill/>
          <a:ln/>
        </p:spPr>
        <p:txBody>
          <a:bodyPr wrap="square" lIns="0" tIns="0" rIns="0" bIns="0" rtlCol="0" anchor="ctr"/>
          <a:lstStyle/>
          <a:p>
            <a:pPr rtl="1" algn="r" indent="0" marL="0">
              <a:buNone/>
            </a:pPr>
            <a:r>
              <a:rPr lang="en-US" sz="1200" dirty="0">
                <a:solidFill>
                  <a:srgbClr val="E2E8F0"/>
                </a:solidFill>
                <a:latin typeface="Cairo" pitchFamily="34" charset="0"/>
                <a:ea typeface="Cairo" pitchFamily="34" charset="-122"/>
                <a:cs typeface="Cairo" pitchFamily="34" charset="-120"/>
              </a:rPr>
              <a:t>احجز جلسة عرض على بياناتك</a:t>
            </a:r>
            <a:endParaRPr lang="en-US" sz="1200" dirty="0"/>
          </a:p>
        </p:txBody>
      </p:sp>
      <p:sp>
        <p:nvSpPr>
          <p:cNvPr id="11" name="Shape 9"/>
          <p:cNvSpPr/>
          <p:nvPr/>
        </p:nvSpPr>
        <p:spPr>
          <a:xfrm>
            <a:off x="4389120" y="4846320"/>
            <a:ext cx="3657600" cy="1188720"/>
          </a:xfrm>
          <a:prstGeom prst="rect">
            <a:avLst/>
          </a:prstGeom>
          <a:solidFill>
            <a:srgbClr val="0F2A47"/>
          </a:solidFill>
          <a:ln w="12700">
            <a:solidFill>
              <a:srgbClr val="E8A33D"/>
            </a:solidFill>
            <a:prstDash val="solid"/>
          </a:ln>
        </p:spPr>
      </p:sp>
      <p:sp>
        <p:nvSpPr>
          <p:cNvPr id="12" name="Text 10"/>
          <p:cNvSpPr/>
          <p:nvPr/>
        </p:nvSpPr>
        <p:spPr>
          <a:xfrm>
            <a:off x="4572000" y="5029200"/>
            <a:ext cx="3291840" cy="411480"/>
          </a:xfrm>
          <a:prstGeom prst="rect">
            <a:avLst/>
          </a:prstGeom>
          <a:noFill/>
          <a:ln/>
        </p:spPr>
        <p:txBody>
          <a:bodyPr wrap="square" lIns="0" tIns="0" rIns="0" bIns="0" rtlCol="0" anchor="ctr"/>
          <a:lstStyle/>
          <a:p>
            <a:pPr rtl="1" algn="r" indent="0" marL="0">
              <a:buNone/>
            </a:pPr>
            <a:r>
              <a:rPr lang="en-US" sz="1700" b="1" dirty="0">
                <a:solidFill>
                  <a:srgbClr val="E8A33D"/>
                </a:solidFill>
                <a:latin typeface="Cairo" pitchFamily="34" charset="0"/>
                <a:ea typeface="Cairo" pitchFamily="34" charset="-122"/>
                <a:cs typeface="Cairo" pitchFamily="34" charset="-120"/>
              </a:rPr>
              <a:t>نسخة تجريبية</a:t>
            </a:r>
            <a:endParaRPr lang="en-US" sz="1700" dirty="0"/>
          </a:p>
        </p:txBody>
      </p:sp>
      <p:sp>
        <p:nvSpPr>
          <p:cNvPr id="13" name="Text 11"/>
          <p:cNvSpPr/>
          <p:nvPr/>
        </p:nvSpPr>
        <p:spPr>
          <a:xfrm>
            <a:off x="4572000" y="5486400"/>
            <a:ext cx="3291840" cy="457200"/>
          </a:xfrm>
          <a:prstGeom prst="rect">
            <a:avLst/>
          </a:prstGeom>
          <a:noFill/>
          <a:ln/>
        </p:spPr>
        <p:txBody>
          <a:bodyPr wrap="square" lIns="0" tIns="0" rIns="0" bIns="0" rtlCol="0" anchor="ctr"/>
          <a:lstStyle/>
          <a:p>
            <a:pPr rtl="1" algn="r" indent="0" marL="0">
              <a:buNone/>
            </a:pPr>
            <a:r>
              <a:rPr lang="en-US" sz="1200" dirty="0">
                <a:solidFill>
                  <a:srgbClr val="E2E8F0"/>
                </a:solidFill>
                <a:latin typeface="Cairo" pitchFamily="34" charset="0"/>
                <a:ea typeface="Cairo" pitchFamily="34" charset="-122"/>
                <a:cs typeface="Cairo" pitchFamily="34" charset="-120"/>
              </a:rPr>
              <a:t>جرب النظام قبل القرار</a:t>
            </a:r>
            <a:endParaRPr lang="en-US" sz="1200" dirty="0"/>
          </a:p>
        </p:txBody>
      </p:sp>
      <p:sp>
        <p:nvSpPr>
          <p:cNvPr id="14" name="Shape 12"/>
          <p:cNvSpPr/>
          <p:nvPr/>
        </p:nvSpPr>
        <p:spPr>
          <a:xfrm>
            <a:off x="594360" y="4846320"/>
            <a:ext cx="3657600" cy="1188720"/>
          </a:xfrm>
          <a:prstGeom prst="rect">
            <a:avLst/>
          </a:prstGeom>
          <a:solidFill>
            <a:srgbClr val="0F2A47"/>
          </a:solidFill>
          <a:ln w="12700">
            <a:solidFill>
              <a:srgbClr val="E8A33D"/>
            </a:solidFill>
            <a:prstDash val="solid"/>
          </a:ln>
        </p:spPr>
      </p:sp>
      <p:sp>
        <p:nvSpPr>
          <p:cNvPr id="15" name="Text 13"/>
          <p:cNvSpPr/>
          <p:nvPr/>
        </p:nvSpPr>
        <p:spPr>
          <a:xfrm>
            <a:off x="777240" y="5029200"/>
            <a:ext cx="3291840" cy="411480"/>
          </a:xfrm>
          <a:prstGeom prst="rect">
            <a:avLst/>
          </a:prstGeom>
          <a:noFill/>
          <a:ln/>
        </p:spPr>
        <p:txBody>
          <a:bodyPr wrap="square" lIns="0" tIns="0" rIns="0" bIns="0" rtlCol="0" anchor="ctr"/>
          <a:lstStyle/>
          <a:p>
            <a:pPr rtl="1" algn="r" indent="0" marL="0">
              <a:buNone/>
            </a:pPr>
            <a:r>
              <a:rPr lang="en-US" sz="1700" b="1" dirty="0">
                <a:solidFill>
                  <a:srgbClr val="E8A33D"/>
                </a:solidFill>
                <a:latin typeface="Cairo" pitchFamily="34" charset="0"/>
                <a:ea typeface="Cairo" pitchFamily="34" charset="-122"/>
                <a:cs typeface="Cairo" pitchFamily="34" charset="-120"/>
              </a:rPr>
              <a:t>خطة تنفيذ مخصصة</a:t>
            </a:r>
            <a:endParaRPr lang="en-US" sz="1700" dirty="0"/>
          </a:p>
        </p:txBody>
      </p:sp>
      <p:sp>
        <p:nvSpPr>
          <p:cNvPr id="16" name="Text 14"/>
          <p:cNvSpPr/>
          <p:nvPr/>
        </p:nvSpPr>
        <p:spPr>
          <a:xfrm>
            <a:off x="777240" y="5486400"/>
            <a:ext cx="3291840" cy="457200"/>
          </a:xfrm>
          <a:prstGeom prst="rect">
            <a:avLst/>
          </a:prstGeom>
          <a:noFill/>
          <a:ln/>
        </p:spPr>
        <p:txBody>
          <a:bodyPr wrap="square" lIns="0" tIns="0" rIns="0" bIns="0" rtlCol="0" anchor="ctr"/>
          <a:lstStyle/>
          <a:p>
            <a:pPr rtl="1" algn="r" indent="0" marL="0">
              <a:buNone/>
            </a:pPr>
            <a:r>
              <a:rPr lang="en-US" sz="1200" dirty="0">
                <a:solidFill>
                  <a:srgbClr val="E2E8F0"/>
                </a:solidFill>
                <a:latin typeface="Cairo" pitchFamily="34" charset="0"/>
                <a:ea typeface="Cairo" pitchFamily="34" charset="-122"/>
                <a:cs typeface="Cairo" pitchFamily="34" charset="-120"/>
              </a:rPr>
              <a:t>نفصّل النظام حسب مصنعك</a:t>
            </a:r>
            <a:endParaRPr lang="en-US" sz="1200" dirty="0"/>
          </a:p>
        </p:txBody>
      </p:sp>
      <p:sp>
        <p:nvSpPr>
          <p:cNvPr id="17" name="Text 15"/>
          <p:cNvSpPr/>
          <p:nvPr/>
        </p:nvSpPr>
        <p:spPr>
          <a:xfrm>
            <a:off x="457200" y="6355080"/>
            <a:ext cx="11247120" cy="320040"/>
          </a:xfrm>
          <a:prstGeom prst="rect">
            <a:avLst/>
          </a:prstGeom>
          <a:noFill/>
          <a:ln/>
        </p:spPr>
        <p:txBody>
          <a:bodyPr wrap="square" lIns="0" tIns="0" rIns="0" bIns="0" rtlCol="0" anchor="ctr"/>
          <a:lstStyle/>
          <a:p>
            <a:pPr rtl="1" algn="r" indent="0" marL="0">
              <a:buNone/>
            </a:pPr>
            <a:r>
              <a:rPr lang="en-US" sz="1100" dirty="0">
                <a:solidFill>
                  <a:srgbClr val="94A3B8"/>
                </a:solidFill>
                <a:latin typeface="Cairo" pitchFamily="34" charset="0"/>
                <a:ea typeface="Cairo" pitchFamily="34" charset="-122"/>
                <a:cs typeface="Cairo" pitchFamily="34" charset="-120"/>
              </a:rPr>
              <a:t>ModernLife — نظام إدارة عمليات التصنيع</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ModernLife Production Management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نظام ModernLife لإدارة عمليات التصنيع</dc:title>
  <dc:subject>PptxGenJS Presentation</dc:subject>
  <dc:creator>ModernLife</dc:creator>
  <cp:lastModifiedBy>ModernLife</cp:lastModifiedBy>
  <cp:revision>1</cp:revision>
  <dcterms:created xsi:type="dcterms:W3CDTF">2026-05-15T10:11:55Z</dcterms:created>
  <dcterms:modified xsi:type="dcterms:W3CDTF">2026-05-15T10:11:55Z</dcterms:modified>
</cp:coreProperties>
</file>